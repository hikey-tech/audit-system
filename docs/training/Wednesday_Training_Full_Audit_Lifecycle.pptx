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FACILITATOR OPENING SCRIPT (1 MINUTE):</a:t>
            </a:r>
          </a:p>
          <a:p>
            <a:r>
              <a:t>"Welcome everyone to Wednesday's hands-on masterclass.</a:t>
            </a:r>
          </a:p>
          <a:p>
            <a:r>
              <a:t>Yesterday, we built our planning foundation: we populated the Audit Universe, scored the Risk Register, registered operational Assets, explored the System Audit toolkit, and formally approved the FY2026 Audit Programme.</a:t>
            </a:r>
          </a:p>
          <a:p>
            <a:r>
              <a:t>Today is the capstone: we execute a real audit from beginning to end with your own accounts in this room.</a:t>
            </a:r>
          </a:p>
          <a:p>
            <a:r>
              <a:t>We will see how an engagement is created, how fieldwork is performed with cryptographic evidence, how working papers and findings are managed, how the 3-level executive report approval chain works, and how finding remediation closes the entire loop back to the audit universe.</a:t>
            </a:r>
          </a:p>
          <a:p>
            <a:r>
              <a:t>Let's begin by understanding the rules of the system."</a:t>
            </a:r>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FACILITATOR SCRIPT FOR MODULE 1:</a:t>
            </a:r>
          </a:p>
          <a:p>
            <a:r>
              <a:t>"Before we click anything, memorize this single principle:</a:t>
            </a:r>
          </a:p>
          <a:p>
            <a:r>
              <a:t>In IAMS, human beings do not push audits forward with arbitrary status buttons.</a:t>
            </a:r>
          </a:p>
          <a:p>
            <a:r>
              <a:t>Only TWO buttons in the entire lifecycle are manually pressed by a person:</a:t>
            </a:r>
          </a:p>
          <a:p>
            <a:r>
              <a:t>1. 'Start fieldwork' — which starts the clock and loads the checklist.</a:t>
            </a:r>
          </a:p>
          <a:p>
            <a:r>
              <a:t>2. 'Issue report' — which officially releases the report and triggers remediation.</a:t>
            </a:r>
          </a:p>
          <a:p>
            <a:r>
              <a:t>Everything else in IAMS advances on its own through configurable GATES.</a:t>
            </a:r>
          </a:p>
          <a:p>
            <a:r>
              <a:t>If you ever wonder 'Why is this audit stuck? Where is the button to send it to review?', there is NO button! Look at the 'What's Next' panel on your screen. It will tell you: '2 of 10 controls not yet tested' or '1 working paper awaiting manager approval'.</a:t>
            </a:r>
          </a:p>
          <a:p>
            <a:r>
              <a:t>Once those conditions are met, the system moves itself into Quality Assurance."</a:t>
            </a:r>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FACILITATOR WALKTHROUGH INSTRUCTIONS (MODULE 2):</a:t>
            </a:r>
          </a:p>
          <a:p>
            <a:r>
              <a:t>- Open IAMS as Audit Manager (or have the designated Audit Manager trainee log in with their real corporate account).</a:t>
            </a:r>
          </a:p>
          <a:p>
            <a:r>
              <a:t>- Navigate to: Audit -&gt; Plans -&gt; Open the approved FY2026 Annual Plan.</a:t>
            </a:r>
          </a:p>
          <a:p>
            <a:r>
              <a:t>- Find 'Treasury Operations' item -&gt; Click 'Initialize Engagement'.</a:t>
            </a:r>
          </a:p>
          <a:p>
            <a:r>
              <a:t>- In the wizard:</a:t>
            </a:r>
          </a:p>
          <a:p>
            <a:r>
              <a:t>  - Lead Auditor: Select the Lead Auditor trainee sitting in the room.</a:t>
            </a:r>
          </a:p>
          <a:p>
            <a:r>
              <a:t>  - Audit Manager: Select the Audit Manager trainee sitting in the room.</a:t>
            </a:r>
          </a:p>
          <a:p>
            <a:r>
              <a:t>  - Auditee: Select the Auditee trainee (Department Head) sitting in the room.</a:t>
            </a:r>
          </a:p>
          <a:p>
            <a:r>
              <a:t>  - Asset in scope: AST-001 (Treasury Management System)</a:t>
            </a:r>
          </a:p>
          <a:p>
            <a:r>
              <a:t>  - Schedule: Set start date today, end date next month, OLA deadline.</a:t>
            </a:r>
          </a:p>
          <a:p>
            <a:r>
              <a:t>- Click 'Create'. The engagement opens at status 'planned'.</a:t>
            </a:r>
          </a:p>
          <a:p>
            <a:r>
              <a:t>- INSTRUCT TRAINEES: 'Check your email inboxes right now!'</a:t>
            </a:r>
          </a:p>
          <a:p>
            <a:r>
              <a:t>  - Auditee sees: 'Internal Audit Notification: Treasury Operations — Treasury Operations Audit'.</a:t>
            </a:r>
          </a:p>
          <a:p>
            <a:r>
              <a:t>  - Lead Auditor sees: 'Lead Auditor Assignment: Treasury Operations Audit' with OLA deadline.</a:t>
            </a:r>
          </a:p>
          <a:p>
            <a:r>
              <a:t>  - Audit Manager sees: 'Audit Manager Assignment: Treasury Operations Audit'.</a:t>
            </a:r>
          </a:p>
          <a:p>
            <a:r>
              <a:t>- Lead Auditor trainee opens the engagement on their screen and clicks 'Start fieldwork' (Button 1).</a:t>
            </a:r>
          </a:p>
          <a:p>
            <a:r>
              <a:t>- Point out: Status changes to 'in_progress' and the Checklist tab auto-populates with controls!</a:t>
            </a:r>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FACILITATOR DEMO SCRIPT (MODULE 3 - 17 MINS):</a:t>
            </a:r>
          </a:p>
          <a:p>
            <a:r>
              <a:t>Guide the real trainees sitting in the room:</a:t>
            </a:r>
          </a:p>
          <a:p>
            <a:r>
              <a:t>1. Lead Auditor Trainee:</a:t>
            </a:r>
          </a:p>
          <a:p>
            <a:r>
              <a:t>   - On your laptop: Evidence Tab -&gt; 'Request evidence' -&gt; Title: 'Q1 Bank Reconciliations' -&gt; Assign to Auditee trainee.</a:t>
            </a:r>
          </a:p>
          <a:p>
            <a:r>
              <a:t>2. Auditee Trainee:</a:t>
            </a:r>
          </a:p>
          <a:p>
            <a:r>
              <a:t>   - Check your IAMS screen and inbox. Notice the banner: 'What you need to do here'.</a:t>
            </a:r>
          </a:p>
          <a:p>
            <a:r>
              <a:t>   - Open the request -&gt; Upload sample reconciliation file (.xlsx or .pdf) -&gt; Click Submit.</a:t>
            </a:r>
          </a:p>
          <a:p>
            <a:r>
              <a:t>3. Lead Auditor Trainee:</a:t>
            </a:r>
          </a:p>
          <a:p>
            <a:r>
              <a:t>   - Review uploaded file -&gt; Click 'Accept'. Point out the SHA-256 cryptographic seal!</a:t>
            </a:r>
          </a:p>
          <a:p>
            <a:r>
              <a:t>   - Checklist Tab -&gt; Mark control failed -&gt; Click 'Raise finding'. Fill in Condition and Recommendation -&gt; Save.</a:t>
            </a:r>
          </a:p>
          <a:p>
            <a:r>
              <a:t>   - ASK THE ROOM: 'Can the Auditee see this finding right now? NO! Draft findings remain strictly confidential to the audit team until the final report is formally issued.'</a:t>
            </a:r>
          </a:p>
          <a:p>
            <a:r>
              <a:t>4. Working Papers Tab:</a:t>
            </a:r>
          </a:p>
          <a:p>
            <a:r>
              <a:t>   - Lead Auditor creates WP-01 -&gt; Click 'Submit'.</a:t>
            </a:r>
          </a:p>
          <a:p>
            <a:r>
              <a:t>5. Audit Manager Trainee:</a:t>
            </a:r>
          </a:p>
          <a:p>
            <a:r>
              <a:t>   - Open WP-01 -&gt; Click 'Reject' -&gt; Type: 'Please clarify sample testing methodology.'</a:t>
            </a:r>
          </a:p>
          <a:p>
            <a:r>
              <a:t>   - Lead Auditor edits -&gt; Click 'Resubmit'.</a:t>
            </a:r>
          </a:p>
          <a:p>
            <a:r>
              <a:t>   - Audit Manager clicks 'Approve'.</a:t>
            </a:r>
          </a:p>
          <a:p>
            <a:r>
              <a:t>6. POINT AT THE PROJECTOR: 'WATCH THE STATUS BADGE! It just turned to UNDER REVIEW automatically with NO button pressed!'</a:t>
            </a:r>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FACILITATOR SCRIPT FOR MODULE 4 (12 MINS):</a:t>
            </a:r>
          </a:p>
          <a:p>
            <a:r>
              <a:t>"Now watch the review compile itself with ZERO typing:</a:t>
            </a:r>
          </a:p>
          <a:p>
            <a:r>
              <a:t>1. Lead Auditor Trainee:</a:t>
            </a:r>
          </a:p>
          <a:p>
            <a:r>
              <a:t>   - Open Report / Review tab. Point out how findings and assets were auto-populated without manual copying.</a:t>
            </a:r>
          </a:p>
          <a:p>
            <a:r>
              <a:t>   - Click 'Submit review'.</a:t>
            </a:r>
          </a:p>
          <a:p>
            <a:r>
              <a:t>2. Audit Manager Trainee:</a:t>
            </a:r>
          </a:p>
          <a:p>
            <a:r>
              <a:t>   - Open Approvals Inbox -&gt; Review report -&gt; Sign and Approve (Level 1).</a:t>
            </a:r>
          </a:p>
          <a:p>
            <a:r>
              <a:t>3. Director Trainee:</a:t>
            </a:r>
          </a:p>
          <a:p>
            <a:r>
              <a:t>   - Notice Level 2 is ready for signature.</a:t>
            </a:r>
          </a:p>
          <a:p>
            <a:r>
              <a:t>   - Point out: 'Could Director have approved Level 2 before Manager signed Level 1? No, the chain is strictly sequential.'</a:t>
            </a:r>
          </a:p>
          <a:p>
            <a:r>
              <a:t>   - Sign and Approve Level 2.</a:t>
            </a:r>
          </a:p>
          <a:p>
            <a:r>
              <a:t>4. CAE Trainee:</a:t>
            </a:r>
          </a:p>
          <a:p>
            <a:r>
              <a:t>   - Approve Level 3.</a:t>
            </a:r>
          </a:p>
          <a:p>
            <a:r>
              <a:t>   - Point out: 'The report status is Approved. Is it issued yet? NO! Approving confirms accuracy; issuing makes it official.'</a:t>
            </a:r>
          </a:p>
          <a:p>
            <a:r>
              <a:t>5. The Second Button:</a:t>
            </a:r>
          </a:p>
          <a:p>
            <a:r>
              <a:t>   - CAE clicks 'Issue report' (Button 2 in our lifecycle rule).</a:t>
            </a:r>
          </a:p>
          <a:p>
            <a:r>
              <a:t>   - Status moves to 'reported'.</a:t>
            </a:r>
          </a:p>
          <a:p>
            <a:r>
              <a:t>   - Download the generated PDF and show the cover page, findings matrix, and signature blocks."</a:t>
            </a:r>
          </a:p>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FACILITATOR SCRIPT FOR MODULE 5:</a:t>
            </a:r>
          </a:p>
          <a:p>
            <a:r>
              <a:t>"An audit does not end when a report is issued. It ends when the risk is remediated.</a:t>
            </a:r>
          </a:p>
          <a:p>
            <a:r>
              <a:t>Let's complete the cycle with the trainees:</a:t>
            </a:r>
          </a:p>
          <a:p>
            <a:r>
              <a:t>1. Auditee Trainee:</a:t>
            </a:r>
          </a:p>
          <a:p>
            <a:r>
              <a:t>   - Go to Findings -&gt; Open the Treasury finding.</a:t>
            </a:r>
          </a:p>
          <a:p>
            <a:r>
              <a:t>   - Notice: It is visible now! Type Management Response: 'Dual-authorization reconciliation implemented' -&gt; Set target date -&gt; Save.</a:t>
            </a:r>
          </a:p>
          <a:p>
            <a:r>
              <a:t>   - Under Follow-up, upload a sample file as Remediation Proof.</a:t>
            </a:r>
          </a:p>
          <a:p>
            <a:r>
              <a:t>2. Lead Auditor Trainee:</a:t>
            </a:r>
          </a:p>
          <a:p>
            <a:r>
              <a:t>   - Open Follow-up tab -&gt; Review the uploaded proof -&gt; Click 'Verify Remediation'.</a:t>
            </a:r>
          </a:p>
          <a:p>
            <a:r>
              <a:t>   - Point out: 'If Auditee tried to click verify, the system throws 403 Forbidden. Auditees cannot verify their own fixes.'</a:t>
            </a:r>
          </a:p>
          <a:p>
            <a:r>
              <a:t>   - Click 'Request Closure'.</a:t>
            </a:r>
          </a:p>
          <a:p>
            <a:r>
              <a:t>3. Audit Manager Trainee:</a:t>
            </a:r>
          </a:p>
          <a:p>
            <a:r>
              <a:t>   - Approvals -&gt; Finding Closure -&gt; Click 'Approve Closure'.</a:t>
            </a:r>
          </a:p>
          <a:p>
            <a:r>
              <a:t>4. Open the Engagement Overview on the main screen:</a:t>
            </a:r>
          </a:p>
          <a:p>
            <a:r>
              <a:t>   - Point out: 'The engagement is now CLOSED! Look at actual end date — stamped today! Look at Treasury Operations in Audit Universe — last_audited_at is stamped today!'</a:t>
            </a:r>
          </a:p>
          <a:p>
            <a:r>
              <a:t>The loop is completely closed."</a:t>
            </a:r>
          </a:p>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FACILITATOR SCRIPT FOR MODULE 6:</a:t>
            </a:r>
          </a:p>
          <a:p>
            <a:r>
              <a:t>"Spend 6 minutes walking through these 5 traps. These are the exact questions trainees ask during UAT:</a:t>
            </a:r>
          </a:p>
          <a:p>
            <a:r>
              <a:t>- Trap 1: When someone creates a working paper as Manager and tries to approve it, it fails. Why? SoD! Always have Lead create, Manager approve.</a:t>
            </a:r>
          </a:p>
          <a:p>
            <a:r>
              <a:t>- Trap 2: Why are approving and issuing separate? Because the CAE might approve the draft on Monday, but wait until the Board Audit Committee convenes on Thursday to formally issue it.</a:t>
            </a:r>
          </a:p>
          <a:p>
            <a:r>
              <a:t>- Trap 3: Auditees calling the helpline saying 'I can't see the finding my auditor talked about'. Explain that until the CAE issues the report, draft findings are confidential to the audit team.</a:t>
            </a:r>
          </a:p>
          <a:p>
            <a:r>
              <a:t>- Question on Auditee: Explain clearly: When you assign a colleague as Auditee on Treasury, their user profile does NOT change to an 'auditee' role globally. Rather, the system scopes their session: on that engagement, they cannot see working papers or draft evidence, but on their home page, their findings and evidence requests appear automatically."</a:t>
            </a:r>
          </a:p>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FACILITATOR RUNBOOK SUMMARY (KEEP ON YOUR PHONE):</a:t>
            </a:r>
          </a:p>
          <a:p>
            <a:r>
              <a:t>How to choreograph the live classroom with real colleagues on their own accounts:</a:t>
            </a:r>
          </a:p>
          <a:p>
            <a:r>
              <a:t>1. Pre-Session: In Settings -&gt; Users, ensure your colleagues have their roles assigned:</a:t>
            </a:r>
          </a:p>
          <a:p>
            <a:r>
              <a:t>   - Trainee A -&gt; audit_lead</a:t>
            </a:r>
          </a:p>
          <a:p>
            <a:r>
              <a:t>   - Trainee B -&gt; audit_manager</a:t>
            </a:r>
          </a:p>
          <a:p>
            <a:r>
              <a:t>   - Trainee C -&gt; auditee (or regular employee)</a:t>
            </a:r>
          </a:p>
          <a:p>
            <a:r>
              <a:t>   - Trainee D -&gt; auditor</a:t>
            </a:r>
          </a:p>
          <a:p>
            <a:r>
              <a:t>   - Trainee E -&gt; director / cae</a:t>
            </a:r>
          </a:p>
          <a:p>
            <a:r>
              <a:t>2. Engagement Creation: Have Manager trainee initialize the engagement from Plan, selecting Trainees A, B, and C by name.</a:t>
            </a:r>
          </a:p>
          <a:p>
            <a:r>
              <a:t>3. Observe live: Point out that Trainee C (Auditee) gets an automated notification email right then in the room!</a:t>
            </a:r>
          </a:p>
          <a:p>
            <a:r>
              <a:t>4. Call on each trainee in sequence to perform their role from their own laptops.</a:t>
            </a:r>
          </a:p>
          <a:p>
            <a:r>
              <a:t>5. Watch the system automations trigger live without manual status overrides!</a:t>
            </a:r>
          </a:p>
          <a:p>
            <a:r>
              <a:t>6. End on the Audit Universe page showing the newly updated 'Last Audited Date'.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87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371600" y="1280160"/>
            <a:ext cx="9448495" cy="4297680"/>
          </a:xfrm>
          <a:prstGeom prst="roundRect">
            <a:avLst/>
          </a:prstGeom>
          <a:solidFill>
            <a:srgbClr val="FFFFFF"/>
          </a:solidFill>
          <a:ln w="38100">
            <a:solidFill>
              <a:srgbClr val="00A651"/>
            </a:solidFill>
          </a:ln>
        </p:spPr>
        <p:style>
          <a:lnRef idx="1">
            <a:schemeClr val="accent1"/>
          </a:lnRef>
          <a:fillRef idx="3">
            <a:schemeClr val="accent1"/>
          </a:fillRef>
          <a:effectRef idx="2">
            <a:schemeClr val="accent1"/>
          </a:effectRef>
          <a:fontRef idx="minor">
            <a:schemeClr val="lt1"/>
          </a:fontRef>
        </p:style>
        <p:txBody>
          <a:bodyPr rtlCol="0" anchor="ctr" wrap="square" lIns="731520" rIns="731520" tIns="548640"/>
          <a:lstStyle/>
          <a:p>
            <a:pPr algn="ctr">
              <a:spcAft>
                <a:spcPts val="1000"/>
              </a:spcAft>
              <a:defRPr sz="1400" b="1">
                <a:solidFill>
                  <a:srgbClr val="008751"/>
                </a:solidFill>
              </a:defRPr>
            </a:pPr>
            <a:r>
              <a:t>WEDNESDAY MASTER TRAINING · 60 MINS</a:t>
            </a:r>
          </a:p>
          <a:p>
            <a:pPr>
              <a:spcAft>
                <a:spcPts val="1400"/>
              </a:spcAft>
              <a:defRPr sz="3200" b="1">
                <a:solidFill>
                  <a:srgbClr val="003823"/>
                </a:solidFill>
              </a:defRPr>
            </a:pPr>
            <a:r>
              <a:t>The Full Audit Lifecycle: Execution, Gates &amp; Governance</a:t>
            </a:r>
          </a:p>
          <a:p>
            <a:pPr>
              <a:spcAft>
                <a:spcPts val="2000"/>
              </a:spcAft>
              <a:defRPr sz="1700">
                <a:solidFill>
                  <a:srgbClr val="475569"/>
                </a:solidFill>
              </a:defRPr>
            </a:pPr>
            <a:r>
              <a:t>Galaxy Backbone Limited — Internal Audit Management System (IAMS)</a:t>
            </a:r>
          </a:p>
          <a:p>
            <a:pPr>
              <a:defRPr sz="1400">
                <a:solidFill>
                  <a:srgbClr val="0F172A"/>
                </a:solidFill>
              </a:defRPr>
            </a:pPr>
            <a:r>
              <a:t>Simulating the complete journey: Plan Item → Engagement Setup → Fieldwork Testing → Working Paper Approvals → 3-Tier Report Sign-Off → Finding Remediation &amp; Automated Closure.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087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00A6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7772400" cy="274320"/>
          </a:xfrm>
          <a:prstGeom prst="rect">
            <a:avLst/>
          </a:prstGeom>
          <a:noFill/>
        </p:spPr>
        <p:txBody>
          <a:bodyPr wrap="square">
            <a:spAutoFit/>
          </a:bodyPr>
          <a:lstStyle/>
          <a:p>
            <a:pPr>
              <a:defRPr sz="1100" b="1">
                <a:solidFill>
                  <a:srgbClr val="E5F6EC"/>
                </a:solidFill>
              </a:defRPr>
            </a:pPr>
            <a:r>
              <a:t>MODULE 1: AUTHORITY ARCHITECTURE</a:t>
            </a:r>
          </a:p>
        </p:txBody>
      </p:sp>
      <p:sp>
        <p:nvSpPr>
          <p:cNvPr id="5" name="TextBox 4"/>
          <p:cNvSpPr txBox="1"/>
          <p:nvPr/>
        </p:nvSpPr>
        <p:spPr>
          <a:xfrm>
            <a:off x="731520" y="347472"/>
            <a:ext cx="8961120" cy="594360"/>
          </a:xfrm>
          <a:prstGeom prst="rect">
            <a:avLst/>
          </a:prstGeom>
          <a:noFill/>
        </p:spPr>
        <p:txBody>
          <a:bodyPr wrap="square">
            <a:spAutoFit/>
          </a:bodyPr>
          <a:lstStyle/>
          <a:p>
            <a:pPr>
              <a:defRPr sz="2400" b="1">
                <a:solidFill>
                  <a:srgbClr val="FFFFFF"/>
                </a:solidFill>
              </a:defRPr>
            </a:pPr>
            <a:r>
              <a:t>The Map: 4 Approval Gates &amp; The 'Two Buttons' Rule</a:t>
            </a:r>
          </a:p>
        </p:txBody>
      </p:sp>
      <p:sp>
        <p:nvSpPr>
          <p:cNvPr id="6" name="Rounded Rectangle 5"/>
          <p:cNvSpPr/>
          <p:nvPr/>
        </p:nvSpPr>
        <p:spPr>
          <a:xfrm>
            <a:off x="9875520" y="292608"/>
            <a:ext cx="1645920" cy="457200"/>
          </a:xfrm>
          <a:prstGeom prst="roundRect">
            <a:avLst/>
          </a:prstGeom>
          <a:solidFill>
            <a:srgbClr val="0038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5 Mins</a:t>
            </a:r>
          </a:p>
        </p:txBody>
      </p:sp>
      <p:sp>
        <p:nvSpPr>
          <p:cNvPr id="7" name="Rounded Rectangle 6"/>
          <p:cNvSpPr/>
          <p:nvPr/>
        </p:nvSpPr>
        <p:spPr>
          <a:xfrm>
            <a:off x="731520" y="1371600"/>
            <a:ext cx="5120640" cy="49377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56032" bIns="182880"/>
          <a:lstStyle/>
          <a:p>
            <a:pPr algn="ctr">
              <a:spcAft>
                <a:spcPts val="1200"/>
              </a:spcAft>
              <a:defRPr sz="1800" b="1">
                <a:solidFill>
                  <a:srgbClr val="008751"/>
                </a:solidFill>
              </a:defRPr>
            </a:pPr>
            <a:r>
              <a:t>The 4 Immutable Approval Gates</a:t>
            </a:r>
          </a:p>
          <a:p>
            <a:pPr>
              <a:spcAft>
                <a:spcPts val="800"/>
              </a:spcAft>
              <a:defRPr sz="1400">
                <a:solidFill>
                  <a:srgbClr val="0F172A"/>
                </a:solidFill>
              </a:defRPr>
            </a:pPr>
            <a:r>
              <a:t>1. ANNUAL AUDIT PLAN (1 Level):</a:t>
            </a:r>
          </a:p>
          <a:p>
            <a:pPr>
              <a:spcAft>
                <a:spcPts val="800"/>
              </a:spcAft>
              <a:defRPr sz="1400">
                <a:solidFill>
                  <a:srgbClr val="0F172A"/>
                </a:solidFill>
              </a:defRPr>
            </a:pPr>
            <a:r>
              <a:t>   • Signed off by CAE (plan:approve). Sets the departmental commitment.</a:t>
            </a:r>
          </a:p>
          <a:p>
            <a:pPr>
              <a:spcAft>
                <a:spcPts val="800"/>
              </a:spcAft>
              <a:defRPr sz="1400">
                <a:solidFill>
                  <a:srgbClr val="0F172A"/>
                </a:solidFill>
              </a:defRPr>
            </a:pPr>
          </a:p>
          <a:p>
            <a:pPr>
              <a:spcAft>
                <a:spcPts val="800"/>
              </a:spcAft>
              <a:defRPr sz="1400">
                <a:solidFill>
                  <a:srgbClr val="0F172A"/>
                </a:solidFill>
              </a:defRPr>
            </a:pPr>
            <a:r>
              <a:t>2. WORKING PAPERS (1 Level):</a:t>
            </a:r>
          </a:p>
          <a:p>
            <a:pPr>
              <a:spcAft>
                <a:spcPts val="800"/>
              </a:spcAft>
              <a:defRPr sz="1400">
                <a:solidFill>
                  <a:srgbClr val="0F172A"/>
                </a:solidFill>
              </a:defRPr>
            </a:pPr>
            <a:r>
              <a:t>   • Approved specifically by the named Audit Manager for that engagement.</a:t>
            </a:r>
          </a:p>
          <a:p>
            <a:pPr>
              <a:spcAft>
                <a:spcPts val="800"/>
              </a:spcAft>
              <a:defRPr sz="1400">
                <a:solidFill>
                  <a:srgbClr val="0F172A"/>
                </a:solidFill>
              </a:defRPr>
            </a:pPr>
          </a:p>
          <a:p>
            <a:pPr>
              <a:spcAft>
                <a:spcPts val="800"/>
              </a:spcAft>
              <a:defRPr sz="1400">
                <a:solidFill>
                  <a:srgbClr val="0F172A"/>
                </a:solidFill>
              </a:defRPr>
            </a:pPr>
            <a:r>
              <a:t>3. AUDIT REPORT (3 Sequential Levels):</a:t>
            </a:r>
          </a:p>
          <a:p>
            <a:pPr>
              <a:spcAft>
                <a:spcPts val="800"/>
              </a:spcAft>
              <a:defRPr sz="1400">
                <a:solidFill>
                  <a:srgbClr val="0F172A"/>
                </a:solidFill>
              </a:defRPr>
            </a:pPr>
            <a:r>
              <a:t>   • Level 1: Engagement Manager (content &amp; scope).</a:t>
            </a:r>
          </a:p>
          <a:p>
            <a:pPr>
              <a:spcAft>
                <a:spcPts val="800"/>
              </a:spcAft>
              <a:defRPr sz="1400">
                <a:solidFill>
                  <a:srgbClr val="0F172A"/>
                </a:solidFill>
              </a:defRPr>
            </a:pPr>
            <a:r>
              <a:t>   • Level 2: Director (report:approve:oversight).</a:t>
            </a:r>
          </a:p>
          <a:p>
            <a:pPr>
              <a:spcAft>
                <a:spcPts val="800"/>
              </a:spcAft>
              <a:defRPr sz="1400">
                <a:solidFill>
                  <a:srgbClr val="0F172A"/>
                </a:solidFill>
              </a:defRPr>
            </a:pPr>
            <a:r>
              <a:t>   • Level 3: Chief Audit Executive (report:approve:final).</a:t>
            </a:r>
          </a:p>
          <a:p>
            <a:pPr>
              <a:spcAft>
                <a:spcPts val="800"/>
              </a:spcAft>
              <a:defRPr sz="1400">
                <a:solidFill>
                  <a:srgbClr val="0F172A"/>
                </a:solidFill>
              </a:defRPr>
            </a:pPr>
          </a:p>
          <a:p>
            <a:pPr>
              <a:spcAft>
                <a:spcPts val="800"/>
              </a:spcAft>
              <a:defRPr sz="1400">
                <a:solidFill>
                  <a:srgbClr val="0F172A"/>
                </a:solidFill>
              </a:defRPr>
            </a:pPr>
            <a:r>
              <a:t>4. FINDING CLOSURE (2-Step Gate):</a:t>
            </a:r>
          </a:p>
          <a:p>
            <a:pPr>
              <a:spcAft>
                <a:spcPts val="800"/>
              </a:spcAft>
              <a:defRPr sz="1400">
                <a:solidFill>
                  <a:srgbClr val="0F172A"/>
                </a:solidFill>
              </a:defRPr>
            </a:pPr>
            <a:r>
              <a:t>   • Lead Auditor verifies remediation (followup:verify).</a:t>
            </a:r>
          </a:p>
          <a:p>
            <a:pPr>
              <a:spcAft>
                <a:spcPts val="800"/>
              </a:spcAft>
              <a:defRPr sz="1400">
                <a:solidFill>
                  <a:srgbClr val="0F172A"/>
                </a:solidFill>
              </a:defRPr>
            </a:pPr>
            <a:r>
              <a:t>   • Engagement Manager approves formal closure.</a:t>
            </a:r>
          </a:p>
        </p:txBody>
      </p:sp>
      <p:sp>
        <p:nvSpPr>
          <p:cNvPr id="8" name="Rounded Rectangle 7"/>
          <p:cNvSpPr/>
          <p:nvPr/>
        </p:nvSpPr>
        <p:spPr>
          <a:xfrm>
            <a:off x="6217920" y="1371600"/>
            <a:ext cx="5120640" cy="4937760"/>
          </a:xfrm>
          <a:prstGeom prst="roundRect">
            <a:avLst/>
          </a:prstGeom>
          <a:solidFill>
            <a:srgbClr val="F0FDF4"/>
          </a:solidFill>
          <a:ln w="25400">
            <a:solidFill>
              <a:srgbClr val="008751"/>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56032" bIns="182880"/>
          <a:lstStyle/>
          <a:p>
            <a:pPr algn="ctr">
              <a:spcAft>
                <a:spcPts val="1200"/>
              </a:spcAft>
              <a:defRPr sz="1800" b="1">
                <a:solidFill>
                  <a:srgbClr val="003823"/>
                </a:solidFill>
              </a:defRPr>
            </a:pPr>
            <a:r>
              <a:t>The 'Two Buttons' Rule &amp; Auto-Advancement</a:t>
            </a:r>
          </a:p>
          <a:p>
            <a:pPr>
              <a:spcAft>
                <a:spcPts val="800"/>
              </a:spcAft>
              <a:defRPr sz="1400">
                <a:solidFill>
                  <a:srgbClr val="0F172A"/>
                </a:solidFill>
              </a:defRPr>
            </a:pPr>
            <a:r>
              <a:t>ONLY TWO MANUAL FORWARD BUTTONS EXIST:</a:t>
            </a:r>
          </a:p>
          <a:p>
            <a:pPr>
              <a:spcAft>
                <a:spcPts val="800"/>
              </a:spcAft>
              <a:defRPr sz="1400">
                <a:solidFill>
                  <a:srgbClr val="0F172A"/>
                </a:solidFill>
              </a:defRPr>
            </a:pPr>
            <a:r>
              <a:t>• Button 1: 'Start fieldwork' (planned → in_progress).</a:t>
            </a:r>
          </a:p>
          <a:p>
            <a:pPr>
              <a:spcAft>
                <a:spcPts val="800"/>
              </a:spcAft>
              <a:defRPr sz="1400">
                <a:solidFill>
                  <a:srgbClr val="0F172A"/>
                </a:solidFill>
              </a:defRPr>
            </a:pPr>
            <a:r>
              <a:t>  Recorded by Lead or Manager. Instantly loads control checklist.</a:t>
            </a:r>
          </a:p>
          <a:p>
            <a:pPr>
              <a:spcAft>
                <a:spcPts val="800"/>
              </a:spcAft>
              <a:defRPr sz="1400">
                <a:solidFill>
                  <a:srgbClr val="0F172A"/>
                </a:solidFill>
              </a:defRPr>
            </a:pPr>
            <a:r>
              <a:t>• Button 2: 'Issue report' (under_review → reported).</a:t>
            </a:r>
          </a:p>
          <a:p>
            <a:pPr>
              <a:spcAft>
                <a:spcPts val="800"/>
              </a:spcAft>
              <a:defRPr sz="1400">
                <a:solidFill>
                  <a:srgbClr val="0F172A"/>
                </a:solidFill>
              </a:defRPr>
            </a:pPr>
            <a:r>
              <a:t>  Executed exclusively by CAE (report:issue). Makes findings official.</a:t>
            </a:r>
          </a:p>
          <a:p>
            <a:pPr>
              <a:spcAft>
                <a:spcPts val="800"/>
              </a:spcAft>
              <a:defRPr sz="1400">
                <a:solidFill>
                  <a:srgbClr val="0F172A"/>
                </a:solidFill>
              </a:defRPr>
            </a:pPr>
          </a:p>
          <a:p>
            <a:pPr>
              <a:spcAft>
                <a:spcPts val="800"/>
              </a:spcAft>
              <a:defRPr sz="1400">
                <a:solidFill>
                  <a:srgbClr val="0F172A"/>
                </a:solidFill>
              </a:defRPr>
            </a:pPr>
            <a:r>
              <a:t>THE SYSTEM AUTO-ADVANCES EVERYTHING ELSE:</a:t>
            </a:r>
          </a:p>
          <a:p>
            <a:pPr>
              <a:spcAft>
                <a:spcPts val="800"/>
              </a:spcAft>
              <a:defRPr sz="1400">
                <a:solidFill>
                  <a:srgbClr val="0F172A"/>
                </a:solidFill>
              </a:defRPr>
            </a:pPr>
            <a:r>
              <a:t>• ⚙ To Under Review (QA): Advances automatically once ALL checklist items are tested AND ALL working papers approved.</a:t>
            </a:r>
          </a:p>
          <a:p>
            <a:pPr>
              <a:spcAft>
                <a:spcPts val="800"/>
              </a:spcAft>
              <a:defRPr sz="1400">
                <a:solidFill>
                  <a:srgbClr val="0F172A"/>
                </a:solidFill>
              </a:defRPr>
            </a:pPr>
            <a:r>
              <a:t>• ⚙ To Reported: Advances automatically when report is issued.</a:t>
            </a:r>
          </a:p>
          <a:p>
            <a:pPr>
              <a:spcAft>
                <a:spcPts val="800"/>
              </a:spcAft>
              <a:defRPr sz="1400">
                <a:solidFill>
                  <a:srgbClr val="0F172A"/>
                </a:solidFill>
              </a:defRPr>
            </a:pPr>
            <a:r>
              <a:t>• ⚙ To Closed: Advances automatically when the last open finding is approved closed — stamping last_audited_at on the universe!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087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00A6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7772400" cy="274320"/>
          </a:xfrm>
          <a:prstGeom prst="rect">
            <a:avLst/>
          </a:prstGeom>
          <a:noFill/>
        </p:spPr>
        <p:txBody>
          <a:bodyPr wrap="square">
            <a:spAutoFit/>
          </a:bodyPr>
          <a:lstStyle/>
          <a:p>
            <a:pPr>
              <a:defRPr sz="1100" b="1">
                <a:solidFill>
                  <a:srgbClr val="E5F6EC"/>
                </a:solidFill>
              </a:defRPr>
            </a:pPr>
            <a:r>
              <a:t>MODULE 2: LAUNCHING THE AUDIT</a:t>
            </a:r>
          </a:p>
        </p:txBody>
      </p:sp>
      <p:sp>
        <p:nvSpPr>
          <p:cNvPr id="5" name="TextBox 4"/>
          <p:cNvSpPr txBox="1"/>
          <p:nvPr/>
        </p:nvSpPr>
        <p:spPr>
          <a:xfrm>
            <a:off x="731520" y="347472"/>
            <a:ext cx="8961120" cy="594360"/>
          </a:xfrm>
          <a:prstGeom prst="rect">
            <a:avLst/>
          </a:prstGeom>
          <a:noFill/>
        </p:spPr>
        <p:txBody>
          <a:bodyPr wrap="square">
            <a:spAutoFit/>
          </a:bodyPr>
          <a:lstStyle/>
          <a:p>
            <a:pPr>
              <a:defRPr sz="2400" b="1">
                <a:solidFill>
                  <a:srgbClr val="FFFFFF"/>
                </a:solidFill>
              </a:defRPr>
            </a:pPr>
            <a:r>
              <a:t>Engagement Setup &amp; Starting Fieldwork</a:t>
            </a:r>
          </a:p>
        </p:txBody>
      </p:sp>
      <p:sp>
        <p:nvSpPr>
          <p:cNvPr id="6" name="Rounded Rectangle 5"/>
          <p:cNvSpPr/>
          <p:nvPr/>
        </p:nvSpPr>
        <p:spPr>
          <a:xfrm>
            <a:off x="9875520" y="292608"/>
            <a:ext cx="1645920" cy="457200"/>
          </a:xfrm>
          <a:prstGeom prst="roundRect">
            <a:avLst/>
          </a:prstGeom>
          <a:solidFill>
            <a:srgbClr val="0038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8 Mins</a:t>
            </a:r>
          </a:p>
        </p:txBody>
      </p:sp>
      <p:sp>
        <p:nvSpPr>
          <p:cNvPr id="7" name="Rounded Rectangle 6"/>
          <p:cNvSpPr/>
          <p:nvPr/>
        </p:nvSpPr>
        <p:spPr>
          <a:xfrm>
            <a:off x="731520" y="1371600"/>
            <a:ext cx="5120640" cy="49377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56032" bIns="182880"/>
          <a:lstStyle/>
          <a:p>
            <a:pPr algn="ctr">
              <a:spcAft>
                <a:spcPts val="1200"/>
              </a:spcAft>
              <a:defRPr sz="1800" b="1">
                <a:solidFill>
                  <a:srgbClr val="008751"/>
                </a:solidFill>
              </a:defRPr>
            </a:pPr>
            <a:r>
              <a:t>1. Creation from Approved Plan Item</a:t>
            </a:r>
          </a:p>
          <a:p>
            <a:pPr>
              <a:spcAft>
                <a:spcPts val="800"/>
              </a:spcAft>
              <a:defRPr sz="1400">
                <a:solidFill>
                  <a:srgbClr val="0F172A"/>
                </a:solidFill>
              </a:defRPr>
            </a:pPr>
            <a:r>
              <a:t>SEAMLESS INHERITANCE (ZERO DUPLICATION):</a:t>
            </a:r>
          </a:p>
          <a:p>
            <a:pPr>
              <a:spcAft>
                <a:spcPts val="800"/>
              </a:spcAft>
              <a:defRPr sz="1400">
                <a:solidFill>
                  <a:srgbClr val="0F172A"/>
                </a:solidFill>
              </a:defRPr>
            </a:pPr>
            <a:r>
              <a:t>• Select the approved Plan Item (e.g., 'Treasury Operations Audit').</a:t>
            </a:r>
          </a:p>
          <a:p>
            <a:pPr>
              <a:spcAft>
                <a:spcPts val="800"/>
              </a:spcAft>
              <a:defRPr sz="1400">
                <a:solidFill>
                  <a:srgbClr val="0F172A"/>
                </a:solidFill>
              </a:defRPr>
            </a:pPr>
            <a:r>
              <a:t>• Auto-Inherited: Universe Entity, Audit Type (Financial), Priority.</a:t>
            </a:r>
          </a:p>
          <a:p>
            <a:pPr>
              <a:spcAft>
                <a:spcPts val="800"/>
              </a:spcAft>
              <a:defRPr sz="1400">
                <a:solidFill>
                  <a:srgbClr val="0F172A"/>
                </a:solidFill>
              </a:defRPr>
            </a:pPr>
          </a:p>
          <a:p>
            <a:pPr>
              <a:spcAft>
                <a:spcPts val="800"/>
              </a:spcAft>
              <a:defRPr sz="1400">
                <a:solidFill>
                  <a:srgbClr val="0F172A"/>
                </a:solidFill>
              </a:defRPr>
            </a:pPr>
            <a:r>
              <a:t>ASSIGNING REAL COLLEAGUES (THE CORE ROLES):</a:t>
            </a:r>
          </a:p>
          <a:p>
            <a:pPr>
              <a:spcAft>
                <a:spcPts val="800"/>
              </a:spcAft>
              <a:defRPr sz="1400">
                <a:solidFill>
                  <a:srgbClr val="0F172A"/>
                </a:solidFill>
              </a:defRPr>
            </a:pPr>
            <a:r>
              <a:t>• Lead Auditor: Trainee leading day-to-day fieldwork (role: audit_lead).</a:t>
            </a:r>
          </a:p>
          <a:p>
            <a:pPr>
              <a:spcAft>
                <a:spcPts val="800"/>
              </a:spcAft>
              <a:defRPr sz="1400">
                <a:solidFill>
                  <a:srgbClr val="0F172A"/>
                </a:solidFill>
              </a:defRPr>
            </a:pPr>
            <a:r>
              <a:t>• Audit Manager: Trainee supervising &amp; approving papers (role: audit_manager).</a:t>
            </a:r>
          </a:p>
          <a:p>
            <a:pPr>
              <a:spcAft>
                <a:spcPts val="800"/>
              </a:spcAft>
              <a:defRPr sz="1400">
                <a:solidFill>
                  <a:srgbClr val="0F172A"/>
                </a:solidFill>
              </a:defRPr>
            </a:pPr>
            <a:r>
              <a:t>• Auditee: Head of Department / Process Owner (role: auditee / staff).</a:t>
            </a:r>
          </a:p>
          <a:p>
            <a:pPr>
              <a:spcAft>
                <a:spcPts val="800"/>
              </a:spcAft>
              <a:defRPr sz="1400">
                <a:solidFill>
                  <a:srgbClr val="0F172A"/>
                </a:solidFill>
              </a:defRPr>
            </a:pPr>
            <a:r>
              <a:t>• Supporting Auditor: Trainee assisting with audit tests (role: auditor).</a:t>
            </a:r>
          </a:p>
          <a:p>
            <a:pPr>
              <a:spcAft>
                <a:spcPts val="800"/>
              </a:spcAft>
              <a:defRPr sz="1400">
                <a:solidFill>
                  <a:srgbClr val="0F172A"/>
                </a:solidFill>
              </a:defRPr>
            </a:pPr>
          </a:p>
          <a:p>
            <a:pPr>
              <a:spcAft>
                <a:spcPts val="800"/>
              </a:spcAft>
              <a:defRPr sz="1400">
                <a:solidFill>
                  <a:srgbClr val="0F172A"/>
                </a:solidFill>
              </a:defRPr>
            </a:pPr>
            <a:r>
              <a:t>AUTOMATED ASSIGNMENT EMAIL &amp; IN-APP ALERTS:</a:t>
            </a:r>
          </a:p>
          <a:p>
            <a:pPr>
              <a:spcAft>
                <a:spcPts val="800"/>
              </a:spcAft>
              <a:defRPr sz="1400">
                <a:solidFill>
                  <a:srgbClr val="0F172A"/>
                </a:solidFill>
              </a:defRPr>
            </a:pPr>
            <a:r>
              <a:t>• Auditee immediately receives email explaining audit scope &amp; cooperation.</a:t>
            </a:r>
          </a:p>
          <a:p>
            <a:pPr>
              <a:spcAft>
                <a:spcPts val="800"/>
              </a:spcAft>
              <a:defRPr sz="1400">
                <a:solidFill>
                  <a:srgbClr val="0F172A"/>
                </a:solidFill>
              </a:defRPr>
            </a:pPr>
            <a:r>
              <a:t>• Lead, Manager &amp; Team receive assignment emails with OLA target date.</a:t>
            </a:r>
          </a:p>
        </p:txBody>
      </p:sp>
      <p:sp>
        <p:nvSpPr>
          <p:cNvPr id="8" name="Rounded Rectangle 7"/>
          <p:cNvSpPr/>
          <p:nvPr/>
        </p:nvSpPr>
        <p:spPr>
          <a:xfrm>
            <a:off x="6217920" y="1371600"/>
            <a:ext cx="5120640" cy="4937760"/>
          </a:xfrm>
          <a:prstGeom prst="roundRect">
            <a:avLst/>
          </a:prstGeom>
          <a:solidFill>
            <a:srgbClr val="F0FDF4"/>
          </a:solidFill>
          <a:ln w="25400">
            <a:solidFill>
              <a:srgbClr val="008751"/>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56032" bIns="182880"/>
          <a:lstStyle/>
          <a:p>
            <a:pPr algn="ctr">
              <a:spcAft>
                <a:spcPts val="1200"/>
              </a:spcAft>
              <a:defRPr sz="1800" b="1">
                <a:solidFill>
                  <a:srgbClr val="003823"/>
                </a:solidFill>
              </a:defRPr>
            </a:pPr>
            <a:r>
              <a:t>2. Launching Fieldwork (Hands-On)</a:t>
            </a:r>
          </a:p>
          <a:p>
            <a:pPr>
              <a:spcAft>
                <a:spcPts val="800"/>
              </a:spcAft>
              <a:defRPr sz="1400">
                <a:solidFill>
                  <a:srgbClr val="0F172A"/>
                </a:solidFill>
              </a:defRPr>
            </a:pPr>
            <a:r>
              <a:t>CLICKING 'START FIELDWORK' (BUTTON 1):</a:t>
            </a:r>
          </a:p>
          <a:p>
            <a:pPr>
              <a:spcAft>
                <a:spcPts val="800"/>
              </a:spcAft>
              <a:defRPr sz="1400">
                <a:solidFill>
                  <a:srgbClr val="0F172A"/>
                </a:solidFill>
              </a:defRPr>
            </a:pPr>
            <a:r>
              <a:t>1. Open the created engagement (Status: 'planned').</a:t>
            </a:r>
          </a:p>
          <a:p>
            <a:pPr>
              <a:spcAft>
                <a:spcPts val="800"/>
              </a:spcAft>
              <a:defRPr sz="1400">
                <a:solidFill>
                  <a:srgbClr val="0F172A"/>
                </a:solidFill>
              </a:defRPr>
            </a:pPr>
            <a:r>
              <a:t>2. Review the team and linked asset (AST-001 Treasury System).</a:t>
            </a:r>
          </a:p>
          <a:p>
            <a:pPr>
              <a:spcAft>
                <a:spcPts val="800"/>
              </a:spcAft>
              <a:defRPr sz="1400">
                <a:solidFill>
                  <a:srgbClr val="0F172A"/>
                </a:solidFill>
              </a:defRPr>
            </a:pPr>
            <a:r>
              <a:t>3. Click the prominent 'Start fieldwork' button in What's Next.</a:t>
            </a:r>
          </a:p>
          <a:p>
            <a:pPr>
              <a:spcAft>
                <a:spcPts val="800"/>
              </a:spcAft>
              <a:defRPr sz="1400">
                <a:solidFill>
                  <a:srgbClr val="0F172A"/>
                </a:solidFill>
              </a:defRPr>
            </a:pPr>
          </a:p>
          <a:p>
            <a:pPr>
              <a:spcAft>
                <a:spcPts val="800"/>
              </a:spcAft>
              <a:defRPr sz="1400">
                <a:solidFill>
                  <a:srgbClr val="0F172A"/>
                </a:solidFill>
              </a:defRPr>
            </a:pPr>
            <a:r>
              <a:t>WHAT THE SYSTEM EXECUTES IN ONE TRANSACTION:</a:t>
            </a:r>
          </a:p>
          <a:p>
            <a:pPr>
              <a:spcAft>
                <a:spcPts val="800"/>
              </a:spcAft>
              <a:defRPr sz="1400">
                <a:solidFill>
                  <a:srgbClr val="0F172A"/>
                </a:solidFill>
              </a:defRPr>
            </a:pPr>
            <a:r>
              <a:t>• Status changes: planned → in_progress.</a:t>
            </a:r>
          </a:p>
          <a:p>
            <a:pPr>
              <a:spcAft>
                <a:spcPts val="800"/>
              </a:spcAft>
              <a:defRPr sz="1400">
                <a:solidFill>
                  <a:srgbClr val="0F172A"/>
                </a:solidFill>
              </a:defRPr>
            </a:pPr>
            <a:r>
              <a:t>• Actual start date is stamped into the audit trail.</a:t>
            </a:r>
          </a:p>
          <a:p>
            <a:pPr>
              <a:spcAft>
                <a:spcPts val="800"/>
              </a:spcAft>
              <a:defRPr sz="1400">
                <a:solidFill>
                  <a:srgbClr val="0F172A"/>
                </a:solidFill>
              </a:defRPr>
            </a:pPr>
            <a:r>
              <a:t>• Checklist Engine triggers: Auto-populates controls matching the audit type (ISO 27001, COBIT, Financial Regulations).</a:t>
            </a:r>
          </a:p>
          <a:p>
            <a:pPr>
              <a:spcAft>
                <a:spcPts val="800"/>
              </a:spcAft>
              <a:defRPr sz="1400">
                <a:solidFill>
                  <a:srgbClr val="0F172A"/>
                </a:solidFill>
              </a:defRPr>
            </a:pPr>
            <a:r>
              <a:t>• 'What's Next' panel dynamically updates with checklist tests!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087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00A6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7772400" cy="274320"/>
          </a:xfrm>
          <a:prstGeom prst="rect">
            <a:avLst/>
          </a:prstGeom>
          <a:noFill/>
        </p:spPr>
        <p:txBody>
          <a:bodyPr wrap="square">
            <a:spAutoFit/>
          </a:bodyPr>
          <a:lstStyle/>
          <a:p>
            <a:pPr>
              <a:defRPr sz="1100" b="1">
                <a:solidFill>
                  <a:srgbClr val="E5F6EC"/>
                </a:solidFill>
              </a:defRPr>
            </a:pPr>
            <a:r>
              <a:t>MODULE 3: HANDS-ON EXECUTION</a:t>
            </a:r>
          </a:p>
        </p:txBody>
      </p:sp>
      <p:sp>
        <p:nvSpPr>
          <p:cNvPr id="5" name="TextBox 4"/>
          <p:cNvSpPr txBox="1"/>
          <p:nvPr/>
        </p:nvSpPr>
        <p:spPr>
          <a:xfrm>
            <a:off x="731520" y="347472"/>
            <a:ext cx="8961120" cy="594360"/>
          </a:xfrm>
          <a:prstGeom prst="rect">
            <a:avLst/>
          </a:prstGeom>
          <a:noFill/>
        </p:spPr>
        <p:txBody>
          <a:bodyPr wrap="square">
            <a:spAutoFit/>
          </a:bodyPr>
          <a:lstStyle/>
          <a:p>
            <a:pPr>
              <a:defRPr sz="2400" b="1">
                <a:solidFill>
                  <a:srgbClr val="FFFFFF"/>
                </a:solidFill>
              </a:defRPr>
            </a:pPr>
            <a:r>
              <a:t>Fieldwork: Evidence, Checklists &amp; Working Papers</a:t>
            </a:r>
          </a:p>
        </p:txBody>
      </p:sp>
      <p:sp>
        <p:nvSpPr>
          <p:cNvPr id="6" name="Rounded Rectangle 5"/>
          <p:cNvSpPr/>
          <p:nvPr/>
        </p:nvSpPr>
        <p:spPr>
          <a:xfrm>
            <a:off x="9875520" y="292608"/>
            <a:ext cx="1645920" cy="457200"/>
          </a:xfrm>
          <a:prstGeom prst="roundRect">
            <a:avLst/>
          </a:prstGeom>
          <a:solidFill>
            <a:srgbClr val="0038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17 Mins</a:t>
            </a:r>
          </a:p>
        </p:txBody>
      </p:sp>
      <p:sp>
        <p:nvSpPr>
          <p:cNvPr id="7" name="Rounded Rectangle 6"/>
          <p:cNvSpPr/>
          <p:nvPr/>
        </p:nvSpPr>
        <p:spPr>
          <a:xfrm>
            <a:off x="731520" y="1371600"/>
            <a:ext cx="5120640" cy="49377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56032" bIns="182880"/>
          <a:lstStyle/>
          <a:p>
            <a:pPr algn="ctr">
              <a:spcAft>
                <a:spcPts val="1200"/>
              </a:spcAft>
              <a:defRPr sz="1800" b="1">
                <a:solidFill>
                  <a:srgbClr val="008751"/>
                </a:solidFill>
              </a:defRPr>
            </a:pPr>
            <a:r>
              <a:t>1. Evidence Requests &amp; SHA-256 Seal</a:t>
            </a:r>
          </a:p>
          <a:p>
            <a:pPr>
              <a:spcAft>
                <a:spcPts val="800"/>
              </a:spcAft>
              <a:defRPr sz="1400">
                <a:solidFill>
                  <a:srgbClr val="0F172A"/>
                </a:solidFill>
              </a:defRPr>
            </a:pPr>
            <a:r>
              <a:t>REQUESTING EVIDENCE (PBC WORKFLOW):</a:t>
            </a:r>
          </a:p>
          <a:p>
            <a:pPr>
              <a:spcAft>
                <a:spcPts val="800"/>
              </a:spcAft>
              <a:defRPr sz="1400">
                <a:solidFill>
                  <a:srgbClr val="0F172A"/>
                </a:solidFill>
              </a:defRPr>
            </a:pPr>
            <a:r>
              <a:t>• Lead Auditor clicks 'Request evidence' in the Evidence tab.</a:t>
            </a:r>
          </a:p>
          <a:p>
            <a:pPr>
              <a:spcAft>
                <a:spcPts val="800"/>
              </a:spcAft>
              <a:defRPr sz="1400">
                <a:solidFill>
                  <a:srgbClr val="0F172A"/>
                </a:solidFill>
              </a:defRPr>
            </a:pPr>
            <a:r>
              <a:t>• System dispatches email &amp; in-app alert to the assigned Auditee.</a:t>
            </a:r>
          </a:p>
          <a:p>
            <a:pPr>
              <a:spcAft>
                <a:spcPts val="800"/>
              </a:spcAft>
              <a:defRPr sz="1400">
                <a:solidFill>
                  <a:srgbClr val="0F172A"/>
                </a:solidFill>
              </a:defRPr>
            </a:pPr>
          </a:p>
          <a:p>
            <a:pPr>
              <a:spcAft>
                <a:spcPts val="800"/>
              </a:spcAft>
              <a:defRPr sz="1400">
                <a:solidFill>
                  <a:srgbClr val="0F172A"/>
                </a:solidFill>
              </a:defRPr>
            </a:pPr>
            <a:r>
              <a:t>AUDITEE UPLOAD EXPERIENCE:</a:t>
            </a:r>
          </a:p>
          <a:p>
            <a:pPr>
              <a:spcAft>
                <a:spcPts val="800"/>
              </a:spcAft>
              <a:defRPr sz="1400">
                <a:solidFill>
                  <a:srgbClr val="0F172A"/>
                </a:solidFill>
              </a:defRPr>
            </a:pPr>
            <a:r>
              <a:t>• Auditee opens IAMS Home page -&gt; sees 'What you need to do here'.</a:t>
            </a:r>
          </a:p>
          <a:p>
            <a:pPr>
              <a:spcAft>
                <a:spcPts val="800"/>
              </a:spcAft>
              <a:defRPr sz="1400">
                <a:solidFill>
                  <a:srgbClr val="0F172A"/>
                </a:solidFill>
              </a:defRPr>
            </a:pPr>
            <a:r>
              <a:t>• Directly uploads requested document (Excel, Word, PDF).</a:t>
            </a:r>
          </a:p>
          <a:p>
            <a:pPr>
              <a:spcAft>
                <a:spcPts val="800"/>
              </a:spcAft>
              <a:defRPr sz="1400">
                <a:solidFill>
                  <a:srgbClr val="0F172A"/>
                </a:solidFill>
              </a:defRPr>
            </a:pPr>
          </a:p>
          <a:p>
            <a:pPr>
              <a:spcAft>
                <a:spcPts val="800"/>
              </a:spcAft>
              <a:defRPr sz="1400">
                <a:solidFill>
                  <a:srgbClr val="0F172A"/>
                </a:solidFill>
              </a:defRPr>
            </a:pPr>
            <a:r>
              <a:t>IMMUTABLE CRYPTOGRAPHIC SEAL:</a:t>
            </a:r>
          </a:p>
          <a:p>
            <a:pPr>
              <a:spcAft>
                <a:spcPts val="800"/>
              </a:spcAft>
              <a:defRPr sz="1400">
                <a:solidFill>
                  <a:srgbClr val="0F172A"/>
                </a:solidFill>
              </a:defRPr>
            </a:pPr>
            <a:r>
              <a:t>• Auditor reviews and clicks 'Accept'.</a:t>
            </a:r>
          </a:p>
          <a:p>
            <a:pPr>
              <a:spcAft>
                <a:spcPts val="800"/>
              </a:spcAft>
              <a:defRPr sz="1400">
                <a:solidFill>
                  <a:srgbClr val="0F172A"/>
                </a:solidFill>
              </a:defRPr>
            </a:pPr>
            <a:r>
              <a:t>• IAMS calculates &amp; permanently stamps a SHA-256 hash.</a:t>
            </a:r>
          </a:p>
          <a:p>
            <a:pPr>
              <a:spcAft>
                <a:spcPts val="800"/>
              </a:spcAft>
              <a:defRPr sz="1400">
                <a:solidFill>
                  <a:srgbClr val="0F172A"/>
                </a:solidFill>
              </a:defRPr>
            </a:pPr>
            <a:r>
              <a:t>• Guarantees file tamper-evidence for external oversight.</a:t>
            </a:r>
          </a:p>
        </p:txBody>
      </p:sp>
      <p:sp>
        <p:nvSpPr>
          <p:cNvPr id="8" name="Rounded Rectangle 7"/>
          <p:cNvSpPr/>
          <p:nvPr/>
        </p:nvSpPr>
        <p:spPr>
          <a:xfrm>
            <a:off x="6217920" y="1371600"/>
            <a:ext cx="5120640" cy="4937760"/>
          </a:xfrm>
          <a:prstGeom prst="roundRect">
            <a:avLst/>
          </a:prstGeom>
          <a:solidFill>
            <a:srgbClr val="F0FDF4"/>
          </a:solidFill>
          <a:ln w="25400">
            <a:solidFill>
              <a:srgbClr val="008751"/>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56032" bIns="182880"/>
          <a:lstStyle/>
          <a:p>
            <a:pPr algn="ctr">
              <a:spcAft>
                <a:spcPts val="1200"/>
              </a:spcAft>
              <a:defRPr sz="1800" b="1">
                <a:solidFill>
                  <a:srgbClr val="003823"/>
                </a:solidFill>
              </a:defRPr>
            </a:pPr>
            <a:r>
              <a:t>2. Working Papers &amp; Quality Gate</a:t>
            </a:r>
          </a:p>
          <a:p>
            <a:pPr>
              <a:spcAft>
                <a:spcPts val="800"/>
              </a:spcAft>
              <a:defRPr sz="1400">
                <a:solidFill>
                  <a:srgbClr val="0F172A"/>
                </a:solidFill>
              </a:defRPr>
            </a:pPr>
            <a:r>
              <a:t>THE 5-STEP WORKING PAPER LIFECYCLE:</a:t>
            </a:r>
          </a:p>
          <a:p>
            <a:pPr>
              <a:spcAft>
                <a:spcPts val="800"/>
              </a:spcAft>
              <a:defRPr sz="1400">
                <a:solidFill>
                  <a:srgbClr val="0F172A"/>
                </a:solidFill>
              </a:defRPr>
            </a:pPr>
            <a:r>
              <a:t>1. Authoring: Lead creates Working Paper (WP-01).</a:t>
            </a:r>
          </a:p>
          <a:p>
            <a:pPr>
              <a:spcAft>
                <a:spcPts val="800"/>
              </a:spcAft>
              <a:defRPr sz="1400">
                <a:solidFill>
                  <a:srgbClr val="0F172A"/>
                </a:solidFill>
              </a:defRPr>
            </a:pPr>
            <a:r>
              <a:t>2. Submission: Creator submits for manager review.</a:t>
            </a:r>
          </a:p>
          <a:p>
            <a:pPr>
              <a:spcAft>
                <a:spcPts val="800"/>
              </a:spcAft>
              <a:defRPr sz="1400">
                <a:solidFill>
                  <a:srgbClr val="0F172A"/>
                </a:solidFill>
              </a:defRPr>
            </a:pPr>
            <a:r>
              <a:t>3. Rejection / Feedback: Manager reviews and rejects with note:</a:t>
            </a:r>
          </a:p>
          <a:p>
            <a:pPr>
              <a:spcAft>
                <a:spcPts val="800"/>
              </a:spcAft>
              <a:defRPr sz="1400">
                <a:solidFill>
                  <a:srgbClr val="0F172A"/>
                </a:solidFill>
              </a:defRPr>
            </a:pPr>
            <a:r>
              <a:t>   'Please attach sample test sheets for February variance.'</a:t>
            </a:r>
          </a:p>
          <a:p>
            <a:pPr>
              <a:spcAft>
                <a:spcPts val="800"/>
              </a:spcAft>
              <a:defRPr sz="1400">
                <a:solidFill>
                  <a:srgbClr val="0F172A"/>
                </a:solidFill>
              </a:defRPr>
            </a:pPr>
            <a:r>
              <a:t>4. Resubmission: Lead updates content and clicks 'Resubmit'.</a:t>
            </a:r>
          </a:p>
          <a:p>
            <a:pPr>
              <a:spcAft>
                <a:spcPts val="800"/>
              </a:spcAft>
              <a:defRPr sz="1400">
                <a:solidFill>
                  <a:srgbClr val="0F172A"/>
                </a:solidFill>
              </a:defRPr>
            </a:pPr>
            <a:r>
              <a:t>5. Approval: Manager clicks 'Approve' (or Approve-with-edit).</a:t>
            </a:r>
          </a:p>
          <a:p>
            <a:pPr>
              <a:spcAft>
                <a:spcPts val="800"/>
              </a:spcAft>
              <a:defRPr sz="1400">
                <a:solidFill>
                  <a:srgbClr val="0F172A"/>
                </a:solidFill>
              </a:defRPr>
            </a:pPr>
          </a:p>
          <a:p>
            <a:pPr>
              <a:spcAft>
                <a:spcPts val="800"/>
              </a:spcAft>
              <a:defRPr sz="1400">
                <a:solidFill>
                  <a:srgbClr val="0F172A"/>
                </a:solidFill>
              </a:defRPr>
            </a:pPr>
            <a:r>
              <a:t>⚙ THE AUTOMATIC QA ADVANCEMENT:</a:t>
            </a:r>
          </a:p>
          <a:p>
            <a:pPr>
              <a:spcAft>
                <a:spcPts val="800"/>
              </a:spcAft>
              <a:defRPr sz="1400">
                <a:solidFill>
                  <a:srgbClr val="0F172A"/>
                </a:solidFill>
              </a:defRPr>
            </a:pPr>
            <a:r>
              <a:t>• When last control is tested AND all working papers approved:</a:t>
            </a:r>
          </a:p>
          <a:p>
            <a:pPr>
              <a:spcAft>
                <a:spcPts val="800"/>
              </a:spcAft>
              <a:defRPr sz="1400">
                <a:solidFill>
                  <a:srgbClr val="0F172A"/>
                </a:solidFill>
              </a:defRPr>
            </a:pPr>
            <a:r>
              <a:t>• Engagement automatically jumps to 'under_review'!</a:t>
            </a:r>
          </a:p>
          <a:p>
            <a:pPr>
              <a:spcAft>
                <a:spcPts val="800"/>
              </a:spcAft>
              <a:defRPr sz="1400">
                <a:solidFill>
                  <a:srgbClr val="0F172A"/>
                </a:solidFill>
              </a:defRPr>
            </a:pPr>
            <a:r>
              <a:t>• What's Next panel updates: 'Fieldwork complete — moving to QA'.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087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00A6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7772400" cy="274320"/>
          </a:xfrm>
          <a:prstGeom prst="rect">
            <a:avLst/>
          </a:prstGeom>
          <a:noFill/>
        </p:spPr>
        <p:txBody>
          <a:bodyPr wrap="square">
            <a:spAutoFit/>
          </a:bodyPr>
          <a:lstStyle/>
          <a:p>
            <a:pPr>
              <a:defRPr sz="1100" b="1">
                <a:solidFill>
                  <a:srgbClr val="E5F6EC"/>
                </a:solidFill>
              </a:defRPr>
            </a:pPr>
            <a:r>
              <a:t>MODULE 4: QUALITY ASSURANCE &amp; ISSUANCE</a:t>
            </a:r>
          </a:p>
        </p:txBody>
      </p:sp>
      <p:sp>
        <p:nvSpPr>
          <p:cNvPr id="5" name="TextBox 4"/>
          <p:cNvSpPr txBox="1"/>
          <p:nvPr/>
        </p:nvSpPr>
        <p:spPr>
          <a:xfrm>
            <a:off x="731520" y="347472"/>
            <a:ext cx="8961120" cy="594360"/>
          </a:xfrm>
          <a:prstGeom prst="rect">
            <a:avLst/>
          </a:prstGeom>
          <a:noFill/>
        </p:spPr>
        <p:txBody>
          <a:bodyPr wrap="square">
            <a:spAutoFit/>
          </a:bodyPr>
          <a:lstStyle/>
          <a:p>
            <a:pPr>
              <a:defRPr sz="2400" b="1">
                <a:solidFill>
                  <a:srgbClr val="FFFFFF"/>
                </a:solidFill>
              </a:defRPr>
            </a:pPr>
            <a:r>
              <a:t>Audit Review &amp; 3-Tier Executive Approval</a:t>
            </a:r>
          </a:p>
        </p:txBody>
      </p:sp>
      <p:sp>
        <p:nvSpPr>
          <p:cNvPr id="6" name="Rounded Rectangle 5"/>
          <p:cNvSpPr/>
          <p:nvPr/>
        </p:nvSpPr>
        <p:spPr>
          <a:xfrm>
            <a:off x="9875520" y="292608"/>
            <a:ext cx="1645920" cy="457200"/>
          </a:xfrm>
          <a:prstGeom prst="roundRect">
            <a:avLst/>
          </a:prstGeom>
          <a:solidFill>
            <a:srgbClr val="0038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12 Mins</a:t>
            </a:r>
          </a:p>
        </p:txBody>
      </p:sp>
      <p:sp>
        <p:nvSpPr>
          <p:cNvPr id="7" name="Rounded Rectangle 6"/>
          <p:cNvSpPr/>
          <p:nvPr/>
        </p:nvSpPr>
        <p:spPr>
          <a:xfrm>
            <a:off x="731520" y="1371600"/>
            <a:ext cx="5120640" cy="49377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56032" bIns="182880"/>
          <a:lstStyle/>
          <a:p>
            <a:pPr algn="ctr">
              <a:spcAft>
                <a:spcPts val="1200"/>
              </a:spcAft>
              <a:defRPr sz="1800" b="1">
                <a:solidFill>
                  <a:srgbClr val="008751"/>
                </a:solidFill>
              </a:defRPr>
            </a:pPr>
            <a:r>
              <a:t>1. Report Auto-Assembly &amp; Drafting</a:t>
            </a:r>
          </a:p>
          <a:p>
            <a:pPr>
              <a:spcAft>
                <a:spcPts val="800"/>
              </a:spcAft>
              <a:defRPr sz="1400">
                <a:solidFill>
                  <a:srgbClr val="0F172A"/>
                </a:solidFill>
              </a:defRPr>
            </a:pPr>
            <a:r>
              <a:t>ONE REPORT PER ENGAGEMENT (IN QA):</a:t>
            </a:r>
          </a:p>
          <a:p>
            <a:pPr>
              <a:spcAft>
                <a:spcPts val="800"/>
              </a:spcAft>
              <a:defRPr sz="1400">
                <a:solidFill>
                  <a:srgbClr val="0F172A"/>
                </a:solidFill>
              </a:defRPr>
            </a:pPr>
            <a:r>
              <a:t>• Lead opens 'Report / Review' tab in the engagement.</a:t>
            </a:r>
          </a:p>
          <a:p>
            <a:pPr>
              <a:spcAft>
                <a:spcPts val="800"/>
              </a:spcAft>
              <a:defRPr sz="1400">
                <a:solidFill>
                  <a:srgbClr val="0F172A"/>
                </a:solidFill>
              </a:defRPr>
            </a:pPr>
            <a:r>
              <a:t>• Auto-Assembled Content (Guaranteed 100% Alignment):</a:t>
            </a:r>
          </a:p>
          <a:p>
            <a:pPr>
              <a:spcAft>
                <a:spcPts val="800"/>
              </a:spcAft>
              <a:defRPr sz="1400">
                <a:solidFill>
                  <a:srgbClr val="0F172A"/>
                </a:solidFill>
              </a:defRPr>
            </a:pPr>
            <a:r>
              <a:t>  • Executive Summary template.</a:t>
            </a:r>
          </a:p>
          <a:p>
            <a:pPr>
              <a:spcAft>
                <a:spcPts val="800"/>
              </a:spcAft>
              <a:defRPr sz="1400">
                <a:solidFill>
                  <a:srgbClr val="0F172A"/>
                </a:solidFill>
              </a:defRPr>
            </a:pPr>
            <a:r>
              <a:t>  • Findings Summary Table: Grouped by Severity.</a:t>
            </a:r>
          </a:p>
          <a:p>
            <a:pPr>
              <a:spcAft>
                <a:spcPts val="800"/>
              </a:spcAft>
              <a:defRPr sz="1400">
                <a:solidFill>
                  <a:srgbClr val="0F172A"/>
                </a:solidFill>
              </a:defRPr>
            </a:pPr>
            <a:r>
              <a:t>  • Assets in Scope Table: Auto-populated from scope.</a:t>
            </a:r>
          </a:p>
          <a:p>
            <a:pPr>
              <a:spcAft>
                <a:spcPts val="800"/>
              </a:spcAft>
              <a:defRPr sz="1400">
                <a:solidFill>
                  <a:srgbClr val="0F172A"/>
                </a:solidFill>
              </a:defRPr>
            </a:pPr>
            <a:r>
              <a:t>  • Methodology and Sampling records.</a:t>
            </a:r>
          </a:p>
          <a:p>
            <a:pPr>
              <a:spcAft>
                <a:spcPts val="800"/>
              </a:spcAft>
              <a:defRPr sz="1400">
                <a:solidFill>
                  <a:srgbClr val="0F172A"/>
                </a:solidFill>
              </a:defRPr>
            </a:pPr>
            <a:r>
              <a:t>• Zero manual copying between register and report!</a:t>
            </a:r>
          </a:p>
          <a:p>
            <a:pPr>
              <a:spcAft>
                <a:spcPts val="800"/>
              </a:spcAft>
              <a:defRPr sz="1400">
                <a:solidFill>
                  <a:srgbClr val="0F172A"/>
                </a:solidFill>
              </a:defRPr>
            </a:pPr>
          </a:p>
          <a:p>
            <a:pPr>
              <a:spcAft>
                <a:spcPts val="800"/>
              </a:spcAft>
              <a:defRPr sz="1400">
                <a:solidFill>
                  <a:srgbClr val="0F172A"/>
                </a:solidFill>
              </a:defRPr>
            </a:pPr>
            <a:r>
              <a:t>SUBMISSION FOR EXECUTIVE SIGN-OFF:</a:t>
            </a:r>
          </a:p>
          <a:p>
            <a:pPr>
              <a:spcAft>
                <a:spcPts val="800"/>
              </a:spcAft>
              <a:defRPr sz="1400">
                <a:solidFill>
                  <a:srgbClr val="0F172A"/>
                </a:solidFill>
              </a:defRPr>
            </a:pPr>
            <a:r>
              <a:t>• Lead completes executive summary and clicks 'Submit review'.</a:t>
            </a:r>
          </a:p>
          <a:p>
            <a:pPr>
              <a:spcAft>
                <a:spcPts val="800"/>
              </a:spcAft>
              <a:defRPr sz="1400">
                <a:solidFill>
                  <a:srgbClr val="0F172A"/>
                </a:solidFill>
              </a:defRPr>
            </a:pPr>
            <a:r>
              <a:t>• The 3-tier sequential approval chain activates instantly.</a:t>
            </a:r>
          </a:p>
        </p:txBody>
      </p:sp>
      <p:sp>
        <p:nvSpPr>
          <p:cNvPr id="8" name="Rounded Rectangle 7"/>
          <p:cNvSpPr/>
          <p:nvPr/>
        </p:nvSpPr>
        <p:spPr>
          <a:xfrm>
            <a:off x="6217920" y="1371600"/>
            <a:ext cx="5120640" cy="4937760"/>
          </a:xfrm>
          <a:prstGeom prst="roundRect">
            <a:avLst/>
          </a:prstGeom>
          <a:solidFill>
            <a:srgbClr val="F0FDF4"/>
          </a:solidFill>
          <a:ln w="25400">
            <a:solidFill>
              <a:srgbClr val="008751"/>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56032" bIns="182880"/>
          <a:lstStyle/>
          <a:p>
            <a:pPr algn="ctr">
              <a:spcAft>
                <a:spcPts val="1200"/>
              </a:spcAft>
              <a:defRPr sz="1800" b="1">
                <a:solidFill>
                  <a:srgbClr val="003823"/>
                </a:solidFill>
              </a:defRPr>
            </a:pPr>
            <a:r>
              <a:t>2. The 3-Tier Sign-off &amp; Issuing (Button 2)</a:t>
            </a:r>
          </a:p>
          <a:p>
            <a:pPr>
              <a:spcAft>
                <a:spcPts val="800"/>
              </a:spcAft>
              <a:defRPr sz="1400">
                <a:solidFill>
                  <a:srgbClr val="0F172A"/>
                </a:solidFill>
              </a:defRPr>
            </a:pPr>
            <a:r>
              <a:t>SEQUENTIAL 3-TIER EXECUTIVE CHAIN (GATE 3):</a:t>
            </a:r>
          </a:p>
          <a:p>
            <a:pPr>
              <a:spcAft>
                <a:spcPts val="800"/>
              </a:spcAft>
              <a:defRPr sz="1400">
                <a:solidFill>
                  <a:srgbClr val="0F172A"/>
                </a:solidFill>
              </a:defRPr>
            </a:pPr>
            <a:r>
              <a:t>1. Level 1 — Manager (Audit Manager Trainee):</a:t>
            </a:r>
          </a:p>
          <a:p>
            <a:pPr>
              <a:spcAft>
                <a:spcPts val="800"/>
              </a:spcAft>
              <a:defRPr sz="1400">
                <a:solidFill>
                  <a:srgbClr val="0F172A"/>
                </a:solidFill>
              </a:defRPr>
            </a:pPr>
            <a:r>
              <a:t>   • Reviews full content -&gt; Signs with signature image.</a:t>
            </a:r>
          </a:p>
          <a:p>
            <a:pPr>
              <a:spcAft>
                <a:spcPts val="800"/>
              </a:spcAft>
              <a:defRPr sz="1400">
                <a:solidFill>
                  <a:srgbClr val="0F172A"/>
                </a:solidFill>
              </a:defRPr>
            </a:pPr>
            <a:r>
              <a:t>2. Level 2 — Director Oversight (Director Trainee):</a:t>
            </a:r>
          </a:p>
          <a:p>
            <a:pPr>
              <a:spcAft>
                <a:spcPts val="800"/>
              </a:spcAft>
              <a:defRPr sz="1400">
                <a:solidFill>
                  <a:srgbClr val="0F172A"/>
                </a:solidFill>
              </a:defRPr>
            </a:pPr>
            <a:r>
              <a:t>   • Reviews risk alignment -&gt; Signs Level 2.</a:t>
            </a:r>
          </a:p>
          <a:p>
            <a:pPr>
              <a:spcAft>
                <a:spcPts val="800"/>
              </a:spcAft>
              <a:defRPr sz="1400">
                <a:solidFill>
                  <a:srgbClr val="0F172A"/>
                </a:solidFill>
              </a:defRPr>
            </a:pPr>
            <a:r>
              <a:t>3. Level 3 — CAE Final (Chief Audit Executive Trainee):</a:t>
            </a:r>
          </a:p>
          <a:p>
            <a:pPr>
              <a:spcAft>
                <a:spcPts val="800"/>
              </a:spcAft>
              <a:defRPr sz="1400">
                <a:solidFill>
                  <a:srgbClr val="0F172A"/>
                </a:solidFill>
              </a:defRPr>
            </a:pPr>
            <a:r>
              <a:t>   • Final executive sign-off -&gt; Approves Level 3.</a:t>
            </a:r>
          </a:p>
          <a:p>
            <a:pPr>
              <a:spcAft>
                <a:spcPts val="800"/>
              </a:spcAft>
              <a:defRPr sz="1400">
                <a:solidFill>
                  <a:srgbClr val="0F172A"/>
                </a:solidFill>
              </a:defRPr>
            </a:pPr>
          </a:p>
          <a:p>
            <a:pPr>
              <a:spcAft>
                <a:spcPts val="800"/>
              </a:spcAft>
              <a:defRPr sz="1400">
                <a:solidFill>
                  <a:srgbClr val="0F172A"/>
                </a:solidFill>
              </a:defRPr>
            </a:pPr>
            <a:r>
              <a:t>▶ ISSUING THE REPORT (BUTTON 2 — CAE ONLY):</a:t>
            </a:r>
          </a:p>
          <a:p>
            <a:pPr>
              <a:spcAft>
                <a:spcPts val="800"/>
              </a:spcAft>
              <a:defRPr sz="1400">
                <a:solidFill>
                  <a:srgbClr val="0F172A"/>
                </a:solidFill>
              </a:defRPr>
            </a:pPr>
            <a:r>
              <a:t>• CAE clicks 'Issue report' (report:issue):</a:t>
            </a:r>
          </a:p>
          <a:p>
            <a:pPr>
              <a:spcAft>
                <a:spcPts val="800"/>
              </a:spcAft>
              <a:defRPr sz="1400">
                <a:solidFill>
                  <a:srgbClr val="0F172A"/>
                </a:solidFill>
              </a:defRPr>
            </a:pPr>
            <a:r>
              <a:t>  • Report is permanently locked &amp; branded PDF created.</a:t>
            </a:r>
          </a:p>
          <a:p>
            <a:pPr>
              <a:spcAft>
                <a:spcPts val="800"/>
              </a:spcAft>
              <a:defRPr sz="1400">
                <a:solidFill>
                  <a:srgbClr val="0F172A"/>
                </a:solidFill>
              </a:defRPr>
            </a:pPr>
            <a:r>
              <a:t>  • Engagement advances to 'reported'.</a:t>
            </a:r>
          </a:p>
          <a:p>
            <a:pPr>
              <a:spcAft>
                <a:spcPts val="800"/>
              </a:spcAft>
              <a:defRPr sz="1400">
                <a:solidFill>
                  <a:srgbClr val="0F172A"/>
                </a:solidFill>
              </a:defRPr>
            </a:pPr>
            <a:r>
              <a:t>  • Follow-up loop opens on every finding.</a:t>
            </a:r>
          </a:p>
          <a:p>
            <a:pPr>
              <a:spcAft>
                <a:spcPts val="800"/>
              </a:spcAft>
              <a:defRPr sz="1400">
                <a:solidFill>
                  <a:srgbClr val="0F172A"/>
                </a:solidFill>
              </a:defRPr>
            </a:pPr>
            <a:r>
              <a:t>  • ✱ Auditee is notified and can NOW see findings!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087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00A6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7772400" cy="274320"/>
          </a:xfrm>
          <a:prstGeom prst="rect">
            <a:avLst/>
          </a:prstGeom>
          <a:noFill/>
        </p:spPr>
        <p:txBody>
          <a:bodyPr wrap="square">
            <a:spAutoFit/>
          </a:bodyPr>
          <a:lstStyle/>
          <a:p>
            <a:pPr>
              <a:defRPr sz="1100" b="1">
                <a:solidFill>
                  <a:srgbClr val="E5F6EC"/>
                </a:solidFill>
              </a:defRPr>
            </a:pPr>
            <a:r>
              <a:t>MODULE 5: FOLLOW-UP &amp; AUTO-CLOSURE</a:t>
            </a:r>
          </a:p>
        </p:txBody>
      </p:sp>
      <p:sp>
        <p:nvSpPr>
          <p:cNvPr id="5" name="TextBox 4"/>
          <p:cNvSpPr txBox="1"/>
          <p:nvPr/>
        </p:nvSpPr>
        <p:spPr>
          <a:xfrm>
            <a:off x="731520" y="347472"/>
            <a:ext cx="8961120" cy="594360"/>
          </a:xfrm>
          <a:prstGeom prst="rect">
            <a:avLst/>
          </a:prstGeom>
          <a:noFill/>
        </p:spPr>
        <p:txBody>
          <a:bodyPr wrap="square">
            <a:spAutoFit/>
          </a:bodyPr>
          <a:lstStyle/>
          <a:p>
            <a:pPr>
              <a:defRPr sz="2400" b="1">
                <a:solidFill>
                  <a:srgbClr val="FFFFFF"/>
                </a:solidFill>
              </a:defRPr>
            </a:pPr>
            <a:r>
              <a:t>Remediation Follow-up &amp; The Closed Loop</a:t>
            </a:r>
          </a:p>
        </p:txBody>
      </p:sp>
      <p:sp>
        <p:nvSpPr>
          <p:cNvPr id="6" name="Rounded Rectangle 5"/>
          <p:cNvSpPr/>
          <p:nvPr/>
        </p:nvSpPr>
        <p:spPr>
          <a:xfrm>
            <a:off x="9875520" y="292608"/>
            <a:ext cx="1645920" cy="457200"/>
          </a:xfrm>
          <a:prstGeom prst="roundRect">
            <a:avLst/>
          </a:prstGeom>
          <a:solidFill>
            <a:srgbClr val="0038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12 Mins</a:t>
            </a:r>
          </a:p>
        </p:txBody>
      </p:sp>
      <p:sp>
        <p:nvSpPr>
          <p:cNvPr id="7" name="Rounded Rectangle 6"/>
          <p:cNvSpPr/>
          <p:nvPr/>
        </p:nvSpPr>
        <p:spPr>
          <a:xfrm>
            <a:off x="731520" y="1371600"/>
            <a:ext cx="5120640" cy="49377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56032" bIns="182880"/>
          <a:lstStyle/>
          <a:p>
            <a:pPr algn="ctr">
              <a:spcAft>
                <a:spcPts val="1200"/>
              </a:spcAft>
              <a:defRPr sz="1800" b="1">
                <a:solidFill>
                  <a:srgbClr val="008751"/>
                </a:solidFill>
              </a:defRPr>
            </a:pPr>
            <a:r>
              <a:t>1. Auditee Action &amp; Auditor Verification</a:t>
            </a:r>
          </a:p>
          <a:p>
            <a:pPr>
              <a:spcAft>
                <a:spcPts val="800"/>
              </a:spcAft>
              <a:defRPr sz="1400">
                <a:solidFill>
                  <a:srgbClr val="0F172A"/>
                </a:solidFill>
              </a:defRPr>
            </a:pPr>
            <a:r>
              <a:t>THE VISIBILITY FLIP (REPORT ISSUED):</a:t>
            </a:r>
          </a:p>
          <a:p>
            <a:pPr>
              <a:spcAft>
                <a:spcPts val="800"/>
              </a:spcAft>
              <a:defRPr sz="1400">
                <a:solidFill>
                  <a:srgbClr val="0F172A"/>
                </a:solidFill>
              </a:defRPr>
            </a:pPr>
            <a:r>
              <a:t>• Auditee trainee refreshes Findings -&gt; Finding is now visible!</a:t>
            </a:r>
          </a:p>
          <a:p>
            <a:pPr>
              <a:spcAft>
                <a:spcPts val="800"/>
              </a:spcAft>
              <a:defRPr sz="1400">
                <a:solidFill>
                  <a:srgbClr val="0F172A"/>
                </a:solidFill>
              </a:defRPr>
            </a:pPr>
            <a:r>
              <a:t>• Management Response:</a:t>
            </a:r>
          </a:p>
          <a:p>
            <a:pPr>
              <a:spcAft>
                <a:spcPts val="800"/>
              </a:spcAft>
              <a:defRPr sz="1400">
                <a:solidFill>
                  <a:srgbClr val="0F172A"/>
                </a:solidFill>
              </a:defRPr>
            </a:pPr>
            <a:r>
              <a:t>  • Auditee enters corrective action plan &amp; implementation date.</a:t>
            </a:r>
          </a:p>
          <a:p>
            <a:pPr>
              <a:spcAft>
                <a:spcPts val="800"/>
              </a:spcAft>
              <a:defRPr sz="1400">
                <a:solidFill>
                  <a:srgbClr val="0F172A"/>
                </a:solidFill>
              </a:defRPr>
            </a:pPr>
            <a:r>
              <a:t>  • Status moves: open → management_response_received.</a:t>
            </a:r>
          </a:p>
          <a:p>
            <a:pPr>
              <a:spcAft>
                <a:spcPts val="800"/>
              </a:spcAft>
              <a:defRPr sz="1400">
                <a:solidFill>
                  <a:srgbClr val="0F172A"/>
                </a:solidFill>
              </a:defRPr>
            </a:pPr>
          </a:p>
          <a:p>
            <a:pPr>
              <a:spcAft>
                <a:spcPts val="800"/>
              </a:spcAft>
              <a:defRPr sz="1400">
                <a:solidFill>
                  <a:srgbClr val="0F172A"/>
                </a:solidFill>
              </a:defRPr>
            </a:pPr>
            <a:r>
              <a:t>REMEDIATION &amp; PROOF UPLOAD:</a:t>
            </a:r>
          </a:p>
          <a:p>
            <a:pPr>
              <a:spcAft>
                <a:spcPts val="800"/>
              </a:spcAft>
              <a:defRPr sz="1400">
                <a:solidFill>
                  <a:srgbClr val="0F172A"/>
                </a:solidFill>
              </a:defRPr>
            </a:pPr>
            <a:r>
              <a:t>• Auditee implements controls and uploads proof (e.g. policy/log).</a:t>
            </a:r>
          </a:p>
          <a:p>
            <a:pPr>
              <a:spcAft>
                <a:spcPts val="800"/>
              </a:spcAft>
              <a:defRPr sz="1400">
                <a:solidFill>
                  <a:srgbClr val="0F172A"/>
                </a:solidFill>
              </a:defRPr>
            </a:pPr>
            <a:r>
              <a:t>• Status moves: in_remediation → pending_verification.</a:t>
            </a:r>
          </a:p>
          <a:p>
            <a:pPr>
              <a:spcAft>
                <a:spcPts val="800"/>
              </a:spcAft>
              <a:defRPr sz="1400">
                <a:solidFill>
                  <a:srgbClr val="0F172A"/>
                </a:solidFill>
              </a:defRPr>
            </a:pPr>
          </a:p>
          <a:p>
            <a:pPr>
              <a:spcAft>
                <a:spcPts val="800"/>
              </a:spcAft>
              <a:defRPr sz="1400">
                <a:solidFill>
                  <a:srgbClr val="0F172A"/>
                </a:solidFill>
              </a:defRPr>
            </a:pPr>
            <a:r>
              <a:t>VERIFICATION GATE (AUDITOR ONLY):</a:t>
            </a:r>
          </a:p>
          <a:p>
            <a:pPr>
              <a:spcAft>
                <a:spcPts val="800"/>
              </a:spcAft>
              <a:defRPr sz="1400">
                <a:solidFill>
                  <a:srgbClr val="0F172A"/>
                </a:solidFill>
              </a:defRPr>
            </a:pPr>
            <a:r>
              <a:t>• Lead Auditor inspects evidence -&gt; Clicks 'Verify'.</a:t>
            </a:r>
          </a:p>
          <a:p>
            <a:pPr>
              <a:spcAft>
                <a:spcPts val="800"/>
              </a:spcAft>
              <a:defRPr sz="1400">
                <a:solidFill>
                  <a:srgbClr val="0F172A"/>
                </a:solidFill>
              </a:defRPr>
            </a:pPr>
            <a:r>
              <a:t>• Guardrail: Auditee CANNOT verify their own remediation!</a:t>
            </a:r>
          </a:p>
        </p:txBody>
      </p:sp>
      <p:sp>
        <p:nvSpPr>
          <p:cNvPr id="8" name="Rounded Rectangle 7"/>
          <p:cNvSpPr/>
          <p:nvPr/>
        </p:nvSpPr>
        <p:spPr>
          <a:xfrm>
            <a:off x="6217920" y="1371600"/>
            <a:ext cx="5120640" cy="4937760"/>
          </a:xfrm>
          <a:prstGeom prst="roundRect">
            <a:avLst/>
          </a:prstGeom>
          <a:solidFill>
            <a:srgbClr val="F0FDF4"/>
          </a:solidFill>
          <a:ln w="25400">
            <a:solidFill>
              <a:srgbClr val="008751"/>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56032" bIns="182880"/>
          <a:lstStyle/>
          <a:p>
            <a:pPr algn="ctr">
              <a:spcAft>
                <a:spcPts val="1200"/>
              </a:spcAft>
              <a:defRPr sz="1800" b="1">
                <a:solidFill>
                  <a:srgbClr val="003823"/>
                </a:solidFill>
              </a:defRPr>
            </a:pPr>
            <a:r>
              <a:t>2. Closure Approval &amp; Universe Re-stamping</a:t>
            </a:r>
          </a:p>
          <a:p>
            <a:pPr>
              <a:spcAft>
                <a:spcPts val="800"/>
              </a:spcAft>
              <a:defRPr sz="1400">
                <a:solidFill>
                  <a:srgbClr val="0F172A"/>
                </a:solidFill>
              </a:defRPr>
            </a:pPr>
            <a:r>
              <a:t>GATE 4: FORMAL FINDING CLOSURE SIGN-OFF:</a:t>
            </a:r>
          </a:p>
          <a:p>
            <a:pPr>
              <a:spcAft>
                <a:spcPts val="800"/>
              </a:spcAft>
              <a:defRPr sz="1400">
                <a:solidFill>
                  <a:srgbClr val="0F172A"/>
                </a:solidFill>
              </a:defRPr>
            </a:pPr>
            <a:r>
              <a:t>• Lead Auditor requests closure of verified finding.</a:t>
            </a:r>
          </a:p>
          <a:p>
            <a:pPr>
              <a:spcAft>
                <a:spcPts val="800"/>
              </a:spcAft>
              <a:defRPr sz="1400">
                <a:solidFill>
                  <a:srgbClr val="0F172A"/>
                </a:solidFill>
              </a:defRPr>
            </a:pPr>
            <a:r>
              <a:t>• Audit Manager approves closure in workflow inbox.</a:t>
            </a:r>
          </a:p>
          <a:p>
            <a:pPr>
              <a:spcAft>
                <a:spcPts val="800"/>
              </a:spcAft>
              <a:defRPr sz="1400">
                <a:solidFill>
                  <a:srgbClr val="0F172A"/>
                </a:solidFill>
              </a:defRPr>
            </a:pPr>
            <a:r>
              <a:t>• Finding status updates to 'closed'.</a:t>
            </a:r>
          </a:p>
          <a:p>
            <a:pPr>
              <a:spcAft>
                <a:spcPts val="800"/>
              </a:spcAft>
              <a:defRPr sz="1400">
                <a:solidFill>
                  <a:srgbClr val="0F172A"/>
                </a:solidFill>
              </a:defRPr>
            </a:pPr>
          </a:p>
          <a:p>
            <a:pPr>
              <a:spcAft>
                <a:spcPts val="800"/>
              </a:spcAft>
              <a:defRPr sz="1400">
                <a:solidFill>
                  <a:srgbClr val="0F172A"/>
                </a:solidFill>
              </a:defRPr>
            </a:pPr>
            <a:r>
              <a:t>⚙ THE FINAL AUTOMATIC ENGAGEMENT CLOSURE:</a:t>
            </a:r>
          </a:p>
          <a:p>
            <a:pPr>
              <a:spcAft>
                <a:spcPts val="800"/>
              </a:spcAft>
              <a:defRPr sz="1400">
                <a:solidFill>
                  <a:srgbClr val="0F172A"/>
                </a:solidFill>
              </a:defRPr>
            </a:pPr>
            <a:r>
              <a:t>• When the LAST open finding on the engagement is closed:</a:t>
            </a:r>
          </a:p>
          <a:p>
            <a:pPr>
              <a:spcAft>
                <a:spcPts val="800"/>
              </a:spcAft>
              <a:defRPr sz="1400">
                <a:solidFill>
                  <a:srgbClr val="0F172A"/>
                </a:solidFill>
              </a:defRPr>
            </a:pPr>
            <a:r>
              <a:t>• Engagement status advances automatically: reported → closed!</a:t>
            </a:r>
          </a:p>
          <a:p>
            <a:pPr>
              <a:spcAft>
                <a:spcPts val="800"/>
              </a:spcAft>
              <a:defRPr sz="1400">
                <a:solidFill>
                  <a:srgbClr val="0F172A"/>
                </a:solidFill>
              </a:defRPr>
            </a:pPr>
            <a:r>
              <a:t>• Actual end date stamped.</a:t>
            </a:r>
          </a:p>
          <a:p>
            <a:pPr>
              <a:spcAft>
                <a:spcPts val="800"/>
              </a:spcAft>
              <a:defRPr sz="1400">
                <a:solidFill>
                  <a:srgbClr val="0F172A"/>
                </a:solidFill>
              </a:defRPr>
            </a:pPr>
          </a:p>
          <a:p>
            <a:pPr>
              <a:spcAft>
                <a:spcPts val="800"/>
              </a:spcAft>
              <a:defRPr sz="1400">
                <a:solidFill>
                  <a:srgbClr val="0F172A"/>
                </a:solidFill>
              </a:defRPr>
            </a:pPr>
            <a:r>
              <a:t>CLOSING THE ENTERPRISE LOOP:</a:t>
            </a:r>
          </a:p>
          <a:p>
            <a:pPr>
              <a:spcAft>
                <a:spcPts val="800"/>
              </a:spcAft>
              <a:defRPr sz="1400">
                <a:solidFill>
                  <a:srgbClr val="0F172A"/>
                </a:solidFill>
              </a:defRPr>
            </a:pPr>
            <a:r>
              <a:t>• System stamps last_audited_at on the Universe Entity!</a:t>
            </a:r>
          </a:p>
          <a:p>
            <a:pPr>
              <a:spcAft>
                <a:spcPts val="800"/>
              </a:spcAft>
              <a:defRPr sz="1400">
                <a:solidFill>
                  <a:srgbClr val="0F172A"/>
                </a:solidFill>
              </a:defRPr>
            </a:pPr>
            <a:r>
              <a:t>• Directly feeds next year's annual plan risk calculation.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087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00A6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7772400" cy="274320"/>
          </a:xfrm>
          <a:prstGeom prst="rect">
            <a:avLst/>
          </a:prstGeom>
          <a:noFill/>
        </p:spPr>
        <p:txBody>
          <a:bodyPr wrap="square">
            <a:spAutoFit/>
          </a:bodyPr>
          <a:lstStyle/>
          <a:p>
            <a:pPr>
              <a:defRPr sz="1100" b="1">
                <a:solidFill>
                  <a:srgbClr val="E5F6EC"/>
                </a:solidFill>
              </a:defRPr>
            </a:pPr>
            <a:r>
              <a:t>MODULE 6: GOVERNANCE &amp; TRAPS</a:t>
            </a:r>
          </a:p>
        </p:txBody>
      </p:sp>
      <p:sp>
        <p:nvSpPr>
          <p:cNvPr id="5" name="TextBox 4"/>
          <p:cNvSpPr txBox="1"/>
          <p:nvPr/>
        </p:nvSpPr>
        <p:spPr>
          <a:xfrm>
            <a:off x="731520" y="347472"/>
            <a:ext cx="8961120" cy="594360"/>
          </a:xfrm>
          <a:prstGeom prst="rect">
            <a:avLst/>
          </a:prstGeom>
          <a:noFill/>
        </p:spPr>
        <p:txBody>
          <a:bodyPr wrap="square">
            <a:spAutoFit/>
          </a:bodyPr>
          <a:lstStyle/>
          <a:p>
            <a:pPr>
              <a:defRPr sz="2400" b="1">
                <a:solidFill>
                  <a:srgbClr val="FFFFFF"/>
                </a:solidFill>
              </a:defRPr>
            </a:pPr>
            <a:r>
              <a:t>Five Things Trainees Always Get Wrong &amp; Guardrails</a:t>
            </a:r>
          </a:p>
        </p:txBody>
      </p:sp>
      <p:sp>
        <p:nvSpPr>
          <p:cNvPr id="6" name="Rounded Rectangle 5"/>
          <p:cNvSpPr/>
          <p:nvPr/>
        </p:nvSpPr>
        <p:spPr>
          <a:xfrm>
            <a:off x="9875520" y="292608"/>
            <a:ext cx="1645920" cy="457200"/>
          </a:xfrm>
          <a:prstGeom prst="roundRect">
            <a:avLst/>
          </a:prstGeom>
          <a:solidFill>
            <a:srgbClr val="0038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6 Mins</a:t>
            </a:r>
          </a:p>
        </p:txBody>
      </p:sp>
      <p:sp>
        <p:nvSpPr>
          <p:cNvPr id="7" name="Rounded Rectangle 6"/>
          <p:cNvSpPr/>
          <p:nvPr/>
        </p:nvSpPr>
        <p:spPr>
          <a:xfrm>
            <a:off x="731520" y="1371600"/>
            <a:ext cx="5120640" cy="49377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56032" bIns="182880"/>
          <a:lstStyle/>
          <a:p>
            <a:pPr algn="ctr">
              <a:spcAft>
                <a:spcPts val="1200"/>
              </a:spcAft>
              <a:defRPr sz="1800" b="1">
                <a:solidFill>
                  <a:srgbClr val="008751"/>
                </a:solidFill>
              </a:defRPr>
            </a:pPr>
            <a:r>
              <a:t>Top Trainee Misconceptions (1 - 3)</a:t>
            </a:r>
          </a:p>
          <a:p>
            <a:pPr>
              <a:spcAft>
                <a:spcPts val="800"/>
              </a:spcAft>
              <a:defRPr sz="1400">
                <a:solidFill>
                  <a:srgbClr val="0F172A"/>
                </a:solidFill>
              </a:defRPr>
            </a:pPr>
            <a:r>
              <a:t>1. 'I HAVE THE PERMISSION, WHY CAN'T I APPROVE?'</a:t>
            </a:r>
          </a:p>
          <a:p>
            <a:pPr>
              <a:spcAft>
                <a:spcPts val="800"/>
              </a:spcAft>
              <a:defRPr sz="1400">
                <a:solidFill>
                  <a:srgbClr val="0F172A"/>
                </a:solidFill>
              </a:defRPr>
            </a:pPr>
            <a:r>
              <a:t>   • Trainees forget Segregation of Duties (SoD).</a:t>
            </a:r>
          </a:p>
          <a:p>
            <a:pPr>
              <a:spcAft>
                <a:spcPts val="800"/>
              </a:spcAft>
              <a:defRPr sz="1400">
                <a:solidFill>
                  <a:srgbClr val="0F172A"/>
                </a:solidFill>
              </a:defRPr>
            </a:pPr>
            <a:r>
              <a:t>   • Rule: You can NEVER approve what you submitted.</a:t>
            </a:r>
          </a:p>
          <a:p>
            <a:pPr>
              <a:spcAft>
                <a:spcPts val="800"/>
              </a:spcAft>
              <a:defRPr sz="1400">
                <a:solidFill>
                  <a:srgbClr val="0F172A"/>
                </a:solidFill>
              </a:defRPr>
            </a:pPr>
            <a:r>
              <a:t>   • Creator of a WP / Report cannot be its approver.</a:t>
            </a:r>
          </a:p>
          <a:p>
            <a:pPr>
              <a:spcAft>
                <a:spcPts val="800"/>
              </a:spcAft>
              <a:defRPr sz="1400">
                <a:solidFill>
                  <a:srgbClr val="0F172A"/>
                </a:solidFill>
              </a:defRPr>
            </a:pPr>
          </a:p>
          <a:p>
            <a:pPr>
              <a:spcAft>
                <a:spcPts val="800"/>
              </a:spcAft>
              <a:defRPr sz="1400">
                <a:solidFill>
                  <a:srgbClr val="0F172A"/>
                </a:solidFill>
              </a:defRPr>
            </a:pPr>
            <a:r>
              <a:t>2. 'APPROVING THE REPORT ISSUES IT.'</a:t>
            </a:r>
          </a:p>
          <a:p>
            <a:pPr>
              <a:spcAft>
                <a:spcPts val="800"/>
              </a:spcAft>
              <a:defRPr sz="1400">
                <a:solidFill>
                  <a:srgbClr val="0F172A"/>
                </a:solidFill>
              </a:defRPr>
            </a:pPr>
            <a:r>
              <a:t>   • Level 3 approval verifies technical completeness.</a:t>
            </a:r>
          </a:p>
          <a:p>
            <a:pPr>
              <a:spcAft>
                <a:spcPts val="800"/>
              </a:spcAft>
              <a:defRPr sz="1400">
                <a:solidFill>
                  <a:srgbClr val="0F172A"/>
                </a:solidFill>
              </a:defRPr>
            </a:pPr>
            <a:r>
              <a:t>   • Only 'report:issue' (Button 2) formally issues report,</a:t>
            </a:r>
          </a:p>
          <a:p>
            <a:pPr>
              <a:spcAft>
                <a:spcPts val="800"/>
              </a:spcAft>
              <a:defRPr sz="1400">
                <a:solidFill>
                  <a:srgbClr val="0F172A"/>
                </a:solidFill>
              </a:defRPr>
            </a:pPr>
            <a:r>
              <a:t>     locks data, and opens follow-up.</a:t>
            </a:r>
          </a:p>
          <a:p>
            <a:pPr>
              <a:spcAft>
                <a:spcPts val="800"/>
              </a:spcAft>
              <a:defRPr sz="1400">
                <a:solidFill>
                  <a:srgbClr val="0F172A"/>
                </a:solidFill>
              </a:defRPr>
            </a:pPr>
          </a:p>
          <a:p>
            <a:pPr>
              <a:spcAft>
                <a:spcPts val="800"/>
              </a:spcAft>
              <a:defRPr sz="1400">
                <a:solidFill>
                  <a:srgbClr val="0F172A"/>
                </a:solidFill>
              </a:defRPr>
            </a:pPr>
            <a:r>
              <a:t>3. 'AUDITEE CANNOT SEE DRAFT FINDINGS (A BUG?)'</a:t>
            </a:r>
          </a:p>
          <a:p>
            <a:pPr>
              <a:spcAft>
                <a:spcPts val="800"/>
              </a:spcAft>
              <a:defRPr sz="1400">
                <a:solidFill>
                  <a:srgbClr val="0F172A"/>
                </a:solidFill>
              </a:defRPr>
            </a:pPr>
            <a:r>
              <a:t>   • Working papers &amp; draft findings are STRICTLY CONFIDENTIAL</a:t>
            </a:r>
          </a:p>
          <a:p>
            <a:pPr>
              <a:spcAft>
                <a:spcPts val="800"/>
              </a:spcAft>
              <a:defRPr sz="1400">
                <a:solidFill>
                  <a:srgbClr val="0F172A"/>
                </a:solidFill>
              </a:defRPr>
            </a:pPr>
            <a:r>
              <a:t>     to the audit team until final issuance.</a:t>
            </a:r>
          </a:p>
        </p:txBody>
      </p:sp>
      <p:sp>
        <p:nvSpPr>
          <p:cNvPr id="8" name="Rounded Rectangle 7"/>
          <p:cNvSpPr/>
          <p:nvPr/>
        </p:nvSpPr>
        <p:spPr>
          <a:xfrm>
            <a:off x="6217920" y="1371600"/>
            <a:ext cx="5120640" cy="4937760"/>
          </a:xfrm>
          <a:prstGeom prst="roundRect">
            <a:avLst/>
          </a:prstGeom>
          <a:solidFill>
            <a:srgbClr val="F0FDF4"/>
          </a:solidFill>
          <a:ln w="25400">
            <a:solidFill>
              <a:srgbClr val="008751"/>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56032" bIns="182880"/>
          <a:lstStyle/>
          <a:p>
            <a:pPr algn="ctr">
              <a:spcAft>
                <a:spcPts val="1200"/>
              </a:spcAft>
              <a:defRPr sz="1800" b="1">
                <a:solidFill>
                  <a:srgbClr val="003823"/>
                </a:solidFill>
              </a:defRPr>
            </a:pPr>
            <a:r>
              <a:t>Misconceptions (4 - 5) &amp; Auditee Architecture</a:t>
            </a:r>
          </a:p>
          <a:p>
            <a:pPr>
              <a:spcAft>
                <a:spcPts val="800"/>
              </a:spcAft>
              <a:defRPr sz="1400">
                <a:solidFill>
                  <a:srgbClr val="0F172A"/>
                </a:solidFill>
              </a:defRPr>
            </a:pPr>
            <a:r>
              <a:t>4. 'ENGAGEMENT IS STUCK — WHERE IS THE ADVANCE BUTTON?'</a:t>
            </a:r>
          </a:p>
          <a:p>
            <a:pPr>
              <a:spcAft>
                <a:spcPts val="800"/>
              </a:spcAft>
              <a:defRPr sz="1400">
                <a:solidFill>
                  <a:srgbClr val="0F172A"/>
                </a:solidFill>
              </a:defRPr>
            </a:pPr>
            <a:r>
              <a:t>   • Human beings only press 2 buttons in the entire lifecycle!</a:t>
            </a:r>
          </a:p>
          <a:p>
            <a:pPr>
              <a:spcAft>
                <a:spcPts val="800"/>
              </a:spcAft>
              <a:defRPr sz="1400">
                <a:solidFill>
                  <a:srgbClr val="0F172A"/>
                </a:solidFill>
              </a:defRPr>
            </a:pPr>
            <a:r>
              <a:t>   • Check 'What's Next' panel for pending tests or approvals.</a:t>
            </a:r>
          </a:p>
          <a:p>
            <a:pPr>
              <a:spcAft>
                <a:spcPts val="800"/>
              </a:spcAft>
              <a:defRPr sz="1400">
                <a:solidFill>
                  <a:srgbClr val="0F172A"/>
                </a:solidFill>
              </a:defRPr>
            </a:pPr>
          </a:p>
          <a:p>
            <a:pPr>
              <a:spcAft>
                <a:spcPts val="800"/>
              </a:spcAft>
              <a:defRPr sz="1400">
                <a:solidFill>
                  <a:srgbClr val="0F172A"/>
                </a:solidFill>
              </a:defRPr>
            </a:pPr>
            <a:r>
              <a:t>5. 'ROLE X CAN DO Y' (TEACH PERMISSIONS, NOT TITLES):</a:t>
            </a:r>
          </a:p>
          <a:p>
            <a:pPr>
              <a:spcAft>
                <a:spcPts val="800"/>
              </a:spcAft>
              <a:defRPr sz="1400">
                <a:solidFill>
                  <a:srgbClr val="0F172A"/>
                </a:solidFill>
              </a:defRPr>
            </a:pPr>
            <a:r>
              <a:t>   • Roles are configurable permission bundles.</a:t>
            </a:r>
          </a:p>
          <a:p>
            <a:pPr>
              <a:spcAft>
                <a:spcPts val="800"/>
              </a:spcAft>
              <a:defRPr sz="1400">
                <a:solidFill>
                  <a:srgbClr val="0F172A"/>
                </a:solidFill>
              </a:defRPr>
            </a:pPr>
            <a:r>
              <a:t>   • Teach the permission slugs: 'working_paper:create',</a:t>
            </a:r>
          </a:p>
          <a:p>
            <a:pPr>
              <a:spcAft>
                <a:spcPts val="800"/>
              </a:spcAft>
              <a:defRPr sz="1400">
                <a:solidFill>
                  <a:srgbClr val="0F172A"/>
                </a:solidFill>
              </a:defRPr>
            </a:pPr>
            <a:r>
              <a:t>     'report:approve', 'followup:verify', 'report:issue'.</a:t>
            </a:r>
          </a:p>
          <a:p>
            <a:pPr>
              <a:spcAft>
                <a:spcPts val="800"/>
              </a:spcAft>
              <a:defRPr sz="1400">
                <a:solidFill>
                  <a:srgbClr val="0F172A"/>
                </a:solidFill>
              </a:defRPr>
            </a:pPr>
          </a:p>
          <a:p>
            <a:pPr>
              <a:spcAft>
                <a:spcPts val="800"/>
              </a:spcAft>
              <a:defRPr sz="1400">
                <a:solidFill>
                  <a:srgbClr val="0F172A"/>
                </a:solidFill>
              </a:defRPr>
            </a:pPr>
            <a:r>
              <a:t>KEY CONCEPT: HOW AUDITEE CONTEXT WORKS:</a:t>
            </a:r>
          </a:p>
          <a:p>
            <a:pPr>
              <a:spcAft>
                <a:spcPts val="800"/>
              </a:spcAft>
              <a:defRPr sz="1400">
                <a:solidFill>
                  <a:srgbClr val="0F172A"/>
                </a:solidFill>
              </a:defRPr>
            </a:pPr>
            <a:r>
              <a:t>• Assigning an Auditee DOES NOT mutate their system role.</a:t>
            </a:r>
          </a:p>
          <a:p>
            <a:pPr>
              <a:spcAft>
                <a:spcPts val="800"/>
              </a:spcAft>
              <a:defRPr sz="1400">
                <a:solidFill>
                  <a:srgbClr val="0F172A"/>
                </a:solidFill>
              </a:defRPr>
            </a:pPr>
            <a:r>
              <a:t>• IAMS uses Dynamic Contextual Scoping:</a:t>
            </a:r>
          </a:p>
          <a:p>
            <a:pPr>
              <a:spcAft>
                <a:spcPts val="800"/>
              </a:spcAft>
              <a:defRPr sz="1400">
                <a:solidFill>
                  <a:srgbClr val="0F172A"/>
                </a:solidFill>
              </a:defRPr>
            </a:pPr>
            <a:r>
              <a:t>  Restricted from internal WPs; tailored Home banner &amp; requests.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087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00A6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7772400" cy="274320"/>
          </a:xfrm>
          <a:prstGeom prst="rect">
            <a:avLst/>
          </a:prstGeom>
          <a:noFill/>
        </p:spPr>
        <p:txBody>
          <a:bodyPr wrap="square">
            <a:spAutoFit/>
          </a:bodyPr>
          <a:lstStyle/>
          <a:p>
            <a:pPr>
              <a:defRPr sz="1100" b="1">
                <a:solidFill>
                  <a:srgbClr val="E5F6EC"/>
                </a:solidFill>
              </a:defRPr>
            </a:pPr>
            <a:r>
              <a:t>FACILITATOR CHEAT SHEET</a:t>
            </a:r>
          </a:p>
        </p:txBody>
      </p:sp>
      <p:sp>
        <p:nvSpPr>
          <p:cNvPr id="5" name="TextBox 4"/>
          <p:cNvSpPr txBox="1"/>
          <p:nvPr/>
        </p:nvSpPr>
        <p:spPr>
          <a:xfrm>
            <a:off x="731520" y="347472"/>
            <a:ext cx="8961120" cy="594360"/>
          </a:xfrm>
          <a:prstGeom prst="rect">
            <a:avLst/>
          </a:prstGeom>
          <a:noFill/>
        </p:spPr>
        <p:txBody>
          <a:bodyPr wrap="square">
            <a:spAutoFit/>
          </a:bodyPr>
          <a:lstStyle/>
          <a:p>
            <a:pPr>
              <a:defRPr sz="2400" b="1">
                <a:solidFill>
                  <a:srgbClr val="FFFFFF"/>
                </a:solidFill>
              </a:defRPr>
            </a:pPr>
            <a:r>
              <a:t>Facilitator Runbook: Real Trainee Roles &amp; Live Workflow</a:t>
            </a:r>
          </a:p>
        </p:txBody>
      </p:sp>
      <p:sp>
        <p:nvSpPr>
          <p:cNvPr id="6" name="Rounded Rectangle 5"/>
          <p:cNvSpPr/>
          <p:nvPr/>
        </p:nvSpPr>
        <p:spPr>
          <a:xfrm>
            <a:off x="9875520" y="292608"/>
            <a:ext cx="1645920" cy="457200"/>
          </a:xfrm>
          <a:prstGeom prst="roundRect">
            <a:avLst/>
          </a:prstGeom>
          <a:solidFill>
            <a:srgbClr val="0038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Reference</a:t>
            </a:r>
          </a:p>
        </p:txBody>
      </p:sp>
      <p:sp>
        <p:nvSpPr>
          <p:cNvPr id="7" name="Rounded Rectangle 6"/>
          <p:cNvSpPr/>
          <p:nvPr/>
        </p:nvSpPr>
        <p:spPr>
          <a:xfrm>
            <a:off x="731520" y="1371600"/>
            <a:ext cx="5120640" cy="49377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56032" bIns="182880"/>
          <a:lstStyle/>
          <a:p>
            <a:pPr algn="ctr">
              <a:spcAft>
                <a:spcPts val="1200"/>
              </a:spcAft>
              <a:defRPr sz="1800" b="1">
                <a:solidFill>
                  <a:srgbClr val="008751"/>
                </a:solidFill>
              </a:defRPr>
            </a:pPr>
            <a:r>
              <a:t>Real Trainee Setup (Roles &amp; Permissions)</a:t>
            </a:r>
          </a:p>
          <a:p>
            <a:pPr>
              <a:spcAft>
                <a:spcPts val="800"/>
              </a:spcAft>
              <a:defRPr sz="1400">
                <a:solidFill>
                  <a:srgbClr val="0F172A"/>
                </a:solidFill>
              </a:defRPr>
            </a:pPr>
            <a:r>
              <a:t>1. LEAD AUDITOR TRAINEE (Role: audit_lead):</a:t>
            </a:r>
          </a:p>
          <a:p>
            <a:pPr>
              <a:spcAft>
                <a:spcPts val="800"/>
              </a:spcAft>
              <a:defRPr sz="1400">
                <a:solidFill>
                  <a:srgbClr val="0F172A"/>
                </a:solidFill>
              </a:defRPr>
            </a:pPr>
            <a:r>
              <a:t>   • Permissions: working_paper:create, evidence:request,</a:t>
            </a:r>
          </a:p>
          <a:p>
            <a:pPr>
              <a:spcAft>
                <a:spcPts val="800"/>
              </a:spcAft>
              <a:defRPr sz="1400">
                <a:solidFill>
                  <a:srgbClr val="0F172A"/>
                </a:solidFill>
              </a:defRPr>
            </a:pPr>
            <a:r>
              <a:t>     finding:create, followup:verify.</a:t>
            </a:r>
          </a:p>
          <a:p>
            <a:pPr>
              <a:spcAft>
                <a:spcPts val="800"/>
              </a:spcAft>
              <a:defRPr sz="1400">
                <a:solidFill>
                  <a:srgbClr val="0F172A"/>
                </a:solidFill>
              </a:defRPr>
            </a:pPr>
            <a:r>
              <a:t>   • Duties: Starts fieldwork, tests controls, writes WPs, verifies fixes.</a:t>
            </a:r>
          </a:p>
          <a:p>
            <a:pPr>
              <a:spcAft>
                <a:spcPts val="800"/>
              </a:spcAft>
              <a:defRPr sz="1400">
                <a:solidFill>
                  <a:srgbClr val="0F172A"/>
                </a:solidFill>
              </a:defRPr>
            </a:pPr>
          </a:p>
          <a:p>
            <a:pPr>
              <a:spcAft>
                <a:spcPts val="800"/>
              </a:spcAft>
              <a:defRPr sz="1400">
                <a:solidFill>
                  <a:srgbClr val="0F172A"/>
                </a:solidFill>
              </a:defRPr>
            </a:pPr>
            <a:r>
              <a:t>2. AUDIT MANAGER TRAINEE (Role: audit_manager):</a:t>
            </a:r>
          </a:p>
          <a:p>
            <a:pPr>
              <a:spcAft>
                <a:spcPts val="800"/>
              </a:spcAft>
              <a:defRPr sz="1400">
                <a:solidFill>
                  <a:srgbClr val="0F172A"/>
                </a:solidFill>
              </a:defRPr>
            </a:pPr>
            <a:r>
              <a:t>   • Permissions: engagement:create, working_paper:approve,</a:t>
            </a:r>
          </a:p>
          <a:p>
            <a:pPr>
              <a:spcAft>
                <a:spcPts val="800"/>
              </a:spcAft>
              <a:defRPr sz="1400">
                <a:solidFill>
                  <a:srgbClr val="0F172A"/>
                </a:solidFill>
              </a:defRPr>
            </a:pPr>
            <a:r>
              <a:t>     report:approve (L1), finding:close.</a:t>
            </a:r>
          </a:p>
          <a:p>
            <a:pPr>
              <a:spcAft>
                <a:spcPts val="800"/>
              </a:spcAft>
              <a:defRPr sz="1400">
                <a:solidFill>
                  <a:srgbClr val="0F172A"/>
                </a:solidFill>
              </a:defRPr>
            </a:pPr>
            <a:r>
              <a:t>   • Duties: Creates engagement, approves WPs, signs L1 report.</a:t>
            </a:r>
          </a:p>
          <a:p>
            <a:pPr>
              <a:spcAft>
                <a:spcPts val="800"/>
              </a:spcAft>
              <a:defRPr sz="1400">
                <a:solidFill>
                  <a:srgbClr val="0F172A"/>
                </a:solidFill>
              </a:defRPr>
            </a:pPr>
          </a:p>
          <a:p>
            <a:pPr>
              <a:spcAft>
                <a:spcPts val="800"/>
              </a:spcAft>
              <a:defRPr sz="1400">
                <a:solidFill>
                  <a:srgbClr val="0F172A"/>
                </a:solidFill>
              </a:defRPr>
            </a:pPr>
            <a:r>
              <a:t>3. SUPPORTING AUDITOR TRAINEE (Role: auditor):</a:t>
            </a:r>
          </a:p>
          <a:p>
            <a:pPr>
              <a:spcAft>
                <a:spcPts val="800"/>
              </a:spcAft>
              <a:defRPr sz="1400">
                <a:solidFill>
                  <a:srgbClr val="0F172A"/>
                </a:solidFill>
              </a:defRPr>
            </a:pPr>
            <a:r>
              <a:t>   • Permissions: working_paper:create, evidence:upload.</a:t>
            </a:r>
          </a:p>
          <a:p>
            <a:pPr>
              <a:spcAft>
                <a:spcPts val="800"/>
              </a:spcAft>
              <a:defRPr sz="1400">
                <a:solidFill>
                  <a:srgbClr val="0F172A"/>
                </a:solidFill>
              </a:defRPr>
            </a:pPr>
            <a:r>
              <a:t>   • Duties: Assigned to team, executes audit test procedures.</a:t>
            </a:r>
          </a:p>
          <a:p>
            <a:pPr>
              <a:spcAft>
                <a:spcPts val="800"/>
              </a:spcAft>
              <a:defRPr sz="1400">
                <a:solidFill>
                  <a:srgbClr val="0F172A"/>
                </a:solidFill>
              </a:defRPr>
            </a:pPr>
          </a:p>
          <a:p>
            <a:pPr>
              <a:spcAft>
                <a:spcPts val="800"/>
              </a:spcAft>
              <a:defRPr sz="1400">
                <a:solidFill>
                  <a:srgbClr val="0F172A"/>
                </a:solidFill>
              </a:defRPr>
            </a:pPr>
            <a:r>
              <a:t>4. AUDITEE TRAINEE (Dept Head / Business User):</a:t>
            </a:r>
          </a:p>
          <a:p>
            <a:pPr>
              <a:spcAft>
                <a:spcPts val="800"/>
              </a:spcAft>
              <a:defRPr sz="1400">
                <a:solidFill>
                  <a:srgbClr val="0F172A"/>
                </a:solidFill>
              </a:defRPr>
            </a:pPr>
            <a:r>
              <a:t>   • Scoping: Dynamically granted when assigned as Auditee.</a:t>
            </a:r>
          </a:p>
          <a:p>
            <a:pPr>
              <a:spcAft>
                <a:spcPts val="800"/>
              </a:spcAft>
              <a:defRPr sz="1400">
                <a:solidFill>
                  <a:srgbClr val="0F172A"/>
                </a:solidFill>
              </a:defRPr>
            </a:pPr>
            <a:r>
              <a:t>   • Duties: Receives audit email, uploads PBC docs, responds to findings.</a:t>
            </a:r>
          </a:p>
          <a:p>
            <a:pPr>
              <a:spcAft>
                <a:spcPts val="800"/>
              </a:spcAft>
              <a:defRPr sz="1400">
                <a:solidFill>
                  <a:srgbClr val="0F172A"/>
                </a:solidFill>
              </a:defRPr>
            </a:pPr>
          </a:p>
          <a:p>
            <a:pPr>
              <a:spcAft>
                <a:spcPts val="800"/>
              </a:spcAft>
              <a:defRPr sz="1400">
                <a:solidFill>
                  <a:srgbClr val="0F172A"/>
                </a:solidFill>
              </a:defRPr>
            </a:pPr>
            <a:r>
              <a:t>5. DIRECTOR / CAE TRAINEES (Roles: director / cae):</a:t>
            </a:r>
          </a:p>
          <a:p>
            <a:pPr>
              <a:spcAft>
                <a:spcPts val="800"/>
              </a:spcAft>
              <a:defRPr sz="1400">
                <a:solidFill>
                  <a:srgbClr val="0F172A"/>
                </a:solidFill>
              </a:defRPr>
            </a:pPr>
            <a:r>
              <a:t>   • Permissions: report:approve (L2/L3), report:issue.</a:t>
            </a:r>
          </a:p>
          <a:p>
            <a:pPr>
              <a:spcAft>
                <a:spcPts val="800"/>
              </a:spcAft>
              <a:defRPr sz="1400">
                <a:solidFill>
                  <a:srgbClr val="0F172A"/>
                </a:solidFill>
              </a:defRPr>
            </a:pPr>
            <a:r>
              <a:t>   • Duties: Signs oversight approvals; CAE formally issues report.</a:t>
            </a:r>
          </a:p>
        </p:txBody>
      </p:sp>
      <p:sp>
        <p:nvSpPr>
          <p:cNvPr id="8" name="Rounded Rectangle 7"/>
          <p:cNvSpPr/>
          <p:nvPr/>
        </p:nvSpPr>
        <p:spPr>
          <a:xfrm>
            <a:off x="6217920" y="1371600"/>
            <a:ext cx="5120640" cy="4937760"/>
          </a:xfrm>
          <a:prstGeom prst="roundRect">
            <a:avLst/>
          </a:prstGeom>
          <a:solidFill>
            <a:srgbClr val="F0FDF4"/>
          </a:solidFill>
          <a:ln w="25400">
            <a:solidFill>
              <a:srgbClr val="008751"/>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56032" bIns="182880"/>
          <a:lstStyle/>
          <a:p>
            <a:pPr algn="ctr">
              <a:spcAft>
                <a:spcPts val="1200"/>
              </a:spcAft>
              <a:defRPr sz="1800" b="1">
                <a:solidFill>
                  <a:srgbClr val="003823"/>
                </a:solidFill>
              </a:defRPr>
            </a:pPr>
            <a:r>
              <a:t>Live Multi-Seat Classroom Choreography</a:t>
            </a:r>
          </a:p>
          <a:p>
            <a:pPr>
              <a:spcAft>
                <a:spcPts val="800"/>
              </a:spcAft>
              <a:defRPr sz="1400">
                <a:solidFill>
                  <a:srgbClr val="0F172A"/>
                </a:solidFill>
              </a:defRPr>
            </a:pPr>
            <a:r>
              <a:t>AUTOMATED ASSIGNMENT EMAIL NOTIFICATIONS:</a:t>
            </a:r>
          </a:p>
          <a:p>
            <a:pPr>
              <a:spcAft>
                <a:spcPts val="800"/>
              </a:spcAft>
              <a:defRPr sz="1400">
                <a:solidFill>
                  <a:srgbClr val="0F172A"/>
                </a:solidFill>
              </a:defRPr>
            </a:pPr>
            <a:r>
              <a:t>• When Manager assigns colleagues, Auditee, Lead &amp; Manager</a:t>
            </a:r>
          </a:p>
          <a:p>
            <a:pPr>
              <a:spcAft>
                <a:spcPts val="800"/>
              </a:spcAft>
              <a:defRPr sz="1400">
                <a:solidFill>
                  <a:srgbClr val="0F172A"/>
                </a:solidFill>
              </a:defRPr>
            </a:pPr>
            <a:r>
              <a:t>  immediately receive emails with scope, schedule &amp; login links!</a:t>
            </a:r>
          </a:p>
          <a:p>
            <a:pPr>
              <a:spcAft>
                <a:spcPts val="800"/>
              </a:spcAft>
              <a:defRPr sz="1400">
                <a:solidFill>
                  <a:srgbClr val="0F172A"/>
                </a:solidFill>
              </a:defRPr>
            </a:pPr>
          </a:p>
          <a:p>
            <a:pPr>
              <a:spcAft>
                <a:spcPts val="800"/>
              </a:spcAft>
              <a:defRPr sz="1400">
                <a:solidFill>
                  <a:srgbClr val="0F172A"/>
                </a:solidFill>
              </a:defRPr>
            </a:pPr>
            <a:r>
              <a:t>PHASE 1: START FIELDWORK &amp; EVIDENCE (Seats A &amp; C)</a:t>
            </a:r>
          </a:p>
          <a:p>
            <a:pPr>
              <a:spcAft>
                <a:spcPts val="800"/>
              </a:spcAft>
              <a:defRPr sz="1400">
                <a:solidFill>
                  <a:srgbClr val="0F172A"/>
                </a:solidFill>
              </a:defRPr>
            </a:pPr>
            <a:r>
              <a:t>• Manager trainee creates engagement -&gt; Lead clicks 'Start fieldwork'.</a:t>
            </a:r>
          </a:p>
          <a:p>
            <a:pPr>
              <a:spcAft>
                <a:spcPts val="800"/>
              </a:spcAft>
              <a:defRPr sz="1400">
                <a:solidFill>
                  <a:srgbClr val="0F172A"/>
                </a:solidFill>
              </a:defRPr>
            </a:pPr>
            <a:r>
              <a:t>• Lead requests evidence -&gt; Auditee checks inbox &amp; uploads file.</a:t>
            </a:r>
          </a:p>
          <a:p>
            <a:pPr>
              <a:spcAft>
                <a:spcPts val="800"/>
              </a:spcAft>
              <a:defRPr sz="1400">
                <a:solidFill>
                  <a:srgbClr val="0F172A"/>
                </a:solidFill>
              </a:defRPr>
            </a:pPr>
          </a:p>
          <a:p>
            <a:pPr>
              <a:spcAft>
                <a:spcPts val="800"/>
              </a:spcAft>
              <a:defRPr sz="1400">
                <a:solidFill>
                  <a:srgbClr val="0F172A"/>
                </a:solidFill>
              </a:defRPr>
            </a:pPr>
            <a:r>
              <a:t>PHASE 2: WORKING PAPERS &amp; AUTO-QA (Seats A &amp; B)</a:t>
            </a:r>
          </a:p>
          <a:p>
            <a:pPr>
              <a:spcAft>
                <a:spcPts val="800"/>
              </a:spcAft>
              <a:defRPr sz="1400">
                <a:solidFill>
                  <a:srgbClr val="0F172A"/>
                </a:solidFill>
              </a:defRPr>
            </a:pPr>
            <a:r>
              <a:t>• Lead creates WP-01 -&gt; Manager rejects -&gt; Lead resubmits -&gt; Manager approves.</a:t>
            </a:r>
          </a:p>
          <a:p>
            <a:pPr>
              <a:spcAft>
                <a:spcPts val="800"/>
              </a:spcAft>
              <a:defRPr sz="1400">
                <a:solidFill>
                  <a:srgbClr val="0F172A"/>
                </a:solidFill>
              </a:defRPr>
            </a:pPr>
            <a:r>
              <a:t>• System auto-advances engagement to Under Review!</a:t>
            </a:r>
          </a:p>
          <a:p>
            <a:pPr>
              <a:spcAft>
                <a:spcPts val="800"/>
              </a:spcAft>
              <a:defRPr sz="1400">
                <a:solidFill>
                  <a:srgbClr val="0F172A"/>
                </a:solidFill>
              </a:defRPr>
            </a:pPr>
          </a:p>
          <a:p>
            <a:pPr>
              <a:spcAft>
                <a:spcPts val="800"/>
              </a:spcAft>
              <a:defRPr sz="1400">
                <a:solidFill>
                  <a:srgbClr val="0F172A"/>
                </a:solidFill>
              </a:defRPr>
            </a:pPr>
            <a:r>
              <a:t>PHASE 3: 3-TIER APPROVAL &amp; ISSUANCE (Seats B, D, E)</a:t>
            </a:r>
          </a:p>
          <a:p>
            <a:pPr>
              <a:spcAft>
                <a:spcPts val="800"/>
              </a:spcAft>
              <a:defRPr sz="1400">
                <a:solidFill>
                  <a:srgbClr val="0F172A"/>
                </a:solidFill>
              </a:defRPr>
            </a:pPr>
            <a:r>
              <a:t>• Manager signs L1 -&gt; Director signs L2 -&gt; CAE signs L3 &amp; clicks 'Issue report'!</a:t>
            </a:r>
          </a:p>
          <a:p>
            <a:pPr>
              <a:spcAft>
                <a:spcPts val="800"/>
              </a:spcAft>
              <a:defRPr sz="1400">
                <a:solidFill>
                  <a:srgbClr val="0F172A"/>
                </a:solidFill>
              </a:defRPr>
            </a:pPr>
          </a:p>
          <a:p>
            <a:pPr>
              <a:spcAft>
                <a:spcPts val="800"/>
              </a:spcAft>
              <a:defRPr sz="1400">
                <a:solidFill>
                  <a:srgbClr val="0F172A"/>
                </a:solidFill>
              </a:defRPr>
            </a:pPr>
            <a:r>
              <a:t>PHASE 4: REMEDIATION &amp; FULL CLOSURE (Seats C, A, B)</a:t>
            </a:r>
          </a:p>
          <a:p>
            <a:pPr>
              <a:spcAft>
                <a:spcPts val="800"/>
              </a:spcAft>
              <a:defRPr sz="1400">
                <a:solidFill>
                  <a:srgbClr val="0F172A"/>
                </a:solidFill>
              </a:defRPr>
            </a:pPr>
            <a:r>
              <a:t>• Auditee responds &amp; uploads proof -&gt; Lead verifies -&gt; Manager closes.</a:t>
            </a:r>
          </a:p>
          <a:p>
            <a:pPr>
              <a:spcAft>
                <a:spcPts val="800"/>
              </a:spcAft>
              <a:defRPr sz="1400">
                <a:solidFill>
                  <a:srgbClr val="0F172A"/>
                </a:solidFill>
              </a:defRPr>
            </a:pPr>
            <a:r>
              <a:t>• Engagement auto-closes &amp; updates Audit Universe date!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