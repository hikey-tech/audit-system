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8F0FE92B-4E19-3345-D147-505407FAD194}">
          <p14:sldIdLst>
            <p14:sldId id="256"/>
            <p14:sldId id="257"/>
          </p14:sldIdLst>
        </p14:section>
        <p14:section name="Part 1: What IAMS is" id="{738B27B1-6FA6-8FFC-8990-C72F6B87668C}">
          <p14:sldIdLst>
            <p14:sldId id="258"/>
            <p14:sldId id="259"/>
            <p14:sldId id="260"/>
            <p14:sldId id="261"/>
          </p14:sldIdLst>
        </p14:section>
        <p14:section name="Part 2: Logging in" id="{87F38D83-485B-B17E-6646-12F30927BA33}">
          <p14:sldIdLst>
            <p14:sldId id="262"/>
            <p14:sldId id="263"/>
            <p14:sldId id="264"/>
            <p14:sldId id="265"/>
            <p14:sldId id="266"/>
          </p14:sldIdLst>
        </p14:section>
        <p14:section name="Part 3: Roles" id="{970F535A-3417-AB67-1590-341A7F1384CC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art 4: Requests" id="{6D159445-F10C-BC99-A69B-8DDDA8941D27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Part 5: Settings" id="{E10BA977-3714-5AD5-9572-D2E57637AA0D}">
          <p14:sldIdLst>
            <p14:sldId id="284"/>
            <p14:sldId id="285"/>
            <p14:sldId id="286"/>
          </p14:sldIdLst>
        </p14:section>
        <p14:section name="Wrap-up" id="{A959B6C0-1AD4-D85E-18E2-A132EE5DD2E0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0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22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26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Three days, one hour each. Today: getting started. Open the IAMS link on your laptop while we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is the practical part: you will send requests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SAY lines from the Part 1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of you have waited days for a signature on an audit document?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How IAMS works in the sidebar and point to each step. Do not go into detail; Wednesday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a detailed audit question today: "Hold it for Wednesday." Write 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until everyone is on the Home page. After each page loads, wait a few seconds before clicking.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people click around for one minute. Point out that System and Audit Modules start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tabs. Spend the most time on Signature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raise a hand when their signature is saved. Walk round and help. Do not move on until most hands are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IAMS does not look at your job title. It looks at the keys you hold. The System Admin decides which keys each role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people to find their own role in this table, then check it in Profile ›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 on the slide and let the class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as Super Admin. Delete the Training Observer role after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Users list, then edit one user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IAMS you printed the memo and walked to your oga's office. Now IAMS moves it from person to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people one minute to form groups and decide A, B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round. Common mistake: adding C before B. Use the up and down arrows to fix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 notification arrives after a minute, refresh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mistake: name typed differently (missing middle name, different spelling). Copy it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one person to show their signed PDF on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rejection at the front with a volunteer. Show that the sender gets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should have at least one notification from the exercise. Let them try Mark all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escalation that arrived in the demo account bell (see Before class setup). Do not open Workflow › Escalations; it shows an empty page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while people finish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each tab briefly. Do not change anything live in Approval Matrix or Lifecycle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if management decides the Director no longer signs reviews, do we call the developers? No. The admin changes the Approval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 points, then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questions. Write down anything you promise to answer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2044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IAMS Training  ·  Day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chemeClr val="accent3"/>
                </a:solidFill>
              </a:rPr>
              <a:t>GBB  ·  IAMS</a:t>
            </a:r>
            <a:endParaRPr lang="en-US" sz="18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Getting started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20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Internal Audit Management Software training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Monday, 26 October 2026</a:t>
            </a:r>
          </a:p>
          <a:p>
            <a:pPr marL="0" indent="0" algn="l">
              <a:buNone/>
            </a:pP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audit.galaxybackbone.com.ng</a:t>
            </a:r>
            <a:r>
              <a:rPr lang="en-US" dirty="0"/>
              <a:t>/</a:t>
            </a:r>
            <a:endParaRPr lang="en-US" sz="2400" dirty="0"/>
          </a:p>
        </p:txBody>
      </p:sp>
      <p:sp>
        <p:nvSpPr>
          <p:cNvPr id="5" name="icon-circle-1"/>
          <p:cNvSpPr/>
          <p:nvPr/>
        </p:nvSpPr>
        <p:spPr>
          <a:xfrm>
            <a:off x="9509760" y="21031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563" y="2585923"/>
            <a:ext cx="1046074" cy="1046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3" name="plan-card-3"/>
          <p:cNvSpPr/>
          <p:nvPr/>
        </p:nvSpPr>
        <p:spPr>
          <a:xfrm>
            <a:off x="548640" y="1417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4F6F5"/>
          </a:solidFill>
          <a:ln/>
        </p:spPr>
      </p:sp>
      <p:sp>
        <p:nvSpPr>
          <p:cNvPr id="4" name="icon-circle-4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01952"/>
            <a:ext cx="356616" cy="356616"/>
          </a:xfrm>
          <a:prstGeom prst="rect">
            <a:avLst/>
          </a:prstGeom>
        </p:spPr>
      </p:pic>
      <p:sp>
        <p:nvSpPr>
          <p:cNvPr id="6" name="plan-title-6"/>
          <p:cNvSpPr txBox="1"/>
          <p:nvPr/>
        </p:nvSpPr>
        <p:spPr>
          <a:xfrm>
            <a:off x="173736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1. What IAMS is</a:t>
            </a:r>
            <a:endParaRPr lang="en-US" sz="1900" dirty="0"/>
          </a:p>
        </p:txBody>
      </p:sp>
      <p:sp>
        <p:nvSpPr>
          <p:cNvPr id="7" name="plan-time-7"/>
          <p:cNvSpPr txBox="1"/>
          <p:nvPr/>
        </p:nvSpPr>
        <p:spPr>
          <a:xfrm>
            <a:off x="1737360" y="2167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8 min</a:t>
            </a:r>
            <a:endParaRPr lang="en-US" sz="1500" dirty="0"/>
          </a:p>
        </p:txBody>
      </p:sp>
      <p:sp>
        <p:nvSpPr>
          <p:cNvPr id="8" name="plan-card-8"/>
          <p:cNvSpPr/>
          <p:nvPr/>
        </p:nvSpPr>
        <p:spPr>
          <a:xfrm>
            <a:off x="6172200" y="14173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4F6F5"/>
          </a:solidFill>
          <a:ln/>
        </p:spPr>
      </p:sp>
      <p:sp>
        <p:nvSpPr>
          <p:cNvPr id="9" name="icon-circle-9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901952"/>
            <a:ext cx="356616" cy="356616"/>
          </a:xfrm>
          <a:prstGeom prst="rect">
            <a:avLst/>
          </a:prstGeom>
        </p:spPr>
      </p:pic>
      <p:sp>
        <p:nvSpPr>
          <p:cNvPr id="11" name="plan-title-11"/>
          <p:cNvSpPr txBox="1"/>
          <p:nvPr/>
        </p:nvSpPr>
        <p:spPr>
          <a:xfrm>
            <a:off x="736092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2. Logging in and your profile</a:t>
            </a:r>
            <a:endParaRPr lang="en-US" sz="1900" dirty="0"/>
          </a:p>
        </p:txBody>
      </p:sp>
      <p:sp>
        <p:nvSpPr>
          <p:cNvPr id="12" name="plan-time-12"/>
          <p:cNvSpPr txBox="1"/>
          <p:nvPr/>
        </p:nvSpPr>
        <p:spPr>
          <a:xfrm>
            <a:off x="7360920" y="2167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10 min</a:t>
            </a:r>
            <a:endParaRPr lang="en-US" sz="1500" dirty="0"/>
          </a:p>
        </p:txBody>
      </p:sp>
      <p:sp>
        <p:nvSpPr>
          <p:cNvPr id="13" name="plan-card-13"/>
          <p:cNvSpPr/>
          <p:nvPr/>
        </p:nvSpPr>
        <p:spPr>
          <a:xfrm>
            <a:off x="548640" y="29718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4F6F5"/>
          </a:solidFill>
          <a:ln/>
        </p:spPr>
      </p:sp>
      <p:sp>
        <p:nvSpPr>
          <p:cNvPr id="14" name="icon-circle-14"/>
          <p:cNvSpPr/>
          <p:nvPr/>
        </p:nvSpPr>
        <p:spPr>
          <a:xfrm>
            <a:off x="822960" y="3291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456432"/>
            <a:ext cx="356616" cy="356616"/>
          </a:xfrm>
          <a:prstGeom prst="rect">
            <a:avLst/>
          </a:prstGeom>
        </p:spPr>
      </p:pic>
      <p:sp>
        <p:nvSpPr>
          <p:cNvPr id="16" name="plan-title-16"/>
          <p:cNvSpPr txBox="1"/>
          <p:nvPr/>
        </p:nvSpPr>
        <p:spPr>
          <a:xfrm>
            <a:off x="173736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3. Roles and permissions</a:t>
            </a:r>
            <a:endParaRPr lang="en-US" sz="1900" dirty="0"/>
          </a:p>
        </p:txBody>
      </p:sp>
      <p:sp>
        <p:nvSpPr>
          <p:cNvPr id="17" name="plan-time-17"/>
          <p:cNvSpPr txBox="1"/>
          <p:nvPr/>
        </p:nvSpPr>
        <p:spPr>
          <a:xfrm>
            <a:off x="1737360" y="3721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8 min</a:t>
            </a:r>
            <a:endParaRPr lang="en-US" sz="1500" dirty="0"/>
          </a:p>
        </p:txBody>
      </p:sp>
      <p:sp>
        <p:nvSpPr>
          <p:cNvPr id="18" name="plan-card-18"/>
          <p:cNvSpPr/>
          <p:nvPr/>
        </p:nvSpPr>
        <p:spPr>
          <a:xfrm>
            <a:off x="6172200" y="2971800"/>
            <a:ext cx="53949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9" name="icon-circle-19"/>
          <p:cNvSpPr/>
          <p:nvPr/>
        </p:nvSpPr>
        <p:spPr>
          <a:xfrm>
            <a:off x="6446520" y="3291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3456432"/>
            <a:ext cx="356616" cy="356616"/>
          </a:xfrm>
          <a:prstGeom prst="rect">
            <a:avLst/>
          </a:prstGeom>
        </p:spPr>
      </p:pic>
      <p:sp>
        <p:nvSpPr>
          <p:cNvPr id="21" name="plan-title-21"/>
          <p:cNvSpPr txBox="1"/>
          <p:nvPr/>
        </p:nvSpPr>
        <p:spPr>
          <a:xfrm>
            <a:off x="736092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4. Requests and notifications</a:t>
            </a:r>
            <a:endParaRPr lang="en-US" sz="1900" dirty="0"/>
          </a:p>
        </p:txBody>
      </p:sp>
      <p:sp>
        <p:nvSpPr>
          <p:cNvPr id="22" name="plan-time-22"/>
          <p:cNvSpPr txBox="1"/>
          <p:nvPr/>
        </p:nvSpPr>
        <p:spPr>
          <a:xfrm>
            <a:off x="7360920" y="3721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20 min · hands-on</a:t>
            </a:r>
            <a:endParaRPr lang="en-US" sz="1500" dirty="0"/>
          </a:p>
        </p:txBody>
      </p:sp>
      <p:sp>
        <p:nvSpPr>
          <p:cNvPr id="23" name="plan-card-23"/>
          <p:cNvSpPr/>
          <p:nvPr/>
        </p:nvSpPr>
        <p:spPr>
          <a:xfrm>
            <a:off x="548640" y="45262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4F6F5"/>
          </a:solidFill>
          <a:ln/>
        </p:spPr>
      </p:sp>
      <p:sp>
        <p:nvSpPr>
          <p:cNvPr id="24" name="icon-circle-24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5010912"/>
            <a:ext cx="356616" cy="356616"/>
          </a:xfrm>
          <a:prstGeom prst="rect">
            <a:avLst/>
          </a:prstGeom>
        </p:spPr>
      </p:pic>
      <p:sp>
        <p:nvSpPr>
          <p:cNvPr id="26" name="plan-title-26"/>
          <p:cNvSpPr txBox="1"/>
          <p:nvPr/>
        </p:nvSpPr>
        <p:spPr>
          <a:xfrm>
            <a:off x="1737360" y="4754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5. The Settings page</a:t>
            </a:r>
            <a:endParaRPr lang="en-US" sz="1900" dirty="0"/>
          </a:p>
        </p:txBody>
      </p:sp>
      <p:sp>
        <p:nvSpPr>
          <p:cNvPr id="27" name="plan-time-27"/>
          <p:cNvSpPr txBox="1"/>
          <p:nvPr/>
        </p:nvSpPr>
        <p:spPr>
          <a:xfrm>
            <a:off x="1737360" y="5276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8 min</a:t>
            </a:r>
            <a:endParaRPr lang="en-US" sz="1500" dirty="0"/>
          </a:p>
        </p:txBody>
      </p:sp>
      <p:sp>
        <p:nvSpPr>
          <p:cNvPr id="28" name="plan-card-28"/>
          <p:cNvSpPr/>
          <p:nvPr/>
        </p:nvSpPr>
        <p:spPr>
          <a:xfrm>
            <a:off x="6172200" y="45262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4F6F5"/>
          </a:solidFill>
          <a:ln/>
        </p:spPr>
      </p:sp>
      <p:sp>
        <p:nvSpPr>
          <p:cNvPr id="29" name="icon-circle-29"/>
          <p:cNvSpPr/>
          <p:nvPr/>
        </p:nvSpPr>
        <p:spPr>
          <a:xfrm>
            <a:off x="6446520" y="4846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3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5010912"/>
            <a:ext cx="356616" cy="356616"/>
          </a:xfrm>
          <a:prstGeom prst="rect">
            <a:avLst/>
          </a:prstGeom>
        </p:spPr>
      </p:pic>
      <p:sp>
        <p:nvSpPr>
          <p:cNvPr id="31" name="plan-title-31"/>
          <p:cNvSpPr txBox="1"/>
          <p:nvPr/>
        </p:nvSpPr>
        <p:spPr>
          <a:xfrm>
            <a:off x="7360920" y="4754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6. Your questions</a:t>
            </a:r>
            <a:endParaRPr lang="en-US" sz="1900" dirty="0"/>
          </a:p>
        </p:txBody>
      </p:sp>
      <p:sp>
        <p:nvSpPr>
          <p:cNvPr id="32" name="plan-time-32"/>
          <p:cNvSpPr txBox="1"/>
          <p:nvPr/>
        </p:nvSpPr>
        <p:spPr>
          <a:xfrm>
            <a:off x="7360920" y="5276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6 min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label-33"/>
          <p:cNvSpPr txBox="1"/>
          <p:nvPr/>
        </p:nvSpPr>
        <p:spPr>
          <a:xfrm>
            <a:off x="5486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1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IAMS is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One place for all our audit work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for all our audit work</a:t>
            </a:r>
            <a:endParaRPr lang="en-US" sz="3200" dirty="0"/>
          </a:p>
        </p:txBody>
      </p:sp>
      <p:sp>
        <p:nvSpPr>
          <p:cNvPr id="3" name="card-34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6F5"/>
          </a:solidFill>
          <a:ln/>
        </p:spPr>
      </p:sp>
      <p:sp>
        <p:nvSpPr>
          <p:cNvPr id="4" name="icon-circle-3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-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6" name="card-title-37"/>
          <p:cNvSpPr txBox="1"/>
          <p:nvPr/>
        </p:nvSpPr>
        <p:spPr>
          <a:xfrm>
            <a:off x="1417320" y="1600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Before IAMS</a:t>
            </a:r>
            <a:endParaRPr lang="en-US" sz="1800" dirty="0"/>
          </a:p>
        </p:txBody>
      </p:sp>
      <p:sp>
        <p:nvSpPr>
          <p:cNvPr id="7" name="card-body-38"/>
          <p:cNvSpPr txBox="1"/>
          <p:nvPr/>
        </p:nvSpPr>
        <p:spPr>
          <a:xfrm>
            <a:off x="777240" y="2240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 moves by email, Excel and shared folders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carry memos from office to office for signature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Hard to know which version is the latest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"Who approved this, and when?" means searching</a:t>
            </a:r>
            <a:endParaRPr lang="en-US" sz="2000" dirty="0"/>
          </a:p>
        </p:txBody>
      </p:sp>
      <p:sp>
        <p:nvSpPr>
          <p:cNvPr id="8" name="card-39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9" name="icon-circle-40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4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720901"/>
            <a:ext cx="261518" cy="261518"/>
          </a:xfrm>
          <a:prstGeom prst="rect">
            <a:avLst/>
          </a:prstGeom>
        </p:spPr>
      </p:pic>
      <p:sp>
        <p:nvSpPr>
          <p:cNvPr id="11" name="card-title-42"/>
          <p:cNvSpPr txBox="1"/>
          <p:nvPr/>
        </p:nvSpPr>
        <p:spPr>
          <a:xfrm>
            <a:off x="7132320" y="1600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With IAMS</a:t>
            </a:r>
            <a:endParaRPr lang="en-US" sz="1800" dirty="0"/>
          </a:p>
        </p:txBody>
      </p:sp>
      <p:sp>
        <p:nvSpPr>
          <p:cNvPr id="12" name="card-body-43"/>
          <p:cNvSpPr txBox="1"/>
          <p:nvPr/>
        </p:nvSpPr>
        <p:spPr>
          <a:xfrm>
            <a:off x="6492240" y="2240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Everything happens inside one system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 approve and sign inside IAMS, with your saved signature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file is stored in one place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action is recorded: who did what, and when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/>
              <a:t>It’s basically a system that digitalizes the entire audit process 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58064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→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of one audit: six steps</a:t>
            </a:r>
            <a:endParaRPr lang="en-US" sz="3200" dirty="0"/>
          </a:p>
        </p:txBody>
      </p:sp>
      <p:sp>
        <p:nvSpPr>
          <p:cNvPr id="3" name="tag-44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WATCH THE SCREEN</a:t>
            </a:r>
            <a:endParaRPr lang="en-US" sz="1200" dirty="0"/>
          </a:p>
        </p:txBody>
      </p:sp>
      <p:sp>
        <p:nvSpPr>
          <p:cNvPr id="4" name="path-label-45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46"/>
          <p:cNvSpPr txBox="1"/>
          <p:nvPr/>
        </p:nvSpPr>
        <p:spPr>
          <a:xfrm>
            <a:off x="1325880" y="1207008"/>
            <a:ext cx="1083564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Sidebar</a:t>
            </a:r>
            <a:endParaRPr lang="en-US" sz="1300" dirty="0"/>
          </a:p>
        </p:txBody>
      </p:sp>
      <p:sp>
        <p:nvSpPr>
          <p:cNvPr id="6" name="path-sep-47"/>
          <p:cNvSpPr txBox="1"/>
          <p:nvPr/>
        </p:nvSpPr>
        <p:spPr>
          <a:xfrm>
            <a:off x="2409444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48"/>
          <p:cNvSpPr txBox="1"/>
          <p:nvPr/>
        </p:nvSpPr>
        <p:spPr>
          <a:xfrm>
            <a:off x="2683764" y="1207008"/>
            <a:ext cx="175564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How IAMS works</a:t>
            </a:r>
            <a:endParaRPr lang="en-US" sz="1300" dirty="0"/>
          </a:p>
        </p:txBody>
      </p:sp>
      <p:sp>
        <p:nvSpPr>
          <p:cNvPr id="8" name="icon-circle-49"/>
          <p:cNvSpPr/>
          <p:nvPr/>
        </p:nvSpPr>
        <p:spPr>
          <a:xfrm>
            <a:off x="937260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5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2231136"/>
            <a:ext cx="475488" cy="475488"/>
          </a:xfrm>
          <a:prstGeom prst="rect">
            <a:avLst/>
          </a:prstGeom>
        </p:spPr>
      </p:pic>
      <p:sp>
        <p:nvSpPr>
          <p:cNvPr id="10" name="j-num-51"/>
          <p:cNvSpPr txBox="1"/>
          <p:nvPr/>
        </p:nvSpPr>
        <p:spPr>
          <a:xfrm>
            <a:off x="1595628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j-arrow-52"/>
          <p:cNvSpPr txBox="1"/>
          <p:nvPr/>
        </p:nvSpPr>
        <p:spPr>
          <a:xfrm>
            <a:off x="2194560" y="2194560"/>
            <a:ext cx="2803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›</a:t>
            </a:r>
            <a:endParaRPr lang="en-US" sz="3000" dirty="0"/>
          </a:p>
        </p:txBody>
      </p:sp>
      <p:sp>
        <p:nvSpPr>
          <p:cNvPr id="12" name="j-title-53"/>
          <p:cNvSpPr txBox="1"/>
          <p:nvPr/>
        </p:nvSpPr>
        <p:spPr>
          <a:xfrm>
            <a:off x="54864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Audit Universe</a:t>
            </a:r>
            <a:endParaRPr lang="en-US" sz="1700" dirty="0"/>
          </a:p>
        </p:txBody>
      </p:sp>
      <p:sp>
        <p:nvSpPr>
          <p:cNvPr id="13" name="j-body-54"/>
          <p:cNvSpPr txBox="1"/>
          <p:nvPr/>
        </p:nvSpPr>
        <p:spPr>
          <a:xfrm>
            <a:off x="548640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The list of everything we can audit</a:t>
            </a:r>
            <a:endParaRPr lang="en-US" sz="1400" dirty="0"/>
          </a:p>
        </p:txBody>
      </p:sp>
      <p:sp>
        <p:nvSpPr>
          <p:cNvPr id="14" name="icon-circle-55"/>
          <p:cNvSpPr/>
          <p:nvPr/>
        </p:nvSpPr>
        <p:spPr>
          <a:xfrm>
            <a:off x="2817815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271" y="2231136"/>
            <a:ext cx="475488" cy="475488"/>
          </a:xfrm>
          <a:prstGeom prst="rect">
            <a:avLst/>
          </a:prstGeom>
        </p:spPr>
      </p:pic>
      <p:sp>
        <p:nvSpPr>
          <p:cNvPr id="16" name="j-num-57"/>
          <p:cNvSpPr txBox="1"/>
          <p:nvPr/>
        </p:nvSpPr>
        <p:spPr>
          <a:xfrm>
            <a:off x="3476183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j-arrow-58"/>
          <p:cNvSpPr txBox="1"/>
          <p:nvPr/>
        </p:nvSpPr>
        <p:spPr>
          <a:xfrm>
            <a:off x="4075115" y="2194560"/>
            <a:ext cx="2803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›</a:t>
            </a:r>
            <a:endParaRPr lang="en-US" sz="3000" dirty="0"/>
          </a:p>
        </p:txBody>
      </p:sp>
      <p:sp>
        <p:nvSpPr>
          <p:cNvPr id="18" name="j-title-59"/>
          <p:cNvSpPr txBox="1"/>
          <p:nvPr/>
        </p:nvSpPr>
        <p:spPr>
          <a:xfrm>
            <a:off x="2429195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Audit Programme</a:t>
            </a:r>
            <a:endParaRPr lang="en-US" sz="1700" dirty="0"/>
          </a:p>
        </p:txBody>
      </p:sp>
      <p:sp>
        <p:nvSpPr>
          <p:cNvPr id="19" name="j-body-60"/>
          <p:cNvSpPr txBox="1"/>
          <p:nvPr/>
        </p:nvSpPr>
        <p:spPr>
          <a:xfrm>
            <a:off x="2429195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This year's plan. The CAE approves it</a:t>
            </a:r>
            <a:endParaRPr lang="en-US" sz="1400" dirty="0"/>
          </a:p>
        </p:txBody>
      </p:sp>
      <p:sp>
        <p:nvSpPr>
          <p:cNvPr id="20" name="icon-circle-61"/>
          <p:cNvSpPr/>
          <p:nvPr/>
        </p:nvSpPr>
        <p:spPr>
          <a:xfrm>
            <a:off x="4698370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6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826" y="2231136"/>
            <a:ext cx="475488" cy="475488"/>
          </a:xfrm>
          <a:prstGeom prst="rect">
            <a:avLst/>
          </a:prstGeom>
        </p:spPr>
      </p:pic>
      <p:sp>
        <p:nvSpPr>
          <p:cNvPr id="22" name="j-num-63"/>
          <p:cNvSpPr txBox="1"/>
          <p:nvPr/>
        </p:nvSpPr>
        <p:spPr>
          <a:xfrm>
            <a:off x="5356738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j-arrow-64"/>
          <p:cNvSpPr txBox="1"/>
          <p:nvPr/>
        </p:nvSpPr>
        <p:spPr>
          <a:xfrm>
            <a:off x="5955670" y="2194560"/>
            <a:ext cx="2803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›</a:t>
            </a:r>
            <a:endParaRPr lang="en-US" sz="3000" dirty="0"/>
          </a:p>
        </p:txBody>
      </p:sp>
      <p:sp>
        <p:nvSpPr>
          <p:cNvPr id="24" name="j-title-65"/>
          <p:cNvSpPr txBox="1"/>
          <p:nvPr/>
        </p:nvSpPr>
        <p:spPr>
          <a:xfrm>
            <a:off x="430975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Engagement</a:t>
            </a:r>
            <a:endParaRPr lang="en-US" sz="1700" dirty="0"/>
          </a:p>
        </p:txBody>
      </p:sp>
      <p:sp>
        <p:nvSpPr>
          <p:cNvPr id="25" name="j-body-66"/>
          <p:cNvSpPr txBox="1"/>
          <p:nvPr/>
        </p:nvSpPr>
        <p:spPr>
          <a:xfrm>
            <a:off x="4309750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One real audit: the team does the work</a:t>
            </a:r>
            <a:endParaRPr lang="en-US" sz="1400" dirty="0"/>
          </a:p>
        </p:txBody>
      </p:sp>
      <p:sp>
        <p:nvSpPr>
          <p:cNvPr id="26" name="icon-circle-67"/>
          <p:cNvSpPr/>
          <p:nvPr/>
        </p:nvSpPr>
        <p:spPr>
          <a:xfrm>
            <a:off x="6578925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6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381" y="2231136"/>
            <a:ext cx="475488" cy="475488"/>
          </a:xfrm>
          <a:prstGeom prst="rect">
            <a:avLst/>
          </a:prstGeom>
        </p:spPr>
      </p:pic>
      <p:sp>
        <p:nvSpPr>
          <p:cNvPr id="28" name="j-num-69"/>
          <p:cNvSpPr txBox="1"/>
          <p:nvPr/>
        </p:nvSpPr>
        <p:spPr>
          <a:xfrm>
            <a:off x="7237293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j-arrow-70"/>
          <p:cNvSpPr txBox="1"/>
          <p:nvPr/>
        </p:nvSpPr>
        <p:spPr>
          <a:xfrm>
            <a:off x="7836225" y="2194560"/>
            <a:ext cx="2803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›</a:t>
            </a:r>
            <a:endParaRPr lang="en-US" sz="3000" dirty="0"/>
          </a:p>
        </p:txBody>
      </p:sp>
      <p:sp>
        <p:nvSpPr>
          <p:cNvPr id="30" name="j-title-71"/>
          <p:cNvSpPr txBox="1"/>
          <p:nvPr/>
        </p:nvSpPr>
        <p:spPr>
          <a:xfrm>
            <a:off x="6190305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Findings</a:t>
            </a:r>
            <a:endParaRPr lang="en-US" sz="1700" dirty="0"/>
          </a:p>
        </p:txBody>
      </p:sp>
      <p:sp>
        <p:nvSpPr>
          <p:cNvPr id="31" name="j-body-72"/>
          <p:cNvSpPr txBox="1"/>
          <p:nvPr/>
        </p:nvSpPr>
        <p:spPr>
          <a:xfrm>
            <a:off x="6190305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Problems the team finds</a:t>
            </a:r>
            <a:endParaRPr lang="en-US" sz="1400" dirty="0"/>
          </a:p>
        </p:txBody>
      </p:sp>
      <p:sp>
        <p:nvSpPr>
          <p:cNvPr id="32" name="icon-circle-73"/>
          <p:cNvSpPr/>
          <p:nvPr/>
        </p:nvSpPr>
        <p:spPr>
          <a:xfrm>
            <a:off x="8459480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7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8936" y="2231136"/>
            <a:ext cx="475488" cy="475488"/>
          </a:xfrm>
          <a:prstGeom prst="rect">
            <a:avLst/>
          </a:prstGeom>
        </p:spPr>
      </p:pic>
      <p:sp>
        <p:nvSpPr>
          <p:cNvPr id="34" name="j-num-75"/>
          <p:cNvSpPr txBox="1"/>
          <p:nvPr/>
        </p:nvSpPr>
        <p:spPr>
          <a:xfrm>
            <a:off x="9117848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j-arrow-76"/>
          <p:cNvSpPr txBox="1"/>
          <p:nvPr/>
        </p:nvSpPr>
        <p:spPr>
          <a:xfrm>
            <a:off x="9716780" y="2194560"/>
            <a:ext cx="2803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›</a:t>
            </a:r>
            <a:endParaRPr lang="en-US" sz="3000" dirty="0"/>
          </a:p>
        </p:txBody>
      </p:sp>
      <p:sp>
        <p:nvSpPr>
          <p:cNvPr id="36" name="j-title-77"/>
          <p:cNvSpPr txBox="1"/>
          <p:nvPr/>
        </p:nvSpPr>
        <p:spPr>
          <a:xfrm>
            <a:off x="807086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Review</a:t>
            </a:r>
            <a:endParaRPr lang="en-US" sz="1700" dirty="0"/>
          </a:p>
        </p:txBody>
      </p:sp>
      <p:sp>
        <p:nvSpPr>
          <p:cNvPr id="37" name="j-body-78"/>
          <p:cNvSpPr txBox="1"/>
          <p:nvPr/>
        </p:nvSpPr>
        <p:spPr>
          <a:xfrm>
            <a:off x="8070860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Signed by Manager, Director, CAE, then issued</a:t>
            </a:r>
            <a:endParaRPr lang="en-US" sz="1400" dirty="0"/>
          </a:p>
        </p:txBody>
      </p:sp>
      <p:sp>
        <p:nvSpPr>
          <p:cNvPr id="38" name="icon-circle-79"/>
          <p:cNvSpPr/>
          <p:nvPr/>
        </p:nvSpPr>
        <p:spPr>
          <a:xfrm>
            <a:off x="10340035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con-8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9491" y="2231136"/>
            <a:ext cx="475488" cy="475488"/>
          </a:xfrm>
          <a:prstGeom prst="rect">
            <a:avLst/>
          </a:prstGeom>
        </p:spPr>
      </p:pic>
      <p:sp>
        <p:nvSpPr>
          <p:cNvPr id="40" name="j-num-81"/>
          <p:cNvSpPr txBox="1"/>
          <p:nvPr/>
        </p:nvSpPr>
        <p:spPr>
          <a:xfrm>
            <a:off x="10998403" y="19202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j-title-82"/>
          <p:cNvSpPr txBox="1"/>
          <p:nvPr/>
        </p:nvSpPr>
        <p:spPr>
          <a:xfrm>
            <a:off x="9951415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Follow-up</a:t>
            </a:r>
            <a:endParaRPr lang="en-US" sz="1700" dirty="0"/>
          </a:p>
        </p:txBody>
      </p:sp>
      <p:sp>
        <p:nvSpPr>
          <p:cNvPr id="42" name="j-body-83"/>
          <p:cNvSpPr txBox="1"/>
          <p:nvPr/>
        </p:nvSpPr>
        <p:spPr>
          <a:xfrm>
            <a:off x="9951415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Auditee fixes, auditor checks, audit closes</a:t>
            </a:r>
            <a:endParaRPr lang="en-US" sz="1400" dirty="0"/>
          </a:p>
        </p:txBody>
      </p:sp>
      <p:sp>
        <p:nvSpPr>
          <p:cNvPr id="43" name="callout-bg-84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4" name="icon-circle-85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con-8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46" name="callout-text-87"/>
          <p:cNvSpPr txBox="1"/>
          <p:nvPr/>
        </p:nvSpPr>
        <p:spPr>
          <a:xfrm>
            <a:off x="1325880" y="5148072"/>
            <a:ext cx="101342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At every important step someone must approve, and </a:t>
            </a:r>
            <a:r>
              <a:rPr lang="en-US" sz="1500" b="1" dirty="0">
                <a:solidFill>
                  <a:schemeClr val="tx1"/>
                </a:solidFill>
              </a:rPr>
              <a:t>nobody can approve their own work.</a:t>
            </a:r>
            <a:r>
              <a:rPr lang="en-US" sz="1500" dirty="0">
                <a:solidFill>
                  <a:schemeClr val="tx1"/>
                </a:solidFill>
              </a:rPr>
              <a:t> We do all six steps live on Wednesday.</a:t>
            </a:r>
            <a:endParaRPr lang="en-US" sz="15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three days together</a:t>
            </a:r>
            <a:endParaRPr lang="en-US" sz="3200" dirty="0"/>
          </a:p>
        </p:txBody>
      </p:sp>
      <p:sp>
        <p:nvSpPr>
          <p:cNvPr id="3" name="card-88"/>
          <p:cNvSpPr/>
          <p:nvPr/>
        </p:nvSpPr>
        <p:spPr>
          <a:xfrm>
            <a:off x="548640" y="137160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-circle-89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9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6" name="card-title-91"/>
          <p:cNvSpPr txBox="1"/>
          <p:nvPr/>
        </p:nvSpPr>
        <p:spPr>
          <a:xfrm>
            <a:off x="14173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Monday (today)</a:t>
            </a:r>
            <a:endParaRPr lang="en-US" sz="1800" dirty="0"/>
          </a:p>
        </p:txBody>
      </p:sp>
      <p:sp>
        <p:nvSpPr>
          <p:cNvPr id="7" name="day-sub-92"/>
          <p:cNvSpPr txBox="1"/>
          <p:nvPr/>
        </p:nvSpPr>
        <p:spPr>
          <a:xfrm>
            <a:off x="77724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Getting started</a:t>
            </a:r>
            <a:endParaRPr lang="en-US" sz="1900" dirty="0"/>
          </a:p>
        </p:txBody>
      </p:sp>
      <p:sp>
        <p:nvSpPr>
          <p:cNvPr id="8" name="day-list-93"/>
          <p:cNvSpPr txBox="1"/>
          <p:nvPr/>
        </p:nvSpPr>
        <p:spPr>
          <a:xfrm>
            <a:off x="777240" y="2788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Logging in and your profile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Saving your signature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Roles and permissions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Requests and notifications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Settings page</a:t>
            </a:r>
            <a:endParaRPr lang="en-US" sz="1600" dirty="0"/>
          </a:p>
        </p:txBody>
      </p:sp>
      <p:sp>
        <p:nvSpPr>
          <p:cNvPr id="9" name="card-94"/>
          <p:cNvSpPr/>
          <p:nvPr/>
        </p:nvSpPr>
        <p:spPr>
          <a:xfrm>
            <a:off x="4297680" y="13716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4F6F5"/>
          </a:solidFill>
          <a:ln/>
        </p:spPr>
      </p:sp>
      <p:sp>
        <p:nvSpPr>
          <p:cNvPr id="10" name="icon-circle-95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9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1720901"/>
            <a:ext cx="261518" cy="261518"/>
          </a:xfrm>
          <a:prstGeom prst="rect">
            <a:avLst/>
          </a:prstGeom>
        </p:spPr>
      </p:pic>
      <p:sp>
        <p:nvSpPr>
          <p:cNvPr id="12" name="card-title-97"/>
          <p:cNvSpPr txBox="1"/>
          <p:nvPr/>
        </p:nvSpPr>
        <p:spPr>
          <a:xfrm>
            <a:off x="516636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Tuesday</a:t>
            </a:r>
            <a:endParaRPr lang="en-US" sz="1800" dirty="0"/>
          </a:p>
        </p:txBody>
      </p:sp>
      <p:sp>
        <p:nvSpPr>
          <p:cNvPr id="13" name="day-sub-98"/>
          <p:cNvSpPr txBox="1"/>
          <p:nvPr/>
        </p:nvSpPr>
        <p:spPr>
          <a:xfrm>
            <a:off x="452628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The tools around the audit</a:t>
            </a:r>
            <a:endParaRPr lang="en-US" sz="1900" dirty="0"/>
          </a:p>
        </p:txBody>
      </p:sp>
      <p:sp>
        <p:nvSpPr>
          <p:cNvPr id="14" name="day-list-99"/>
          <p:cNvSpPr txBox="1"/>
          <p:nvPr/>
        </p:nvSpPr>
        <p:spPr>
          <a:xfrm>
            <a:off x="4526280" y="2788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Risk register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Documents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audit tools</a:t>
            </a:r>
            <a:endParaRPr lang="en-US" sz="1600" dirty="0"/>
          </a:p>
        </p:txBody>
      </p:sp>
      <p:sp>
        <p:nvSpPr>
          <p:cNvPr id="15" name="card-100"/>
          <p:cNvSpPr/>
          <p:nvPr/>
        </p:nvSpPr>
        <p:spPr>
          <a:xfrm>
            <a:off x="8046720" y="13716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F4F6F5"/>
          </a:solidFill>
          <a:ln/>
        </p:spPr>
      </p:sp>
      <p:sp>
        <p:nvSpPr>
          <p:cNvPr id="16" name="icon-circle-101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0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021" y="1720901"/>
            <a:ext cx="261518" cy="261518"/>
          </a:xfrm>
          <a:prstGeom prst="rect">
            <a:avLst/>
          </a:prstGeom>
        </p:spPr>
      </p:pic>
      <p:sp>
        <p:nvSpPr>
          <p:cNvPr id="18" name="card-title-103"/>
          <p:cNvSpPr txBox="1"/>
          <p:nvPr/>
        </p:nvSpPr>
        <p:spPr>
          <a:xfrm>
            <a:off x="891540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Wednesday</a:t>
            </a:r>
            <a:endParaRPr lang="en-US" sz="1800" dirty="0"/>
          </a:p>
        </p:txBody>
      </p:sp>
      <p:sp>
        <p:nvSpPr>
          <p:cNvPr id="19" name="day-sub-104"/>
          <p:cNvSpPr txBox="1"/>
          <p:nvPr/>
        </p:nvSpPr>
        <p:spPr>
          <a:xfrm>
            <a:off x="827532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One full audit</a:t>
            </a:r>
            <a:endParaRPr lang="en-US" sz="1900" dirty="0"/>
          </a:p>
        </p:txBody>
      </p:sp>
      <p:sp>
        <p:nvSpPr>
          <p:cNvPr id="20" name="day-list-105"/>
          <p:cNvSpPr txBox="1"/>
          <p:nvPr/>
        </p:nvSpPr>
        <p:spPr>
          <a:xfrm>
            <a:off x="8275320" y="2788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From the first step to closure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Done live, together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Who approves what, and when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label-106"/>
          <p:cNvSpPr txBox="1"/>
          <p:nvPr/>
        </p:nvSpPr>
        <p:spPr>
          <a:xfrm>
            <a:off x="5486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2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in and your profile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Log in, find your way around, save your signature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3200" dirty="0"/>
          </a:p>
        </p:txBody>
      </p:sp>
      <p:sp>
        <p:nvSpPr>
          <p:cNvPr id="3" name="tag-107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step-dot-108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-num-109"/>
          <p:cNvSpPr txBox="1"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text-110"/>
          <p:cNvSpPr txBox="1"/>
          <p:nvPr/>
        </p:nvSpPr>
        <p:spPr>
          <a:xfrm>
            <a:off x="1143000" y="1417320"/>
            <a:ext cx="5440680" cy="466801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Open the IAMS link your trainer shared.</a:t>
            </a:r>
            <a:endParaRPr lang="en-US" sz="1900" dirty="0"/>
          </a:p>
        </p:txBody>
      </p:sp>
      <p:sp>
        <p:nvSpPr>
          <p:cNvPr id="7" name="step-dot-111"/>
          <p:cNvSpPr/>
          <p:nvPr/>
        </p:nvSpPr>
        <p:spPr>
          <a:xfrm>
            <a:off x="548640" y="217672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-num-112"/>
          <p:cNvSpPr txBox="1"/>
          <p:nvPr/>
        </p:nvSpPr>
        <p:spPr>
          <a:xfrm>
            <a:off x="548640" y="217672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-text-113"/>
          <p:cNvSpPr txBox="1"/>
          <p:nvPr/>
        </p:nvSpPr>
        <p:spPr>
          <a:xfrm>
            <a:off x="1143000" y="2158441"/>
            <a:ext cx="5440680" cy="466801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In </a:t>
            </a:r>
            <a:r>
              <a:rPr lang="en-US" sz="1900" b="1" dirty="0">
                <a:solidFill>
                  <a:schemeClr val="accent1"/>
                </a:solidFill>
              </a:rPr>
              <a:t>Work email or Domain username</a:t>
            </a:r>
            <a:r>
              <a:rPr lang="en-US" sz="1900" dirty="0">
                <a:solidFill>
                  <a:schemeClr val="tx1"/>
                </a:solidFill>
              </a:rPr>
              <a:t>, type your work email.</a:t>
            </a:r>
            <a:endParaRPr lang="en-US" sz="1900" dirty="0"/>
          </a:p>
        </p:txBody>
      </p:sp>
      <p:sp>
        <p:nvSpPr>
          <p:cNvPr id="10" name="step-dot-114"/>
          <p:cNvSpPr/>
          <p:nvPr/>
        </p:nvSpPr>
        <p:spPr>
          <a:xfrm>
            <a:off x="548640" y="291785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115"/>
          <p:cNvSpPr txBox="1"/>
          <p:nvPr/>
        </p:nvSpPr>
        <p:spPr>
          <a:xfrm>
            <a:off x="548640" y="29178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-text-116"/>
          <p:cNvSpPr txBox="1"/>
          <p:nvPr/>
        </p:nvSpPr>
        <p:spPr>
          <a:xfrm>
            <a:off x="1143000" y="2899562"/>
            <a:ext cx="5440680" cy="466801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Type your </a:t>
            </a:r>
            <a:r>
              <a:rPr lang="en-US" sz="1900" b="1" dirty="0">
                <a:solidFill>
                  <a:schemeClr val="accent1"/>
                </a:solidFill>
              </a:rPr>
              <a:t>Password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3" name="step-dot-117"/>
          <p:cNvSpPr/>
          <p:nvPr/>
        </p:nvSpPr>
        <p:spPr>
          <a:xfrm>
            <a:off x="548640" y="36589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118"/>
          <p:cNvSpPr txBox="1"/>
          <p:nvPr/>
        </p:nvSpPr>
        <p:spPr>
          <a:xfrm>
            <a:off x="548640" y="3658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-text-119"/>
          <p:cNvSpPr txBox="1"/>
          <p:nvPr/>
        </p:nvSpPr>
        <p:spPr>
          <a:xfrm>
            <a:off x="1143000" y="3640684"/>
            <a:ext cx="5440680" cy="466801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Click </a:t>
            </a:r>
            <a:r>
              <a:rPr lang="en-US" sz="1900" b="1" dirty="0">
                <a:solidFill>
                  <a:schemeClr val="accent1"/>
                </a:solidFill>
              </a:rPr>
              <a:t>Sign in</a:t>
            </a:r>
            <a:r>
              <a:rPr lang="en-US" sz="1900" dirty="0">
                <a:solidFill>
                  <a:schemeClr val="tx1"/>
                </a:solidFill>
              </a:rPr>
              <a:t>. You land on the </a:t>
            </a:r>
            <a:r>
              <a:rPr lang="en-US" sz="1900" b="1" dirty="0">
                <a:solidFill>
                  <a:schemeClr val="accent1"/>
                </a:solidFill>
              </a:rPr>
              <a:t>Home</a:t>
            </a:r>
            <a:r>
              <a:rPr lang="en-US" sz="1900" dirty="0">
                <a:solidFill>
                  <a:schemeClr val="tx1"/>
                </a:solidFill>
              </a:rPr>
              <a:t> page.</a:t>
            </a:r>
            <a:endParaRPr lang="en-US" sz="1900" dirty="0"/>
          </a:p>
        </p:txBody>
      </p:sp>
      <p:sp>
        <p:nvSpPr>
          <p:cNvPr id="16" name="callout-bg-120"/>
          <p:cNvSpPr/>
          <p:nvPr/>
        </p:nvSpPr>
        <p:spPr>
          <a:xfrm>
            <a:off x="548640" y="489204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FDF3D7"/>
          </a:solidFill>
          <a:ln/>
        </p:spPr>
      </p:sp>
      <p:sp>
        <p:nvSpPr>
          <p:cNvPr id="17" name="icon-circle-121"/>
          <p:cNvSpPr/>
          <p:nvPr/>
        </p:nvSpPr>
        <p:spPr>
          <a:xfrm>
            <a:off x="731520" y="51435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-1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253228"/>
            <a:ext cx="237744" cy="237744"/>
          </a:xfrm>
          <a:prstGeom prst="rect">
            <a:avLst/>
          </a:prstGeom>
        </p:spPr>
      </p:pic>
      <p:sp>
        <p:nvSpPr>
          <p:cNvPr id="19" name="callout-text-123"/>
          <p:cNvSpPr txBox="1"/>
          <p:nvPr/>
        </p:nvSpPr>
        <p:spPr>
          <a:xfrm>
            <a:off x="1325880" y="4965192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Can't get in? Raise your hand. Don't keep trying, or your account may be blocked for a while.</a:t>
            </a:r>
            <a:endParaRPr lang="en-US" sz="1500" dirty="0"/>
          </a:p>
        </p:txBody>
      </p:sp>
      <p:sp>
        <p:nvSpPr>
          <p:cNvPr id="20" name="login-mock"/>
          <p:cNvSpPr/>
          <p:nvPr/>
        </p:nvSpPr>
        <p:spPr>
          <a:xfrm>
            <a:off x="7406640" y="132588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F4F6F5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21" name="mock-brand"/>
          <p:cNvSpPr txBox="1"/>
          <p:nvPr/>
        </p:nvSpPr>
        <p:spPr>
          <a:xfrm>
            <a:off x="77724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GBB  IAMS</a:t>
            </a:r>
            <a:endParaRPr lang="en-US" sz="2000" dirty="0"/>
          </a:p>
        </p:txBody>
      </p:sp>
      <p:sp>
        <p:nvSpPr>
          <p:cNvPr id="22" name="mock-l1"/>
          <p:cNvSpPr txBox="1"/>
          <p:nvPr/>
        </p:nvSpPr>
        <p:spPr>
          <a:xfrm>
            <a:off x="777240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Work email or Domain username</a:t>
            </a:r>
            <a:endParaRPr lang="en-US" sz="1300" dirty="0"/>
          </a:p>
        </p:txBody>
      </p:sp>
      <p:sp>
        <p:nvSpPr>
          <p:cNvPr id="23" name="mock-i1"/>
          <p:cNvSpPr txBox="1"/>
          <p:nvPr/>
        </p:nvSpPr>
        <p:spPr>
          <a:xfrm>
            <a:off x="7772400" y="2606040"/>
            <a:ext cx="34747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rgbClr val="D5DED9"/>
            </a:solidFill>
          </a:ln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D"/>
                </a:solidFill>
              </a:rPr>
              <a:t>you@galaxybb.local or username</a:t>
            </a:r>
            <a:endParaRPr lang="en-US" sz="1300" dirty="0"/>
          </a:p>
        </p:txBody>
      </p:sp>
      <p:sp>
        <p:nvSpPr>
          <p:cNvPr id="24" name="mock-l2"/>
          <p:cNvSpPr txBox="1"/>
          <p:nvPr/>
        </p:nvSpPr>
        <p:spPr>
          <a:xfrm>
            <a:off x="77724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Password</a:t>
            </a:r>
            <a:endParaRPr lang="en-US" sz="1300" dirty="0"/>
          </a:p>
        </p:txBody>
      </p:sp>
      <p:sp>
        <p:nvSpPr>
          <p:cNvPr id="25" name="mock-i2"/>
          <p:cNvSpPr txBox="1"/>
          <p:nvPr/>
        </p:nvSpPr>
        <p:spPr>
          <a:xfrm>
            <a:off x="7772400" y="3657600"/>
            <a:ext cx="34747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rgbClr val="D5DED9"/>
            </a:solidFill>
          </a:ln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D"/>
                </a:solidFill>
              </a:rPr>
              <a:t>••••••••</a:t>
            </a:r>
            <a:endParaRPr lang="en-US" sz="1300" dirty="0"/>
          </a:p>
        </p:txBody>
      </p:sp>
      <p:sp>
        <p:nvSpPr>
          <p:cNvPr id="26" name="mock-btn"/>
          <p:cNvSpPr txBox="1"/>
          <p:nvPr/>
        </p:nvSpPr>
        <p:spPr>
          <a:xfrm>
            <a:off x="7772400" y="4526280"/>
            <a:ext cx="3474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Sign in</a:t>
            </a:r>
            <a:endParaRPr lang="en-US" sz="1600" dirty="0"/>
          </a:p>
        </p:txBody>
      </p:sp>
      <p:sp>
        <p:nvSpPr>
          <p:cNvPr id="27" name="mock-cap"/>
          <p:cNvSpPr txBox="1"/>
          <p:nvPr/>
        </p:nvSpPr>
        <p:spPr>
          <a:xfrm>
            <a:off x="7406640" y="5989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What the login page looks like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way around</a:t>
            </a:r>
            <a:endParaRPr lang="en-US" sz="3200" dirty="0"/>
          </a:p>
        </p:txBody>
      </p:sp>
      <p:sp>
        <p:nvSpPr>
          <p:cNvPr id="3" name="tag-124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screen"/>
          <p:cNvSpPr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solidFill>
            <a:srgbClr val="F4F6F5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mock-sidebar"/>
          <p:cNvSpPr/>
          <p:nvPr/>
        </p:nvSpPr>
        <p:spPr>
          <a:xfrm>
            <a:off x="548640" y="1325880"/>
            <a:ext cx="1828800" cy="4754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ock-sb-brand"/>
          <p:cNvSpPr txBox="1"/>
          <p:nvPr/>
        </p:nvSpPr>
        <p:spPr>
          <a:xfrm>
            <a:off x="73152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GBB IAMS</a:t>
            </a:r>
            <a:endParaRPr lang="en-US" sz="1300" dirty="0"/>
          </a:p>
        </p:txBody>
      </p:sp>
      <p:sp>
        <p:nvSpPr>
          <p:cNvPr id="7" name="mock-menu"/>
          <p:cNvSpPr txBox="1"/>
          <p:nvPr/>
        </p:nvSpPr>
        <p:spPr>
          <a:xfrm>
            <a:off x="731520" y="1965960"/>
            <a:ext cx="1600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Home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Workflow ▾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Audit Lifecycle ▾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Audit Modules ▾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System Audit ▾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Notifications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Risk Register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How IAMS works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System ▾</a:t>
            </a:r>
            <a:endParaRPr lang="en-US" sz="1200" dirty="0"/>
          </a:p>
        </p:txBody>
      </p:sp>
      <p:sp>
        <p:nvSpPr>
          <p:cNvPr id="8" name="mock-sb-line"/>
          <p:cNvSpPr/>
          <p:nvPr/>
        </p:nvSpPr>
        <p:spPr>
          <a:xfrm>
            <a:off x="685800" y="5440680"/>
            <a:ext cx="15544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mock-name"/>
          <p:cNvSpPr txBox="1"/>
          <p:nvPr/>
        </p:nvSpPr>
        <p:spPr>
          <a:xfrm>
            <a:off x="731520" y="5532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name</a:t>
            </a:r>
            <a:endParaRPr lang="en-US" sz="1200" dirty="0"/>
          </a:p>
        </p:txBody>
      </p:sp>
      <p:pic>
        <p:nvPicPr>
          <p:cNvPr id="10" name="mock-logou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623560"/>
            <a:ext cx="228600" cy="228600"/>
          </a:xfrm>
          <a:prstGeom prst="rect">
            <a:avLst/>
          </a:prstGeom>
        </p:spPr>
      </p:pic>
      <p:sp>
        <p:nvSpPr>
          <p:cNvPr id="11" name="mock-top"/>
          <p:cNvSpPr/>
          <p:nvPr/>
        </p:nvSpPr>
        <p:spPr>
          <a:xfrm>
            <a:off x="2377440" y="1325880"/>
            <a:ext cx="4937760" cy="640080"/>
          </a:xfrm>
          <a:prstGeom prst="rect">
            <a:avLst/>
          </a:prstGeom>
          <a:solidFill>
            <a:schemeClr val="bg1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2" name="mock-search"/>
          <p:cNvSpPr txBox="1"/>
          <p:nvPr/>
        </p:nvSpPr>
        <p:spPr>
          <a:xfrm>
            <a:off x="2651760" y="1453896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4F6F5"/>
          </a:solidFill>
          <a:ln w="9525">
            <a:solidFill>
              <a:srgbClr val="D5DED9"/>
            </a:solidFill>
          </a:ln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AD"/>
                </a:solidFill>
              </a:rPr>
              <a:t>Search…</a:t>
            </a:r>
            <a:endParaRPr lang="en-US" sz="1200" dirty="0"/>
          </a:p>
        </p:txBody>
      </p:sp>
      <p:pic>
        <p:nvPicPr>
          <p:cNvPr id="13" name="mock-bel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508760"/>
            <a:ext cx="274320" cy="274320"/>
          </a:xfrm>
          <a:prstGeom prst="rect">
            <a:avLst/>
          </a:prstGeom>
        </p:spPr>
      </p:pic>
      <p:sp>
        <p:nvSpPr>
          <p:cNvPr id="14" name="mock-card-125"/>
          <p:cNvSpPr/>
          <p:nvPr/>
        </p:nvSpPr>
        <p:spPr>
          <a:xfrm>
            <a:off x="2651760" y="224028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5" name="mock-card-126"/>
          <p:cNvSpPr/>
          <p:nvPr/>
        </p:nvSpPr>
        <p:spPr>
          <a:xfrm>
            <a:off x="4160520" y="224028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6" name="mock-card-127"/>
          <p:cNvSpPr/>
          <p:nvPr/>
        </p:nvSpPr>
        <p:spPr>
          <a:xfrm>
            <a:off x="5669280" y="2240280"/>
            <a:ext cx="13716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7" name="mock-panel"/>
          <p:cNvSpPr/>
          <p:nvPr/>
        </p:nvSpPr>
        <p:spPr>
          <a:xfrm>
            <a:off x="2651760" y="3429000"/>
            <a:ext cx="438912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5DED9"/>
            </a:solidFill>
            <a:prstDash val="solid"/>
          </a:ln>
        </p:spPr>
      </p:sp>
      <p:sp>
        <p:nvSpPr>
          <p:cNvPr id="18" name="marker-128"/>
          <p:cNvSpPr txBox="1"/>
          <p:nvPr/>
        </p:nvSpPr>
        <p:spPr>
          <a:xfrm>
            <a:off x="2011680" y="2514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marker-129"/>
          <p:cNvSpPr txBox="1"/>
          <p:nvPr/>
        </p:nvSpPr>
        <p:spPr>
          <a:xfrm>
            <a:off x="6995160" y="14538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marker-130"/>
          <p:cNvSpPr txBox="1"/>
          <p:nvPr/>
        </p:nvSpPr>
        <p:spPr>
          <a:xfrm>
            <a:off x="1508760" y="50292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marker-131"/>
          <p:cNvSpPr txBox="1"/>
          <p:nvPr/>
        </p:nvSpPr>
        <p:spPr>
          <a:xfrm>
            <a:off x="4937760" y="14538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legend-num-132"/>
          <p:cNvSpPr txBox="1"/>
          <p:nvPr/>
        </p:nvSpPr>
        <p:spPr>
          <a:xfrm>
            <a:off x="7635240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legend-text-133"/>
          <p:cNvSpPr txBox="1"/>
          <p:nvPr/>
        </p:nvSpPr>
        <p:spPr>
          <a:xfrm>
            <a:off x="8183880" y="133502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Sidebar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Your menu. Click a group (▾) to open it.</a:t>
            </a:r>
            <a:endParaRPr lang="en-US" sz="1500" dirty="0"/>
          </a:p>
        </p:txBody>
      </p:sp>
      <p:sp>
        <p:nvSpPr>
          <p:cNvPr id="24" name="legend-num-134"/>
          <p:cNvSpPr txBox="1"/>
          <p:nvPr/>
        </p:nvSpPr>
        <p:spPr>
          <a:xfrm>
            <a:off x="7635240" y="230428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legend-text-135"/>
          <p:cNvSpPr txBox="1"/>
          <p:nvPr/>
        </p:nvSpPr>
        <p:spPr>
          <a:xfrm>
            <a:off x="8183880" y="226771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Bell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Your notifications. A number means something new.</a:t>
            </a:r>
            <a:endParaRPr lang="en-US" sz="1500" dirty="0"/>
          </a:p>
        </p:txBody>
      </p:sp>
      <p:sp>
        <p:nvSpPr>
          <p:cNvPr id="26" name="legend-num-136"/>
          <p:cNvSpPr txBox="1"/>
          <p:nvPr/>
        </p:nvSpPr>
        <p:spPr>
          <a:xfrm>
            <a:off x="7635240" y="323697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legend-text-137"/>
          <p:cNvSpPr txBox="1"/>
          <p:nvPr/>
        </p:nvSpPr>
        <p:spPr>
          <a:xfrm>
            <a:off x="818388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Your 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Opens your Profile. The icon beside it signs you out.</a:t>
            </a:r>
            <a:endParaRPr lang="en-US" sz="1500" dirty="0"/>
          </a:p>
        </p:txBody>
      </p:sp>
      <p:sp>
        <p:nvSpPr>
          <p:cNvPr id="28" name="legend-num-138"/>
          <p:cNvSpPr txBox="1"/>
          <p:nvPr/>
        </p:nvSpPr>
        <p:spPr>
          <a:xfrm>
            <a:off x="7635240" y="416966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legend-text-139"/>
          <p:cNvSpPr txBox="1"/>
          <p:nvPr/>
        </p:nvSpPr>
        <p:spPr>
          <a:xfrm>
            <a:off x="8183880" y="41330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Search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 any page quickly.</a:t>
            </a:r>
            <a:endParaRPr lang="en-US" sz="1500" dirty="0"/>
          </a:p>
        </p:txBody>
      </p:sp>
      <p:sp>
        <p:nvSpPr>
          <p:cNvPr id="30" name="callout-bg-140"/>
          <p:cNvSpPr/>
          <p:nvPr/>
        </p:nvSpPr>
        <p:spPr>
          <a:xfrm>
            <a:off x="7635240" y="5120640"/>
            <a:ext cx="40050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1" name="icon-circle-141"/>
          <p:cNvSpPr/>
          <p:nvPr/>
        </p:nvSpPr>
        <p:spPr>
          <a:xfrm>
            <a:off x="7818120" y="53721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14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5481828"/>
            <a:ext cx="237744" cy="237744"/>
          </a:xfrm>
          <a:prstGeom prst="rect">
            <a:avLst/>
          </a:prstGeom>
        </p:spPr>
      </p:pic>
      <p:sp>
        <p:nvSpPr>
          <p:cNvPr id="33" name="callout-text-143"/>
          <p:cNvSpPr txBox="1"/>
          <p:nvPr/>
        </p:nvSpPr>
        <p:spPr>
          <a:xfrm>
            <a:off x="8412480" y="5193792"/>
            <a:ext cx="30449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Your menu may look different from your neighbour's. It depends on your role.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 page</a:t>
            </a:r>
            <a:endParaRPr lang="en-US" sz="3200" dirty="0"/>
          </a:p>
        </p:txBody>
      </p:sp>
      <p:sp>
        <p:nvSpPr>
          <p:cNvPr id="3" name="tag-144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ath-label-145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Open:</a:t>
            </a:r>
            <a:endParaRPr lang="en-US" sz="1300" dirty="0"/>
          </a:p>
        </p:txBody>
      </p:sp>
      <p:sp>
        <p:nvSpPr>
          <p:cNvPr id="5" name="path-chip-146"/>
          <p:cNvSpPr txBox="1"/>
          <p:nvPr/>
        </p:nvSpPr>
        <p:spPr>
          <a:xfrm>
            <a:off x="1325880" y="1207008"/>
            <a:ext cx="319582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Your name (bottom of sidebar)</a:t>
            </a:r>
            <a:endParaRPr lang="en-US" sz="1300" dirty="0"/>
          </a:p>
        </p:txBody>
      </p:sp>
      <p:sp>
        <p:nvSpPr>
          <p:cNvPr id="6" name="path-sep-147"/>
          <p:cNvSpPr txBox="1"/>
          <p:nvPr/>
        </p:nvSpPr>
        <p:spPr>
          <a:xfrm>
            <a:off x="4521708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148"/>
          <p:cNvSpPr txBox="1"/>
          <p:nvPr/>
        </p:nvSpPr>
        <p:spPr>
          <a:xfrm>
            <a:off x="4796028" y="1207008"/>
            <a:ext cx="1083564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Profile</a:t>
            </a:r>
            <a:endParaRPr lang="en-US" sz="1300" dirty="0"/>
          </a:p>
        </p:txBody>
      </p:sp>
      <p:sp>
        <p:nvSpPr>
          <p:cNvPr id="8" name="card-149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9" name="icon-circle-150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1" name="card-title-152"/>
          <p:cNvSpPr txBox="1"/>
          <p:nvPr/>
        </p:nvSpPr>
        <p:spPr>
          <a:xfrm>
            <a:off x="1417320" y="2057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Profile</a:t>
            </a:r>
            <a:endParaRPr lang="en-US" sz="1800" dirty="0"/>
          </a:p>
        </p:txBody>
      </p:sp>
      <p:sp>
        <p:nvSpPr>
          <p:cNvPr id="12" name="card-body-153"/>
          <p:cNvSpPr txBox="1"/>
          <p:nvPr/>
        </p:nvSpPr>
        <p:spPr>
          <a:xfrm>
            <a:off x="77724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name, email, department and job title come from GBB records. You can edit your display name, phone and skills, then click </a:t>
            </a:r>
            <a:r>
              <a:rPr lang="en-US" sz="1600" b="1" dirty="0">
                <a:solidFill>
                  <a:schemeClr val="tx1"/>
                </a:solidFill>
              </a:rPr>
              <a:t>Save profile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card-154"/>
          <p:cNvSpPr/>
          <p:nvPr/>
        </p:nvSpPr>
        <p:spPr>
          <a:xfrm>
            <a:off x="6172200" y="182880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icon-circle-155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1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2178101"/>
            <a:ext cx="261518" cy="261518"/>
          </a:xfrm>
          <a:prstGeom prst="rect">
            <a:avLst/>
          </a:prstGeom>
        </p:spPr>
      </p:pic>
      <p:sp>
        <p:nvSpPr>
          <p:cNvPr id="16" name="card-title-157"/>
          <p:cNvSpPr txBox="1"/>
          <p:nvPr/>
        </p:nvSpPr>
        <p:spPr>
          <a:xfrm>
            <a:off x="7040880" y="2057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Signature</a:t>
            </a:r>
            <a:endParaRPr lang="en-US" sz="1800" dirty="0"/>
          </a:p>
        </p:txBody>
      </p:sp>
      <p:sp>
        <p:nvSpPr>
          <p:cNvPr id="17" name="card-body-158"/>
          <p:cNvSpPr txBox="1"/>
          <p:nvPr/>
        </p:nvSpPr>
        <p:spPr>
          <a:xfrm>
            <a:off x="640080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signature. IAMS stamps it on every document you sign. Next slide.</a:t>
            </a:r>
            <a:endParaRPr lang="en-US" sz="1600" dirty="0"/>
          </a:p>
        </p:txBody>
      </p:sp>
      <p:sp>
        <p:nvSpPr>
          <p:cNvPr id="18" name="card-159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19" name="icon-circle-160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16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72661"/>
            <a:ext cx="261518" cy="261518"/>
          </a:xfrm>
          <a:prstGeom prst="rect">
            <a:avLst/>
          </a:prstGeom>
        </p:spPr>
      </p:pic>
      <p:sp>
        <p:nvSpPr>
          <p:cNvPr id="21" name="card-title-162"/>
          <p:cNvSpPr txBox="1"/>
          <p:nvPr/>
        </p:nvSpPr>
        <p:spPr>
          <a:xfrm>
            <a:off x="1417320" y="42519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Security</a:t>
            </a:r>
            <a:endParaRPr lang="en-US" sz="1800" dirty="0"/>
          </a:p>
        </p:txBody>
      </p:sp>
      <p:sp>
        <p:nvSpPr>
          <p:cNvPr id="22" name="card-body-163"/>
          <p:cNvSpPr txBox="1"/>
          <p:nvPr/>
        </p:nvSpPr>
        <p:spPr>
          <a:xfrm>
            <a:off x="77724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Think someone else is using your account? Click </a:t>
            </a:r>
            <a:r>
              <a:rPr lang="en-US" sz="1600" b="1" dirty="0">
                <a:solidFill>
                  <a:schemeClr val="tx1"/>
                </a:solidFill>
              </a:rPr>
              <a:t>Log out everywhere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3" name="card-164"/>
          <p:cNvSpPr/>
          <p:nvPr/>
        </p:nvSpPr>
        <p:spPr>
          <a:xfrm>
            <a:off x="617220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24" name="icon-circle-165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16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372661"/>
            <a:ext cx="261518" cy="261518"/>
          </a:xfrm>
          <a:prstGeom prst="rect">
            <a:avLst/>
          </a:prstGeom>
        </p:spPr>
      </p:pic>
      <p:sp>
        <p:nvSpPr>
          <p:cNvPr id="26" name="card-title-167"/>
          <p:cNvSpPr txBox="1"/>
          <p:nvPr/>
        </p:nvSpPr>
        <p:spPr>
          <a:xfrm>
            <a:off x="7040880" y="42519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Access</a:t>
            </a:r>
            <a:endParaRPr lang="en-US" sz="1800" dirty="0"/>
          </a:p>
        </p:txBody>
      </p:sp>
      <p:sp>
        <p:nvSpPr>
          <p:cNvPr id="27" name="card-body-168"/>
          <p:cNvSpPr txBox="1"/>
          <p:nvPr/>
        </p:nvSpPr>
        <p:spPr>
          <a:xfrm>
            <a:off x="6400800" y="4892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role(s), and the full list of what your role lets you do.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signature</a:t>
            </a:r>
            <a:endParaRPr lang="en-US" sz="3200" dirty="0"/>
          </a:p>
        </p:txBody>
      </p:sp>
      <p:sp>
        <p:nvSpPr>
          <p:cNvPr id="3" name="tag-169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ath-label-170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171"/>
          <p:cNvSpPr txBox="1"/>
          <p:nvPr/>
        </p:nvSpPr>
        <p:spPr>
          <a:xfrm>
            <a:off x="1325880" y="1207008"/>
            <a:ext cx="1083564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Profile</a:t>
            </a:r>
            <a:endParaRPr lang="en-US" sz="1300" dirty="0"/>
          </a:p>
        </p:txBody>
      </p:sp>
      <p:sp>
        <p:nvSpPr>
          <p:cNvPr id="6" name="path-sep-172"/>
          <p:cNvSpPr txBox="1"/>
          <p:nvPr/>
        </p:nvSpPr>
        <p:spPr>
          <a:xfrm>
            <a:off x="2409444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173"/>
          <p:cNvSpPr txBox="1"/>
          <p:nvPr/>
        </p:nvSpPr>
        <p:spPr>
          <a:xfrm>
            <a:off x="2683764" y="1207008"/>
            <a:ext cx="127558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Signature</a:t>
            </a:r>
            <a:endParaRPr lang="en-US" sz="1300" dirty="0"/>
          </a:p>
        </p:txBody>
      </p:sp>
      <p:sp>
        <p:nvSpPr>
          <p:cNvPr id="8" name="step-dot-174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-num-175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tep-text-176"/>
          <p:cNvSpPr txBox="1"/>
          <p:nvPr/>
        </p:nvSpPr>
        <p:spPr>
          <a:xfrm>
            <a:off x="1143000" y="1828800"/>
            <a:ext cx="580644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the </a:t>
            </a:r>
            <a:r>
              <a:rPr lang="en-US" sz="1800" b="1" dirty="0">
                <a:solidFill>
                  <a:schemeClr val="accent1"/>
                </a:solidFill>
              </a:rPr>
              <a:t>Signature</a:t>
            </a:r>
            <a:r>
              <a:rPr lang="en-US" sz="1800" dirty="0">
                <a:solidFill>
                  <a:schemeClr val="tx1"/>
                </a:solidFill>
              </a:rPr>
              <a:t> tab. You see </a:t>
            </a:r>
            <a:r>
              <a:rPr lang="en-US" sz="1800" b="1" dirty="0">
                <a:solidFill>
                  <a:schemeClr val="accent1"/>
                </a:solidFill>
              </a:rPr>
              <a:t>My signature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tep-dot-17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-num-178"/>
          <p:cNvSpPr txBox="1"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-text-179"/>
          <p:cNvSpPr txBox="1"/>
          <p:nvPr/>
        </p:nvSpPr>
        <p:spPr>
          <a:xfrm>
            <a:off x="1143000" y="2542032"/>
            <a:ext cx="580644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Choose </a:t>
            </a:r>
            <a:r>
              <a:rPr lang="en-US" sz="1800" b="1" dirty="0">
                <a:solidFill>
                  <a:schemeClr val="accent1"/>
                </a:solidFill>
              </a:rPr>
              <a:t>Draw</a:t>
            </a:r>
            <a:r>
              <a:rPr lang="en-US" sz="1800" dirty="0">
                <a:solidFill>
                  <a:schemeClr val="tx1"/>
                </a:solidFill>
              </a:rPr>
              <a:t> and sign with your mouse or finger.</a:t>
            </a:r>
            <a:endParaRPr lang="en-US" sz="1800" dirty="0"/>
          </a:p>
        </p:txBody>
      </p:sp>
      <p:sp>
        <p:nvSpPr>
          <p:cNvPr id="14" name="step-dot-180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-num-181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text-182"/>
          <p:cNvSpPr txBox="1"/>
          <p:nvPr/>
        </p:nvSpPr>
        <p:spPr>
          <a:xfrm>
            <a:off x="1143000" y="3255264"/>
            <a:ext cx="580644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Not happy with it? Click </a:t>
            </a:r>
            <a:r>
              <a:rPr lang="en-US" sz="1800" b="1" dirty="0">
                <a:solidFill>
                  <a:schemeClr val="accent1"/>
                </a:solidFill>
              </a:rPr>
              <a:t>Clear</a:t>
            </a:r>
            <a:r>
              <a:rPr lang="en-US" sz="1800" dirty="0">
                <a:solidFill>
                  <a:schemeClr val="tx1"/>
                </a:solidFill>
              </a:rPr>
              <a:t> and sign again.</a:t>
            </a:r>
            <a:endParaRPr lang="en-US" sz="1800" dirty="0"/>
          </a:p>
        </p:txBody>
      </p:sp>
      <p:sp>
        <p:nvSpPr>
          <p:cNvPr id="17" name="step-dot-183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ep-num-184"/>
          <p:cNvSpPr txBox="1"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tep-text-185"/>
          <p:cNvSpPr txBox="1"/>
          <p:nvPr/>
        </p:nvSpPr>
        <p:spPr>
          <a:xfrm>
            <a:off x="1143000" y="3968496"/>
            <a:ext cx="580644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Use signature</a:t>
            </a:r>
            <a:r>
              <a:rPr lang="en-US" sz="1800" dirty="0">
                <a:solidFill>
                  <a:schemeClr val="tx1"/>
                </a:solidFill>
              </a:rPr>
              <a:t>. Your signature now shows on the page.</a:t>
            </a:r>
            <a:endParaRPr lang="en-US" sz="1800" dirty="0"/>
          </a:p>
        </p:txBody>
      </p:sp>
      <p:sp>
        <p:nvSpPr>
          <p:cNvPr id="20" name="callout-bg-186"/>
          <p:cNvSpPr/>
          <p:nvPr/>
        </p:nvSpPr>
        <p:spPr>
          <a:xfrm>
            <a:off x="548640" y="4846320"/>
            <a:ext cx="6400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1" name="icon-circle-187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18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230368"/>
            <a:ext cx="237744" cy="237744"/>
          </a:xfrm>
          <a:prstGeom prst="rect">
            <a:avLst/>
          </a:prstGeom>
        </p:spPr>
      </p:pic>
      <p:sp>
        <p:nvSpPr>
          <p:cNvPr id="23" name="callout-text-189"/>
          <p:cNvSpPr txBox="1"/>
          <p:nvPr/>
        </p:nvSpPr>
        <p:spPr>
          <a:xfrm>
            <a:off x="1325880" y="4919472"/>
            <a:ext cx="5440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Prefer a picture? Choose </a:t>
            </a:r>
            <a:r>
              <a:rPr lang="en-US" sz="1500" b="1" dirty="0">
                <a:solidFill>
                  <a:schemeClr val="tx1"/>
                </a:solidFill>
              </a:rPr>
              <a:t>Upload</a:t>
            </a:r>
            <a:r>
              <a:rPr lang="en-US" sz="1500" dirty="0">
                <a:solidFill>
                  <a:schemeClr val="tx1"/>
                </a:solidFill>
              </a:rPr>
              <a:t> and pick a PNG or JPG of your signature. To change it later, click </a:t>
            </a:r>
            <a:r>
              <a:rPr lang="en-US" sz="1500" b="1" dirty="0">
                <a:solidFill>
                  <a:schemeClr val="tx1"/>
                </a:solidFill>
              </a:rPr>
              <a:t>Replace</a:t>
            </a:r>
            <a:r>
              <a:rPr lang="en-US" sz="1500" dirty="0">
                <a:solidFill>
                  <a:schemeClr val="tx1"/>
                </a:solidFill>
              </a:rPr>
              <a:t> or </a:t>
            </a:r>
            <a:r>
              <a:rPr lang="en-US" sz="1500" b="1" dirty="0">
                <a:solidFill>
                  <a:schemeClr val="tx1"/>
                </a:solidFill>
              </a:rPr>
              <a:t>Remove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4" name="sig-panel"/>
          <p:cNvSpPr/>
          <p:nvPr/>
        </p:nvSpPr>
        <p:spPr>
          <a:xfrm>
            <a:off x="7452360" y="1783080"/>
            <a:ext cx="4187952" cy="4069080"/>
          </a:xfrm>
          <a:prstGeom prst="roundRect">
            <a:avLst>
              <a:gd name="adj" fmla="val 3371"/>
            </a:avLst>
          </a:prstGeom>
          <a:solidFill>
            <a:schemeClr val="tx2"/>
          </a:solidFill>
          <a:ln/>
        </p:spPr>
      </p:sp>
      <p:sp>
        <p:nvSpPr>
          <p:cNvPr id="25" name="icon-circle-190"/>
          <p:cNvSpPr/>
          <p:nvPr/>
        </p:nvSpPr>
        <p:spPr>
          <a:xfrm>
            <a:off x="8915400" y="21031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19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666" y="2399386"/>
            <a:ext cx="641909" cy="641909"/>
          </a:xfrm>
          <a:prstGeom prst="rect">
            <a:avLst/>
          </a:prstGeom>
        </p:spPr>
      </p:pic>
      <p:sp>
        <p:nvSpPr>
          <p:cNvPr id="27" name="sig-msg"/>
          <p:cNvSpPr txBox="1"/>
          <p:nvPr/>
        </p:nvSpPr>
        <p:spPr>
          <a:xfrm>
            <a:off x="768096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saved signature,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signing.</a:t>
            </a:r>
            <a:endParaRPr lang="en-US" sz="2400" dirty="0"/>
          </a:p>
        </p:txBody>
      </p:sp>
      <p:sp>
        <p:nvSpPr>
          <p:cNvPr id="28" name="sig-sub"/>
          <p:cNvSpPr txBox="1"/>
          <p:nvPr/>
        </p:nvSpPr>
        <p:spPr>
          <a:xfrm>
            <a:off x="7726680" y="4526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When you approve in IAMS, you don't print and sign. IAMS stamps this saved signature for you.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label-192"/>
          <p:cNvSpPr txBox="1"/>
          <p:nvPr/>
        </p:nvSpPr>
        <p:spPr>
          <a:xfrm>
            <a:off x="5486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3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permissions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Why your menu is different from your neighbour's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are keys, roles are key rings</a:t>
            </a:r>
            <a:endParaRPr lang="en-US" sz="3200" dirty="0"/>
          </a:p>
        </p:txBody>
      </p:sp>
      <p:sp>
        <p:nvSpPr>
          <p:cNvPr id="3" name="icon-circle-193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on-19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799539"/>
            <a:ext cx="332842" cy="332842"/>
          </a:xfrm>
          <a:prstGeom prst="rect">
            <a:avLst/>
          </a:prstGeom>
        </p:spPr>
      </p:pic>
      <p:sp>
        <p:nvSpPr>
          <p:cNvPr id="5" name="perm-195"/>
          <p:cNvSpPr txBox="1"/>
          <p:nvPr/>
        </p:nvSpPr>
        <p:spPr>
          <a:xfrm>
            <a:off x="13716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Raise a finding</a:t>
            </a:r>
            <a:endParaRPr lang="en-US" sz="1600" dirty="0"/>
          </a:p>
        </p:txBody>
      </p:sp>
      <p:sp>
        <p:nvSpPr>
          <p:cNvPr id="6" name="icon-circle-19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-19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713939"/>
            <a:ext cx="332842" cy="332842"/>
          </a:xfrm>
          <a:prstGeom prst="rect">
            <a:avLst/>
          </a:prstGeom>
        </p:spPr>
      </p:pic>
      <p:sp>
        <p:nvSpPr>
          <p:cNvPr id="8" name="perm-198"/>
          <p:cNvSpPr txBox="1"/>
          <p:nvPr/>
        </p:nvSpPr>
        <p:spPr>
          <a:xfrm>
            <a:off x="137160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Upload evidence</a:t>
            </a:r>
            <a:endParaRPr lang="en-US" sz="1600" dirty="0"/>
          </a:p>
        </p:txBody>
      </p:sp>
      <p:sp>
        <p:nvSpPr>
          <p:cNvPr id="9" name="icon-circle-199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2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628339"/>
            <a:ext cx="332842" cy="332842"/>
          </a:xfrm>
          <a:prstGeom prst="rect">
            <a:avLst/>
          </a:prstGeom>
        </p:spPr>
      </p:pic>
      <p:sp>
        <p:nvSpPr>
          <p:cNvPr id="11" name="perm-201"/>
          <p:cNvSpPr txBox="1"/>
          <p:nvPr/>
        </p:nvSpPr>
        <p:spPr>
          <a:xfrm>
            <a:off x="13716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Write a working paper</a:t>
            </a:r>
            <a:endParaRPr lang="en-US" sz="1600" dirty="0"/>
          </a:p>
        </p:txBody>
      </p:sp>
      <p:sp>
        <p:nvSpPr>
          <p:cNvPr id="12" name="arr1"/>
          <p:cNvSpPr txBox="1"/>
          <p:nvPr/>
        </p:nvSpPr>
        <p:spPr>
          <a:xfrm>
            <a:off x="361188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→</a:t>
            </a:r>
            <a:endParaRPr lang="en-US" sz="4000" dirty="0"/>
          </a:p>
        </p:txBody>
      </p:sp>
      <p:sp>
        <p:nvSpPr>
          <p:cNvPr id="13" name="role-box"/>
          <p:cNvSpPr/>
          <p:nvPr/>
        </p:nvSpPr>
        <p:spPr>
          <a:xfrm>
            <a:off x="4434840" y="1645920"/>
            <a:ext cx="2377440" cy="2468880"/>
          </a:xfrm>
          <a:prstGeom prst="roundRect">
            <a:avLst>
              <a:gd name="adj" fmla="val 5769"/>
            </a:avLst>
          </a:prstGeom>
          <a:solidFill>
            <a:schemeClr val="bg2"/>
          </a:solidFill>
          <a:ln/>
        </p:spPr>
      </p:sp>
      <p:sp>
        <p:nvSpPr>
          <p:cNvPr id="14" name="icon-circle-202"/>
          <p:cNvSpPr/>
          <p:nvPr/>
        </p:nvSpPr>
        <p:spPr>
          <a:xfrm>
            <a:off x="516636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0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2093976"/>
            <a:ext cx="475488" cy="475488"/>
          </a:xfrm>
          <a:prstGeom prst="rect">
            <a:avLst/>
          </a:prstGeom>
        </p:spPr>
      </p:pic>
      <p:sp>
        <p:nvSpPr>
          <p:cNvPr id="16" name="role-name"/>
          <p:cNvSpPr txBox="1"/>
          <p:nvPr/>
        </p:nvSpPr>
        <p:spPr>
          <a:xfrm>
            <a:off x="44348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Auditor role</a:t>
            </a:r>
            <a:endParaRPr lang="en-US" sz="1800" dirty="0"/>
          </a:p>
        </p:txBody>
      </p:sp>
      <p:sp>
        <p:nvSpPr>
          <p:cNvPr id="17" name="role-sub"/>
          <p:cNvSpPr txBox="1"/>
          <p:nvPr/>
        </p:nvSpPr>
        <p:spPr>
          <a:xfrm>
            <a:off x="452628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all the keys an auditor needs</a:t>
            </a:r>
            <a:endParaRPr lang="en-US" sz="1300" dirty="0"/>
          </a:p>
        </p:txBody>
      </p:sp>
      <p:sp>
        <p:nvSpPr>
          <p:cNvPr id="18" name="arr2"/>
          <p:cNvSpPr txBox="1"/>
          <p:nvPr/>
        </p:nvSpPr>
        <p:spPr>
          <a:xfrm>
            <a:off x="69037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→</a:t>
            </a:r>
            <a:endParaRPr lang="en-US" sz="4000" dirty="0"/>
          </a:p>
        </p:txBody>
      </p:sp>
      <p:sp>
        <p:nvSpPr>
          <p:cNvPr id="19" name="icon-circle-204"/>
          <p:cNvSpPr/>
          <p:nvPr/>
        </p:nvSpPr>
        <p:spPr>
          <a:xfrm>
            <a:off x="7818120" y="196596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-2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3413" y="2251253"/>
            <a:ext cx="618134" cy="618134"/>
          </a:xfrm>
          <a:prstGeom prst="rect">
            <a:avLst/>
          </a:prstGeom>
        </p:spPr>
      </p:pic>
      <p:sp>
        <p:nvSpPr>
          <p:cNvPr id="21" name="you"/>
          <p:cNvSpPr txBox="1"/>
          <p:nvPr/>
        </p:nvSpPr>
        <p:spPr>
          <a:xfrm>
            <a:off x="75895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You</a:t>
            </a:r>
            <a:endParaRPr lang="en-US" sz="1800" dirty="0"/>
          </a:p>
        </p:txBody>
      </p:sp>
      <p:sp>
        <p:nvSpPr>
          <p:cNvPr id="22" name="keys-text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Permission</a:t>
            </a:r>
            <a:r>
              <a:rPr lang="en-US" sz="1900" dirty="0">
                <a:solidFill>
                  <a:schemeClr val="tx1"/>
                </a:solidFill>
              </a:rPr>
              <a:t> = allowed to do one thing.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Role</a:t>
            </a:r>
            <a:r>
              <a:rPr lang="en-US" sz="1900" dirty="0">
                <a:solidFill>
                  <a:schemeClr val="tx1"/>
                </a:solidFill>
              </a:rPr>
              <a:t> = all the permissions one kind of job needs.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No permission = the button or page is not there for you.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roles we have at GBB</a:t>
            </a:r>
            <a:endParaRPr lang="en-US" sz="3200" dirty="0"/>
          </a:p>
        </p:txBody>
      </p:sp>
      <p:graphicFrame>
        <p:nvGraphicFramePr>
          <p:cNvPr id="15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572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 simple words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Super Admin (System Admin)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do everything. Creates users, roles and settings.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CAE (Chief Audit Executive)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Head of audit. Approves the yearly programme, final sign-off on reviews, issues them.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Director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Oversight. Second signature on every audit review.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Audit Manager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Plans audits, sets up the team, approves working papers and closures.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Audit Lead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Leads one audit, day to day.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Auditor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Does the audit work on the audits they are assigned to.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Auditee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department being audited. Sends documents, answers findings, fixes problems.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Audit Committee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Sees the committee report pack only.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Viewer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look. Cannot change anything.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rules no role can break</a:t>
            </a:r>
            <a:endParaRPr lang="en-US" sz="3200" dirty="0"/>
          </a:p>
        </p:txBody>
      </p:sp>
      <p:sp>
        <p:nvSpPr>
          <p:cNvPr id="3" name="card-206"/>
          <p:cNvSpPr/>
          <p:nvPr/>
        </p:nvSpPr>
        <p:spPr>
          <a:xfrm>
            <a:off x="548640" y="1417320"/>
            <a:ext cx="53949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icon-circle-207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0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66621"/>
            <a:ext cx="261518" cy="261518"/>
          </a:xfrm>
          <a:prstGeom prst="rect">
            <a:avLst/>
          </a:prstGeom>
        </p:spPr>
      </p:pic>
      <p:sp>
        <p:nvSpPr>
          <p:cNvPr id="6" name="card-title-209"/>
          <p:cNvSpPr txBox="1"/>
          <p:nvPr/>
        </p:nvSpPr>
        <p:spPr>
          <a:xfrm>
            <a:off x="141732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You cannot approve your own work</a:t>
            </a:r>
            <a:endParaRPr lang="en-US" sz="2000" dirty="0"/>
          </a:p>
        </p:txBody>
      </p:sp>
      <p:sp>
        <p:nvSpPr>
          <p:cNvPr id="7" name="card-body-210"/>
          <p:cNvSpPr txBox="1"/>
          <p:nvPr/>
        </p:nvSpPr>
        <p:spPr>
          <a:xfrm>
            <a:off x="777240" y="22860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Someone else must approve what you submit. Even the CAE. This is called </a:t>
            </a:r>
            <a:r>
              <a:rPr lang="en-US" sz="1800" b="1" dirty="0">
                <a:solidFill>
                  <a:schemeClr val="tx1"/>
                </a:solidFill>
              </a:rPr>
              <a:t>segregation of duties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card-211"/>
          <p:cNvSpPr/>
          <p:nvPr/>
        </p:nvSpPr>
        <p:spPr>
          <a:xfrm>
            <a:off x="6263640" y="1417320"/>
            <a:ext cx="53949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9" name="icon-circle-212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766621"/>
            <a:ext cx="261518" cy="261518"/>
          </a:xfrm>
          <a:prstGeom prst="rect">
            <a:avLst/>
          </a:prstGeom>
        </p:spPr>
      </p:pic>
      <p:sp>
        <p:nvSpPr>
          <p:cNvPr id="11" name="card-title-214"/>
          <p:cNvSpPr txBox="1"/>
          <p:nvPr/>
        </p:nvSpPr>
        <p:spPr>
          <a:xfrm>
            <a:off x="713232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You see your own work</a:t>
            </a:r>
            <a:endParaRPr lang="en-US" sz="2000" dirty="0"/>
          </a:p>
        </p:txBody>
      </p:sp>
      <p:sp>
        <p:nvSpPr>
          <p:cNvPr id="12" name="card-body-215"/>
          <p:cNvSpPr txBox="1"/>
          <p:nvPr/>
        </p:nvSpPr>
        <p:spPr>
          <a:xfrm>
            <a:off x="6492240" y="22860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Auditors see the audits they work on. Auditees see only their own department's findings. Senior roles like Director and CAE see everything.</a:t>
            </a:r>
            <a:endParaRPr lang="en-US" sz="1800" dirty="0"/>
          </a:p>
        </p:txBody>
      </p:sp>
      <p:sp>
        <p:nvSpPr>
          <p:cNvPr id="13" name="callout-bg-216"/>
          <p:cNvSpPr/>
          <p:nvPr/>
        </p:nvSpPr>
        <p:spPr>
          <a:xfrm>
            <a:off x="548640" y="466344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icon-circle-217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01768"/>
            <a:ext cx="237744" cy="237744"/>
          </a:xfrm>
          <a:prstGeom prst="rect">
            <a:avLst/>
          </a:prstGeom>
        </p:spPr>
      </p:pic>
      <p:sp>
        <p:nvSpPr>
          <p:cNvPr id="16" name="callout-text-219"/>
          <p:cNvSpPr txBox="1"/>
          <p:nvPr/>
        </p:nvSpPr>
        <p:spPr>
          <a:xfrm>
            <a:off x="1325880" y="4736592"/>
            <a:ext cx="1013429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Question: an Audit Manager submits a working paper. Can they approve it themselves? (No. Someone else must.)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admin creates a role</a:t>
            </a:r>
            <a:endParaRPr lang="en-US" sz="3200" dirty="0"/>
          </a:p>
        </p:txBody>
      </p:sp>
      <p:sp>
        <p:nvSpPr>
          <p:cNvPr id="3" name="tag-220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 ONLY · WATCH</a:t>
            </a:r>
            <a:endParaRPr lang="en-US" sz="1200" dirty="0"/>
          </a:p>
        </p:txBody>
      </p:sp>
      <p:sp>
        <p:nvSpPr>
          <p:cNvPr id="4" name="path-label-221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222"/>
          <p:cNvSpPr txBox="1"/>
          <p:nvPr/>
        </p:nvSpPr>
        <p:spPr>
          <a:xfrm>
            <a:off x="1325880" y="1207008"/>
            <a:ext cx="987552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System</a:t>
            </a:r>
            <a:endParaRPr lang="en-US" sz="1300" dirty="0"/>
          </a:p>
        </p:txBody>
      </p:sp>
      <p:sp>
        <p:nvSpPr>
          <p:cNvPr id="6" name="path-sep-223"/>
          <p:cNvSpPr txBox="1"/>
          <p:nvPr/>
        </p:nvSpPr>
        <p:spPr>
          <a:xfrm>
            <a:off x="231343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224"/>
          <p:cNvSpPr txBox="1"/>
          <p:nvPr/>
        </p:nvSpPr>
        <p:spPr>
          <a:xfrm>
            <a:off x="2587752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Settings</a:t>
            </a:r>
            <a:endParaRPr lang="en-US" sz="1300" dirty="0"/>
          </a:p>
        </p:txBody>
      </p:sp>
      <p:sp>
        <p:nvSpPr>
          <p:cNvPr id="8" name="path-sep-225"/>
          <p:cNvSpPr txBox="1"/>
          <p:nvPr/>
        </p:nvSpPr>
        <p:spPr>
          <a:xfrm>
            <a:off x="3767328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path-chip-226"/>
          <p:cNvSpPr txBox="1"/>
          <p:nvPr/>
        </p:nvSpPr>
        <p:spPr>
          <a:xfrm>
            <a:off x="4041648" y="1207008"/>
            <a:ext cx="185166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Role Management</a:t>
            </a:r>
            <a:endParaRPr lang="en-US" sz="1300" dirty="0"/>
          </a:p>
        </p:txBody>
      </p:sp>
      <p:sp>
        <p:nvSpPr>
          <p:cNvPr id="10" name="step-dot-227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228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tep-text-229"/>
          <p:cNvSpPr txBox="1"/>
          <p:nvPr/>
        </p:nvSpPr>
        <p:spPr>
          <a:xfrm>
            <a:off x="1143000" y="1828800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Create Role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tep-dot-230"/>
          <p:cNvSpPr/>
          <p:nvPr/>
        </p:nvSpPr>
        <p:spPr>
          <a:xfrm>
            <a:off x="548640" y="25237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231"/>
          <p:cNvSpPr txBox="1"/>
          <p:nvPr/>
        </p:nvSpPr>
        <p:spPr>
          <a:xfrm>
            <a:off x="5486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tep-text-232"/>
          <p:cNvSpPr txBox="1"/>
          <p:nvPr/>
        </p:nvSpPr>
        <p:spPr>
          <a:xfrm>
            <a:off x="1143000" y="2505456"/>
            <a:ext cx="608076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Type a </a:t>
            </a:r>
            <a:r>
              <a:rPr lang="en-US" sz="1800" b="1" dirty="0">
                <a:solidFill>
                  <a:schemeClr val="accent1"/>
                </a:solidFill>
              </a:rPr>
              <a:t>Name</a:t>
            </a:r>
            <a:r>
              <a:rPr lang="en-US" sz="1800" dirty="0">
                <a:solidFill>
                  <a:schemeClr val="tx1"/>
                </a:solidFill>
              </a:rPr>
              <a:t> (for example: Training Observer) and a </a:t>
            </a:r>
            <a:r>
              <a:rPr lang="en-US" sz="1800" b="1" dirty="0">
                <a:solidFill>
                  <a:schemeClr val="accent1"/>
                </a:solidFill>
              </a:rPr>
              <a:t>Description</a:t>
            </a:r>
            <a:r>
              <a:rPr lang="en-US" sz="1800" dirty="0">
                <a:solidFill>
                  <a:schemeClr val="tx1"/>
                </a:solidFill>
              </a:rPr>
              <a:t>. Click </a:t>
            </a:r>
            <a:r>
              <a:rPr lang="en-US" sz="1800" b="1" dirty="0">
                <a:solidFill>
                  <a:schemeClr val="accent1"/>
                </a:solidFill>
              </a:rPr>
              <a:t>Create role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step-dot-233"/>
          <p:cNvSpPr/>
          <p:nvPr/>
        </p:nvSpPr>
        <p:spPr>
          <a:xfrm>
            <a:off x="548640" y="3513125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-num-234"/>
          <p:cNvSpPr txBox="1"/>
          <p:nvPr/>
        </p:nvSpPr>
        <p:spPr>
          <a:xfrm>
            <a:off x="548640" y="351312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text-235"/>
          <p:cNvSpPr txBox="1"/>
          <p:nvPr/>
        </p:nvSpPr>
        <p:spPr>
          <a:xfrm>
            <a:off x="1143000" y="3494837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On the new role's row, click </a:t>
            </a:r>
            <a:r>
              <a:rPr lang="en-US" sz="1800" b="1" dirty="0">
                <a:solidFill>
                  <a:schemeClr val="accent1"/>
                </a:solidFill>
              </a:rPr>
              <a:t>Permissions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9" name="step-dot-236"/>
          <p:cNvSpPr/>
          <p:nvPr/>
        </p:nvSpPr>
        <p:spPr>
          <a:xfrm>
            <a:off x="548640" y="4189781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-num-237"/>
          <p:cNvSpPr txBox="1"/>
          <p:nvPr/>
        </p:nvSpPr>
        <p:spPr>
          <a:xfrm>
            <a:off x="548640" y="418978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-text-238"/>
          <p:cNvSpPr txBox="1"/>
          <p:nvPr/>
        </p:nvSpPr>
        <p:spPr>
          <a:xfrm>
            <a:off x="1143000" y="4171493"/>
            <a:ext cx="608076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Tick the permissions you want. They are grouped by area. </a:t>
            </a:r>
            <a:r>
              <a:rPr lang="en-US" sz="1800" b="1" dirty="0">
                <a:solidFill>
                  <a:schemeClr val="accent1"/>
                </a:solidFill>
              </a:rPr>
              <a:t>Select all</a:t>
            </a:r>
            <a:r>
              <a:rPr lang="en-US" sz="1800" dirty="0">
                <a:solidFill>
                  <a:schemeClr val="tx1"/>
                </a:solidFill>
              </a:rPr>
              <a:t> ticks a whole group.</a:t>
            </a:r>
            <a:endParaRPr lang="en-US" sz="1800" dirty="0"/>
          </a:p>
        </p:txBody>
      </p:sp>
      <p:sp>
        <p:nvSpPr>
          <p:cNvPr id="22" name="step-dot-239"/>
          <p:cNvSpPr/>
          <p:nvPr/>
        </p:nvSpPr>
        <p:spPr>
          <a:xfrm>
            <a:off x="548640" y="517916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-num-240"/>
          <p:cNvSpPr txBox="1"/>
          <p:nvPr/>
        </p:nvSpPr>
        <p:spPr>
          <a:xfrm>
            <a:off x="548640" y="517916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tep-text-241"/>
          <p:cNvSpPr txBox="1"/>
          <p:nvPr/>
        </p:nvSpPr>
        <p:spPr>
          <a:xfrm>
            <a:off x="1143000" y="5160874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Save permissions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-242"/>
          <p:cNvSpPr/>
          <p:nvPr/>
        </p:nvSpPr>
        <p:spPr>
          <a:xfrm>
            <a:off x="7680960" y="1828800"/>
            <a:ext cx="3959352" cy="4023360"/>
          </a:xfrm>
          <a:prstGeom prst="roundRect">
            <a:avLst>
              <a:gd name="adj" fmla="val 2771"/>
            </a:avLst>
          </a:prstGeom>
          <a:solidFill>
            <a:srgbClr val="F4F6F5"/>
          </a:solidFill>
          <a:ln/>
        </p:spPr>
      </p:sp>
      <p:sp>
        <p:nvSpPr>
          <p:cNvPr id="26" name="icon-circle-243"/>
          <p:cNvSpPr/>
          <p:nvPr/>
        </p:nvSpPr>
        <p:spPr>
          <a:xfrm>
            <a:off x="79095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24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61" y="2178101"/>
            <a:ext cx="261518" cy="261518"/>
          </a:xfrm>
          <a:prstGeom prst="rect">
            <a:avLst/>
          </a:prstGeom>
        </p:spPr>
      </p:pic>
      <p:sp>
        <p:nvSpPr>
          <p:cNvPr id="28" name="card-title-245"/>
          <p:cNvSpPr txBox="1"/>
          <p:nvPr/>
        </p:nvSpPr>
        <p:spPr>
          <a:xfrm>
            <a:off x="8549640" y="2057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Good to know</a:t>
            </a:r>
            <a:endParaRPr lang="en-US" sz="1800" dirty="0"/>
          </a:p>
        </p:txBody>
      </p:sp>
      <p:sp>
        <p:nvSpPr>
          <p:cNvPr id="29" name="card-body-246"/>
          <p:cNvSpPr txBox="1"/>
          <p:nvPr/>
        </p:nvSpPr>
        <p:spPr>
          <a:xfrm>
            <a:off x="7909560" y="2697480"/>
            <a:ext cx="35021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role row shows how many permissions it has.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the System Admin can change roles.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Built-in system roles cannot be deleted.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admin gives a role to a person</a:t>
            </a:r>
            <a:endParaRPr lang="en-US" sz="3200" dirty="0"/>
          </a:p>
        </p:txBody>
      </p:sp>
      <p:sp>
        <p:nvSpPr>
          <p:cNvPr id="3" name="tag-247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 ONLY · WATCH</a:t>
            </a:r>
            <a:endParaRPr lang="en-US" sz="1200" dirty="0"/>
          </a:p>
        </p:txBody>
      </p:sp>
      <p:sp>
        <p:nvSpPr>
          <p:cNvPr id="4" name="path-label-248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249"/>
          <p:cNvSpPr txBox="1"/>
          <p:nvPr/>
        </p:nvSpPr>
        <p:spPr>
          <a:xfrm>
            <a:off x="1325880" y="1207008"/>
            <a:ext cx="987552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System</a:t>
            </a:r>
            <a:endParaRPr lang="en-US" sz="1300" dirty="0"/>
          </a:p>
        </p:txBody>
      </p:sp>
      <p:sp>
        <p:nvSpPr>
          <p:cNvPr id="6" name="path-sep-250"/>
          <p:cNvSpPr txBox="1"/>
          <p:nvPr/>
        </p:nvSpPr>
        <p:spPr>
          <a:xfrm>
            <a:off x="231343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251"/>
          <p:cNvSpPr txBox="1"/>
          <p:nvPr/>
        </p:nvSpPr>
        <p:spPr>
          <a:xfrm>
            <a:off x="2587752" y="1207008"/>
            <a:ext cx="89154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Users</a:t>
            </a:r>
            <a:endParaRPr lang="en-US" sz="1300" dirty="0"/>
          </a:p>
        </p:txBody>
      </p:sp>
      <p:sp>
        <p:nvSpPr>
          <p:cNvPr id="8" name="step-dot-252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-num-253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tep-text-254"/>
          <p:cNvSpPr txBox="1"/>
          <p:nvPr/>
        </p:nvSpPr>
        <p:spPr>
          <a:xfrm>
            <a:off x="1143000" y="1828800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Find the person and click </a:t>
            </a:r>
            <a:r>
              <a:rPr lang="en-US" sz="1800" b="1" dirty="0">
                <a:solidFill>
                  <a:schemeClr val="accent1"/>
                </a:solidFill>
              </a:rPr>
              <a:t>Edit</a:t>
            </a:r>
            <a:r>
              <a:rPr lang="en-US" sz="1800" dirty="0">
                <a:solidFill>
                  <a:schemeClr val="tx1"/>
                </a:solidFill>
              </a:rPr>
              <a:t> on their row.</a:t>
            </a:r>
            <a:endParaRPr lang="en-US" sz="1800" dirty="0"/>
          </a:p>
        </p:txBody>
      </p:sp>
      <p:sp>
        <p:nvSpPr>
          <p:cNvPr id="11" name="step-dot-255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-num-256"/>
          <p:cNvSpPr txBox="1"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-text-257"/>
          <p:cNvSpPr txBox="1"/>
          <p:nvPr/>
        </p:nvSpPr>
        <p:spPr>
          <a:xfrm>
            <a:off x="1143000" y="2542032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the </a:t>
            </a:r>
            <a:r>
              <a:rPr lang="en-US" sz="1800" b="1" dirty="0">
                <a:solidFill>
                  <a:schemeClr val="accent1"/>
                </a:solidFill>
              </a:rPr>
              <a:t>Roles</a:t>
            </a:r>
            <a:r>
              <a:rPr lang="en-US" sz="1800" dirty="0">
                <a:solidFill>
                  <a:schemeClr val="tx1"/>
                </a:solidFill>
              </a:rPr>
              <a:t> box and pick the role.</a:t>
            </a:r>
            <a:endParaRPr lang="en-US" sz="1800" dirty="0"/>
          </a:p>
        </p:txBody>
      </p:sp>
      <p:sp>
        <p:nvSpPr>
          <p:cNvPr id="14" name="step-dot-258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-num-259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text-260"/>
          <p:cNvSpPr txBox="1"/>
          <p:nvPr/>
        </p:nvSpPr>
        <p:spPr>
          <a:xfrm>
            <a:off x="1143000" y="3255264"/>
            <a:ext cx="60807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Save changes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callout-bg-261"/>
          <p:cNvSpPr/>
          <p:nvPr/>
        </p:nvSpPr>
        <p:spPr>
          <a:xfrm>
            <a:off x="548640" y="3840480"/>
            <a:ext cx="6675120" cy="822960"/>
          </a:xfrm>
          <a:prstGeom prst="roundRect">
            <a:avLst>
              <a:gd name="adj" fmla="val 13333"/>
            </a:avLst>
          </a:prstGeom>
          <a:solidFill>
            <a:srgbClr val="FDF3D7"/>
          </a:solidFill>
          <a:ln/>
        </p:spPr>
      </p:sp>
      <p:sp>
        <p:nvSpPr>
          <p:cNvPr id="18" name="icon-circle-26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-26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133088"/>
            <a:ext cx="237744" cy="237744"/>
          </a:xfrm>
          <a:prstGeom prst="rect">
            <a:avLst/>
          </a:prstGeom>
        </p:spPr>
      </p:pic>
      <p:sp>
        <p:nvSpPr>
          <p:cNvPr id="20" name="callout-text-264"/>
          <p:cNvSpPr txBox="1"/>
          <p:nvPr/>
        </p:nvSpPr>
        <p:spPr>
          <a:xfrm>
            <a:off x="1325880" y="391363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person sees the change after they </a:t>
            </a:r>
            <a:r>
              <a:rPr lang="en-US" sz="1500" b="1" dirty="0">
                <a:solidFill>
                  <a:schemeClr val="tx1"/>
                </a:solidFill>
              </a:rPr>
              <a:t>log out and log in again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1" name="callout-bg-265"/>
          <p:cNvSpPr/>
          <p:nvPr/>
        </p:nvSpPr>
        <p:spPr>
          <a:xfrm>
            <a:off x="548640" y="4846320"/>
            <a:ext cx="66751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2" name="icon-circle-266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26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230368"/>
            <a:ext cx="237744" cy="237744"/>
          </a:xfrm>
          <a:prstGeom prst="rect">
            <a:avLst/>
          </a:prstGeom>
        </p:spPr>
      </p:pic>
      <p:sp>
        <p:nvSpPr>
          <p:cNvPr id="24" name="callout-text-268"/>
          <p:cNvSpPr txBox="1"/>
          <p:nvPr/>
        </p:nvSpPr>
        <p:spPr>
          <a:xfrm>
            <a:off x="1325880" y="4919472"/>
            <a:ext cx="5715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Most people get their role </a:t>
            </a:r>
            <a:r>
              <a:rPr lang="en-US" sz="1500" b="1" dirty="0">
                <a:solidFill>
                  <a:schemeClr val="tx1"/>
                </a:solidFill>
              </a:rPr>
              <a:t>automatically</a:t>
            </a:r>
            <a:r>
              <a:rPr lang="en-US" sz="1500" dirty="0">
                <a:solidFill>
                  <a:schemeClr val="tx1"/>
                </a:solidFill>
              </a:rPr>
              <a:t> from their GBB Active Directory group. That link is set in </a:t>
            </a:r>
            <a:r>
              <a:rPr lang="en-US" sz="1500" b="1" dirty="0">
                <a:solidFill>
                  <a:schemeClr val="tx1"/>
                </a:solidFill>
              </a:rPr>
              <a:t>Settings › Directory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card-269"/>
          <p:cNvSpPr/>
          <p:nvPr/>
        </p:nvSpPr>
        <p:spPr>
          <a:xfrm>
            <a:off x="7680960" y="1828800"/>
            <a:ext cx="3959352" cy="4023360"/>
          </a:xfrm>
          <a:prstGeom prst="roundRect">
            <a:avLst>
              <a:gd name="adj" fmla="val 2771"/>
            </a:avLst>
          </a:prstGeom>
          <a:solidFill>
            <a:srgbClr val="F4F6F5"/>
          </a:solidFill>
          <a:ln/>
        </p:spPr>
      </p:sp>
      <p:sp>
        <p:nvSpPr>
          <p:cNvPr id="26" name="icon-circle-270"/>
          <p:cNvSpPr/>
          <p:nvPr/>
        </p:nvSpPr>
        <p:spPr>
          <a:xfrm>
            <a:off x="79095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27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61" y="2178101"/>
            <a:ext cx="261518" cy="261518"/>
          </a:xfrm>
          <a:prstGeom prst="rect">
            <a:avLst/>
          </a:prstGeom>
        </p:spPr>
      </p:pic>
      <p:sp>
        <p:nvSpPr>
          <p:cNvPr id="28" name="card-title-272"/>
          <p:cNvSpPr txBox="1"/>
          <p:nvPr/>
        </p:nvSpPr>
        <p:spPr>
          <a:xfrm>
            <a:off x="8549640" y="205740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Also on this page</a:t>
            </a:r>
            <a:endParaRPr lang="en-US" sz="1800" dirty="0"/>
          </a:p>
        </p:txBody>
      </p:sp>
      <p:sp>
        <p:nvSpPr>
          <p:cNvPr id="29" name="card-body-273"/>
          <p:cNvSpPr txBox="1"/>
          <p:nvPr/>
        </p:nvSpPr>
        <p:spPr>
          <a:xfrm>
            <a:off x="7909560" y="2697480"/>
            <a:ext cx="35021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New User: add a person.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View: see a person's details.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Deactivate: when someone leaves GBB. We never delete people, so their history stays.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label-274"/>
          <p:cNvSpPr txBox="1"/>
          <p:nvPr/>
        </p:nvSpPr>
        <p:spPr>
          <a:xfrm>
            <a:off x="5486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4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and notifications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Hands-on: you will send, approve and sign requests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request?</a:t>
            </a:r>
            <a:endParaRPr lang="en-US" sz="3200" dirty="0"/>
          </a:p>
        </p:txBody>
      </p:sp>
      <p:sp>
        <p:nvSpPr>
          <p:cNvPr id="3" name="path-label-275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4" name="path-chip-276"/>
          <p:cNvSpPr txBox="1"/>
          <p:nvPr/>
        </p:nvSpPr>
        <p:spPr>
          <a:xfrm>
            <a:off x="1325880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</a:t>
            </a:r>
            <a:endParaRPr lang="en-US" sz="1300" dirty="0"/>
          </a:p>
        </p:txBody>
      </p:sp>
      <p:sp>
        <p:nvSpPr>
          <p:cNvPr id="5" name="path-sep-277"/>
          <p:cNvSpPr txBox="1"/>
          <p:nvPr/>
        </p:nvSpPr>
        <p:spPr>
          <a:xfrm>
            <a:off x="2505456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6" name="path-chip-278"/>
          <p:cNvSpPr txBox="1"/>
          <p:nvPr/>
        </p:nvSpPr>
        <p:spPr>
          <a:xfrm>
            <a:off x="2779776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Requests</a:t>
            </a:r>
            <a:endParaRPr lang="en-US" sz="1300" dirty="0"/>
          </a:p>
        </p:txBody>
      </p:sp>
      <p:sp>
        <p:nvSpPr>
          <p:cNvPr id="7" name="flow-box-279"/>
          <p:cNvSpPr/>
          <p:nvPr/>
        </p:nvSpPr>
        <p:spPr>
          <a:xfrm>
            <a:off x="548640" y="196596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8" name="icon-circle-280"/>
          <p:cNvSpPr/>
          <p:nvPr/>
        </p:nvSpPr>
        <p:spPr>
          <a:xfrm>
            <a:off x="1371600" y="21488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con-28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219" y="2302459"/>
            <a:ext cx="332842" cy="332842"/>
          </a:xfrm>
          <a:prstGeom prst="rect">
            <a:avLst/>
          </a:prstGeom>
        </p:spPr>
      </p:pic>
      <p:sp>
        <p:nvSpPr>
          <p:cNvPr id="10" name="flow-title-282"/>
          <p:cNvSpPr txBox="1"/>
          <p:nvPr/>
        </p:nvSpPr>
        <p:spPr>
          <a:xfrm>
            <a:off x="54864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You send it</a:t>
            </a:r>
            <a:endParaRPr lang="en-US" sz="1700" dirty="0"/>
          </a:p>
        </p:txBody>
      </p:sp>
      <p:sp>
        <p:nvSpPr>
          <p:cNvPr id="11" name="flow-body-283"/>
          <p:cNvSpPr txBox="1"/>
          <p:nvPr/>
        </p:nvSpPr>
        <p:spPr>
          <a:xfrm>
            <a:off x="68580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Attach the document. Choose who acts, in order.</a:t>
            </a:r>
            <a:endParaRPr lang="en-US" sz="1300" dirty="0"/>
          </a:p>
        </p:txBody>
      </p:sp>
      <p:sp>
        <p:nvSpPr>
          <p:cNvPr id="12" name="flow-arrow-284"/>
          <p:cNvSpPr txBox="1"/>
          <p:nvPr/>
        </p:nvSpPr>
        <p:spPr>
          <a:xfrm>
            <a:off x="2834640" y="2514600"/>
            <a:ext cx="650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13" name="flow-box-285"/>
          <p:cNvSpPr/>
          <p:nvPr/>
        </p:nvSpPr>
        <p:spPr>
          <a:xfrm>
            <a:off x="3484778" y="196596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14" name="icon-circle-286"/>
          <p:cNvSpPr/>
          <p:nvPr/>
        </p:nvSpPr>
        <p:spPr>
          <a:xfrm>
            <a:off x="4307738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8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358" y="2302459"/>
            <a:ext cx="332842" cy="332842"/>
          </a:xfrm>
          <a:prstGeom prst="rect">
            <a:avLst/>
          </a:prstGeom>
        </p:spPr>
      </p:pic>
      <p:sp>
        <p:nvSpPr>
          <p:cNvPr id="16" name="flow-title-288"/>
          <p:cNvSpPr txBox="1"/>
          <p:nvPr/>
        </p:nvSpPr>
        <p:spPr>
          <a:xfrm>
            <a:off x="3484778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Person 1 acts</a:t>
            </a:r>
            <a:endParaRPr lang="en-US" sz="1700" dirty="0"/>
          </a:p>
        </p:txBody>
      </p:sp>
      <p:sp>
        <p:nvSpPr>
          <p:cNvPr id="17" name="flow-body-289"/>
          <p:cNvSpPr txBox="1"/>
          <p:nvPr/>
        </p:nvSpPr>
        <p:spPr>
          <a:xfrm>
            <a:off x="3621938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Approve, Sign or Reject</a:t>
            </a:r>
            <a:endParaRPr lang="en-US" sz="1300" dirty="0"/>
          </a:p>
        </p:txBody>
      </p:sp>
      <p:sp>
        <p:nvSpPr>
          <p:cNvPr id="18" name="flow-arrow-290"/>
          <p:cNvSpPr txBox="1"/>
          <p:nvPr/>
        </p:nvSpPr>
        <p:spPr>
          <a:xfrm>
            <a:off x="5770778" y="2514600"/>
            <a:ext cx="650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19" name="flow-box-291"/>
          <p:cNvSpPr/>
          <p:nvPr/>
        </p:nvSpPr>
        <p:spPr>
          <a:xfrm>
            <a:off x="6420917" y="196596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20" name="icon-circle-292"/>
          <p:cNvSpPr/>
          <p:nvPr/>
        </p:nvSpPr>
        <p:spPr>
          <a:xfrm>
            <a:off x="7243877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29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302459"/>
            <a:ext cx="332842" cy="332842"/>
          </a:xfrm>
          <a:prstGeom prst="rect">
            <a:avLst/>
          </a:prstGeom>
        </p:spPr>
      </p:pic>
      <p:sp>
        <p:nvSpPr>
          <p:cNvPr id="22" name="flow-title-294"/>
          <p:cNvSpPr txBox="1"/>
          <p:nvPr/>
        </p:nvSpPr>
        <p:spPr>
          <a:xfrm>
            <a:off x="6420917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Person 2 acts</a:t>
            </a:r>
            <a:endParaRPr lang="en-US" sz="1700" dirty="0"/>
          </a:p>
        </p:txBody>
      </p:sp>
      <p:sp>
        <p:nvSpPr>
          <p:cNvPr id="23" name="flow-body-295"/>
          <p:cNvSpPr txBox="1"/>
          <p:nvPr/>
        </p:nvSpPr>
        <p:spPr>
          <a:xfrm>
            <a:off x="6558077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Approve, Sign or Reject</a:t>
            </a:r>
            <a:endParaRPr lang="en-US" sz="1300" dirty="0"/>
          </a:p>
        </p:txBody>
      </p:sp>
      <p:sp>
        <p:nvSpPr>
          <p:cNvPr id="24" name="flow-arrow-296"/>
          <p:cNvSpPr txBox="1"/>
          <p:nvPr/>
        </p:nvSpPr>
        <p:spPr>
          <a:xfrm>
            <a:off x="8706917" y="2514600"/>
            <a:ext cx="650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25" name="flow-box-297"/>
          <p:cNvSpPr/>
          <p:nvPr/>
        </p:nvSpPr>
        <p:spPr>
          <a:xfrm>
            <a:off x="9357055" y="196596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/>
        </p:spPr>
      </p:sp>
      <p:sp>
        <p:nvSpPr>
          <p:cNvPr id="26" name="icon-circle-298"/>
          <p:cNvSpPr/>
          <p:nvPr/>
        </p:nvSpPr>
        <p:spPr>
          <a:xfrm>
            <a:off x="10180015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con-29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3634" y="2302459"/>
            <a:ext cx="332842" cy="332842"/>
          </a:xfrm>
          <a:prstGeom prst="rect">
            <a:avLst/>
          </a:prstGeom>
        </p:spPr>
      </p:pic>
      <p:sp>
        <p:nvSpPr>
          <p:cNvPr id="28" name="flow-title-300"/>
          <p:cNvSpPr txBox="1"/>
          <p:nvPr/>
        </p:nvSpPr>
        <p:spPr>
          <a:xfrm>
            <a:off x="9357055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Done</a:t>
            </a:r>
            <a:endParaRPr lang="en-US" sz="1700" dirty="0"/>
          </a:p>
        </p:txBody>
      </p:sp>
      <p:sp>
        <p:nvSpPr>
          <p:cNvPr id="29" name="flow-body-301"/>
          <p:cNvSpPr txBox="1"/>
          <p:nvPr/>
        </p:nvSpPr>
        <p:spPr>
          <a:xfrm>
            <a:off x="9494215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You get a PDF with every signature</a:t>
            </a:r>
            <a:endParaRPr lang="en-US" sz="1300" dirty="0"/>
          </a:p>
        </p:txBody>
      </p:sp>
      <p:sp>
        <p:nvSpPr>
          <p:cNvPr id="30" name="flow-reject"/>
          <p:cNvSpPr txBox="1"/>
          <p:nvPr/>
        </p:nvSpPr>
        <p:spPr>
          <a:xfrm>
            <a:off x="548640" y="41605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chemeClr val="accent4"/>
                </a:solidFill>
              </a:rPr>
              <a:t>If anyone clicks Reject, the request stops and comes back to you with their reason.</a:t>
            </a:r>
            <a:endParaRPr lang="en-US" sz="1500" dirty="0"/>
          </a:p>
        </p:txBody>
      </p:sp>
      <p:sp>
        <p:nvSpPr>
          <p:cNvPr id="31" name="card-302"/>
          <p:cNvSpPr/>
          <p:nvPr/>
        </p:nvSpPr>
        <p:spPr>
          <a:xfrm>
            <a:off x="548640" y="4572000"/>
            <a:ext cx="54864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2" name="card-title-303"/>
          <p:cNvSpPr txBox="1"/>
          <p:nvPr/>
        </p:nvSpPr>
        <p:spPr>
          <a:xfrm>
            <a:off x="77724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tabs on the Requests page</a:t>
            </a:r>
            <a:endParaRPr lang="en-US" sz="1600" dirty="0"/>
          </a:p>
        </p:txBody>
      </p:sp>
      <p:sp>
        <p:nvSpPr>
          <p:cNvPr id="33" name="card-body-304"/>
          <p:cNvSpPr txBox="1"/>
          <p:nvPr/>
        </p:nvSpPr>
        <p:spPr>
          <a:xfrm>
            <a:off x="77724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 action</a:t>
            </a:r>
            <a:r>
              <a:rPr lang="en-US" sz="1500" dirty="0">
                <a:solidFill>
                  <a:schemeClr val="tx1"/>
                </a:solidFill>
              </a:rPr>
              <a:t>: waiting for you (red number).  </a:t>
            </a:r>
            <a:r>
              <a:rPr lang="en-US" sz="1500" b="1" dirty="0">
                <a:solidFill>
                  <a:schemeClr val="tx1"/>
                </a:solidFill>
              </a:rPr>
              <a:t>Requests</a:t>
            </a:r>
            <a:r>
              <a:rPr lang="en-US" sz="1500" dirty="0">
                <a:solidFill>
                  <a:schemeClr val="tx1"/>
                </a:solidFill>
              </a:rPr>
              <a:t>: ones you sent or were part of.</a:t>
            </a:r>
            <a:endParaRPr lang="en-US" sz="1500" dirty="0"/>
          </a:p>
        </p:txBody>
      </p:sp>
      <p:sp>
        <p:nvSpPr>
          <p:cNvPr id="34" name="card-305"/>
          <p:cNvSpPr/>
          <p:nvPr/>
        </p:nvSpPr>
        <p:spPr>
          <a:xfrm>
            <a:off x="6217920" y="4572000"/>
            <a:ext cx="5422392" cy="1508760"/>
          </a:xfrm>
          <a:prstGeom prst="roundRect">
            <a:avLst>
              <a:gd name="adj" fmla="val 7273"/>
            </a:avLst>
          </a:prstGeom>
          <a:solidFill>
            <a:srgbClr val="FDF3D7"/>
          </a:solidFill>
          <a:ln/>
        </p:spPr>
      </p:sp>
      <p:sp>
        <p:nvSpPr>
          <p:cNvPr id="35" name="card-title-306"/>
          <p:cNvSpPr txBox="1"/>
          <p:nvPr/>
        </p:nvSpPr>
        <p:spPr>
          <a:xfrm>
            <a:off x="6446520" y="480060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Don't mix it up</a:t>
            </a:r>
            <a:endParaRPr lang="en-US" sz="1600" dirty="0"/>
          </a:p>
        </p:txBody>
      </p:sp>
      <p:sp>
        <p:nvSpPr>
          <p:cNvPr id="36" name="card-body-307"/>
          <p:cNvSpPr txBox="1"/>
          <p:nvPr/>
        </p:nvSpPr>
        <p:spPr>
          <a:xfrm>
            <a:off x="6446520" y="5303520"/>
            <a:ext cx="4965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Review/Approval</a:t>
            </a:r>
            <a:r>
              <a:rPr lang="en-US" sz="1500" dirty="0">
                <a:solidFill>
                  <a:schemeClr val="tx1"/>
                </a:solidFill>
              </a:rPr>
              <a:t> (also under Workflow) is for formal audit documents. We use it on Wednesday.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get into groups of three</a:t>
            </a:r>
            <a:endParaRPr lang="en-US" sz="3200" dirty="0"/>
          </a:p>
        </p:txBody>
      </p:sp>
      <p:sp>
        <p:nvSpPr>
          <p:cNvPr id="3" name="tag-308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erson-card-309"/>
          <p:cNvSpPr/>
          <p:nvPr/>
        </p:nvSpPr>
        <p:spPr>
          <a:xfrm>
            <a:off x="548640" y="141732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tx2"/>
          </a:solidFill>
          <a:ln/>
        </p:spPr>
      </p:sp>
      <p:sp>
        <p:nvSpPr>
          <p:cNvPr id="5" name="person-letter-310"/>
          <p:cNvSpPr txBox="1"/>
          <p:nvPr/>
        </p:nvSpPr>
        <p:spPr>
          <a:xfrm>
            <a:off x="1801368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/>
                </a:solidFill>
              </a:rPr>
              <a:t>A</a:t>
            </a:r>
            <a:endParaRPr lang="en-US" sz="4000" dirty="0"/>
          </a:p>
        </p:txBody>
      </p:sp>
      <p:sp>
        <p:nvSpPr>
          <p:cNvPr id="6" name="person-title-311"/>
          <p:cNvSpPr txBox="1"/>
          <p:nvPr/>
        </p:nvSpPr>
        <p:spPr>
          <a:xfrm>
            <a:off x="73152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bg1"/>
                </a:solidFill>
              </a:rPr>
              <a:t>Person A: The sender</a:t>
            </a:r>
            <a:endParaRPr lang="en-US" sz="1900" dirty="0"/>
          </a:p>
        </p:txBody>
      </p:sp>
      <p:sp>
        <p:nvSpPr>
          <p:cNvPr id="7" name="person-body-312"/>
          <p:cNvSpPr txBox="1"/>
          <p:nvPr/>
        </p:nvSpPr>
        <p:spPr>
          <a:xfrm>
            <a:off x="822960" y="3383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Creates the request and attaches a PDF. Gets the signed copy at the end.</a:t>
            </a:r>
            <a:endParaRPr lang="en-US" sz="1500" dirty="0"/>
          </a:p>
        </p:txBody>
      </p:sp>
      <p:sp>
        <p:nvSpPr>
          <p:cNvPr id="8" name="person-card-313"/>
          <p:cNvSpPr/>
          <p:nvPr/>
        </p:nvSpPr>
        <p:spPr>
          <a:xfrm>
            <a:off x="4297680" y="141732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9" name="person-letter-314"/>
          <p:cNvSpPr txBox="1"/>
          <p:nvPr/>
        </p:nvSpPr>
        <p:spPr>
          <a:xfrm>
            <a:off x="5550408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B</a:t>
            </a:r>
            <a:endParaRPr lang="en-US" sz="4000" dirty="0"/>
          </a:p>
        </p:txBody>
      </p:sp>
      <p:sp>
        <p:nvSpPr>
          <p:cNvPr id="10" name="person-title-315"/>
          <p:cNvSpPr txBox="1"/>
          <p:nvPr/>
        </p:nvSpPr>
        <p:spPr>
          <a:xfrm>
            <a:off x="448056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Person B: Acts first</a:t>
            </a:r>
            <a:endParaRPr lang="en-US" sz="1900" dirty="0"/>
          </a:p>
        </p:txBody>
      </p:sp>
      <p:sp>
        <p:nvSpPr>
          <p:cNvPr id="11" name="person-body-316"/>
          <p:cNvSpPr txBox="1"/>
          <p:nvPr/>
        </p:nvSpPr>
        <p:spPr>
          <a:xfrm>
            <a:off x="4572000" y="3383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Gets a notification and an email, then clicks Approve.</a:t>
            </a:r>
            <a:endParaRPr lang="en-US" sz="1500" dirty="0"/>
          </a:p>
        </p:txBody>
      </p:sp>
      <p:sp>
        <p:nvSpPr>
          <p:cNvPr id="12" name="person-card-317"/>
          <p:cNvSpPr/>
          <p:nvPr/>
        </p:nvSpPr>
        <p:spPr>
          <a:xfrm>
            <a:off x="8046720" y="141732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13" name="person-letter-318"/>
          <p:cNvSpPr txBox="1"/>
          <p:nvPr/>
        </p:nvSpPr>
        <p:spPr>
          <a:xfrm>
            <a:off x="9299448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C</a:t>
            </a:r>
            <a:endParaRPr lang="en-US" sz="4000" dirty="0"/>
          </a:p>
        </p:txBody>
      </p:sp>
      <p:sp>
        <p:nvSpPr>
          <p:cNvPr id="14" name="person-title-319"/>
          <p:cNvSpPr txBox="1"/>
          <p:nvPr/>
        </p:nvSpPr>
        <p:spPr>
          <a:xfrm>
            <a:off x="822960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2"/>
                </a:solidFill>
              </a:rPr>
              <a:t>Person C: Acts second</a:t>
            </a:r>
            <a:endParaRPr lang="en-US" sz="1900" dirty="0"/>
          </a:p>
        </p:txBody>
      </p:sp>
      <p:sp>
        <p:nvSpPr>
          <p:cNvPr id="15" name="person-body-320"/>
          <p:cNvSpPr txBox="1"/>
          <p:nvPr/>
        </p:nvSpPr>
        <p:spPr>
          <a:xfrm>
            <a:off x="8321040" y="3383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Gets it after B, then signs with their saved signature.</a:t>
            </a:r>
            <a:endParaRPr lang="en-US" sz="1500" dirty="0"/>
          </a:p>
        </p:txBody>
      </p:sp>
      <p:sp>
        <p:nvSpPr>
          <p:cNvPr id="16" name="callout-bg-321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icon-circle-322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3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550408"/>
            <a:ext cx="237744" cy="237744"/>
          </a:xfrm>
          <a:prstGeom prst="rect">
            <a:avLst/>
          </a:prstGeom>
        </p:spPr>
      </p:pic>
      <p:sp>
        <p:nvSpPr>
          <p:cNvPr id="19" name="callout-text-324"/>
          <p:cNvSpPr txBox="1"/>
          <p:nvPr/>
        </p:nvSpPr>
        <p:spPr>
          <a:xfrm>
            <a:off x="1325880" y="5330952"/>
            <a:ext cx="10134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Have a </a:t>
            </a:r>
            <a:r>
              <a:rPr lang="en-US" sz="1500" b="1" dirty="0">
                <a:solidFill>
                  <a:schemeClr val="tx1"/>
                </a:solidFill>
              </a:rPr>
              <a:t>small PDF</a:t>
            </a:r>
            <a:r>
              <a:rPr lang="en-US" sz="1500" dirty="0">
                <a:solidFill>
                  <a:schemeClr val="tx1"/>
                </a:solidFill>
              </a:rPr>
              <a:t> ready on your laptop. Person C: check your signature is saved (Profile › Signature).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A: send the request</a:t>
            </a:r>
            <a:endParaRPr lang="en-US" sz="3200" dirty="0"/>
          </a:p>
        </p:txBody>
      </p:sp>
      <p:sp>
        <p:nvSpPr>
          <p:cNvPr id="3" name="tag-325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ath-label-326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327"/>
          <p:cNvSpPr txBox="1"/>
          <p:nvPr/>
        </p:nvSpPr>
        <p:spPr>
          <a:xfrm>
            <a:off x="1325880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</a:t>
            </a:r>
            <a:endParaRPr lang="en-US" sz="1300" dirty="0"/>
          </a:p>
        </p:txBody>
      </p:sp>
      <p:sp>
        <p:nvSpPr>
          <p:cNvPr id="6" name="path-sep-328"/>
          <p:cNvSpPr txBox="1"/>
          <p:nvPr/>
        </p:nvSpPr>
        <p:spPr>
          <a:xfrm>
            <a:off x="2505456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329"/>
          <p:cNvSpPr txBox="1"/>
          <p:nvPr/>
        </p:nvSpPr>
        <p:spPr>
          <a:xfrm>
            <a:off x="2779776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Requests</a:t>
            </a:r>
            <a:endParaRPr lang="en-US" sz="1300" dirty="0"/>
          </a:p>
        </p:txBody>
      </p:sp>
      <p:sp>
        <p:nvSpPr>
          <p:cNvPr id="8" name="path-sep-330"/>
          <p:cNvSpPr txBox="1"/>
          <p:nvPr/>
        </p:nvSpPr>
        <p:spPr>
          <a:xfrm>
            <a:off x="395935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path-chip-331"/>
          <p:cNvSpPr txBox="1"/>
          <p:nvPr/>
        </p:nvSpPr>
        <p:spPr>
          <a:xfrm>
            <a:off x="4233672" y="1207008"/>
            <a:ext cx="1467612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New request</a:t>
            </a:r>
            <a:endParaRPr lang="en-US" sz="1300" dirty="0"/>
          </a:p>
        </p:txBody>
      </p:sp>
      <p:sp>
        <p:nvSpPr>
          <p:cNvPr id="10" name="step-dot-332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333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tep-text-334"/>
          <p:cNvSpPr txBox="1"/>
          <p:nvPr/>
        </p:nvSpPr>
        <p:spPr>
          <a:xfrm>
            <a:off x="1143000" y="1828800"/>
            <a:ext cx="690372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</a:t>
            </a:r>
            <a:r>
              <a:rPr lang="en-US" sz="1800" dirty="0">
                <a:solidFill>
                  <a:schemeClr val="tx1"/>
                </a:solidFill>
              </a:rPr>
              <a:t>: type  Day 1 practice - your name</a:t>
            </a:r>
            <a:endParaRPr lang="en-US" sz="1800" dirty="0"/>
          </a:p>
        </p:txBody>
      </p:sp>
      <p:sp>
        <p:nvSpPr>
          <p:cNvPr id="13" name="step-dot-335"/>
          <p:cNvSpPr/>
          <p:nvPr/>
        </p:nvSpPr>
        <p:spPr>
          <a:xfrm>
            <a:off x="548640" y="25054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336"/>
          <p:cNvSpPr txBox="1"/>
          <p:nvPr/>
        </p:nvSpPr>
        <p:spPr>
          <a:xfrm>
            <a:off x="54864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tep-text-337"/>
          <p:cNvSpPr txBox="1"/>
          <p:nvPr/>
        </p:nvSpPr>
        <p:spPr>
          <a:xfrm>
            <a:off x="1143000" y="2487168"/>
            <a:ext cx="690372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Description</a:t>
            </a:r>
            <a:r>
              <a:rPr lang="en-US" sz="1800" dirty="0">
                <a:solidFill>
                  <a:schemeClr val="tx1"/>
                </a:solidFill>
              </a:rPr>
              <a:t>: one line, for example "Please approve my training memo".</a:t>
            </a:r>
            <a:endParaRPr lang="en-US" sz="1800" dirty="0"/>
          </a:p>
        </p:txBody>
      </p:sp>
      <p:sp>
        <p:nvSpPr>
          <p:cNvPr id="16" name="step-dot-338"/>
          <p:cNvSpPr/>
          <p:nvPr/>
        </p:nvSpPr>
        <p:spPr>
          <a:xfrm>
            <a:off x="548640" y="31638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-num-339"/>
          <p:cNvSpPr txBox="1"/>
          <p:nvPr/>
        </p:nvSpPr>
        <p:spPr>
          <a:xfrm>
            <a:off x="54864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text-340"/>
          <p:cNvSpPr txBox="1"/>
          <p:nvPr/>
        </p:nvSpPr>
        <p:spPr>
          <a:xfrm>
            <a:off x="1143000" y="3145536"/>
            <a:ext cx="690372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Recipients (in order)</a:t>
            </a:r>
            <a:r>
              <a:rPr lang="en-US" sz="1800" dirty="0">
                <a:solidFill>
                  <a:schemeClr val="tx1"/>
                </a:solidFill>
              </a:rPr>
              <a:t>: in </a:t>
            </a:r>
            <a:r>
              <a:rPr lang="en-US" sz="1800" b="1" dirty="0">
                <a:solidFill>
                  <a:schemeClr val="accent1"/>
                </a:solidFill>
              </a:rPr>
              <a:t>Search people to add…</a:t>
            </a:r>
            <a:r>
              <a:rPr lang="en-US" sz="1800" dirty="0">
                <a:solidFill>
                  <a:schemeClr val="tx1"/>
                </a:solidFill>
              </a:rPr>
              <a:t> add </a:t>
            </a:r>
            <a:r>
              <a:rPr lang="en-US" sz="1800" b="1" dirty="0">
                <a:solidFill>
                  <a:schemeClr val="accent1"/>
                </a:solidFill>
              </a:rPr>
              <a:t>B first</a:t>
            </a:r>
            <a:r>
              <a:rPr lang="en-US" sz="1800" dirty="0">
                <a:solidFill>
                  <a:schemeClr val="tx1"/>
                </a:solidFill>
              </a:rPr>
              <a:t>, then </a:t>
            </a:r>
            <a:r>
              <a:rPr lang="en-US" sz="1800" b="1" dirty="0">
                <a:solidFill>
                  <a:schemeClr val="accent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. Use the arrows to change the order.</a:t>
            </a:r>
            <a:endParaRPr lang="en-US" sz="1800" dirty="0"/>
          </a:p>
        </p:txBody>
      </p:sp>
      <p:sp>
        <p:nvSpPr>
          <p:cNvPr id="19" name="step-dot-341"/>
          <p:cNvSpPr/>
          <p:nvPr/>
        </p:nvSpPr>
        <p:spPr>
          <a:xfrm>
            <a:off x="548640" y="4134917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-num-342"/>
          <p:cNvSpPr txBox="1"/>
          <p:nvPr/>
        </p:nvSpPr>
        <p:spPr>
          <a:xfrm>
            <a:off x="548640" y="413491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-text-343"/>
          <p:cNvSpPr txBox="1"/>
          <p:nvPr/>
        </p:nvSpPr>
        <p:spPr>
          <a:xfrm>
            <a:off x="1143000" y="4116629"/>
            <a:ext cx="690372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Attachments (optional)</a:t>
            </a:r>
            <a:r>
              <a:rPr lang="en-US" sz="1800" dirty="0">
                <a:solidFill>
                  <a:schemeClr val="tx1"/>
                </a:solidFill>
              </a:rPr>
              <a:t>: choose your small PDF.</a:t>
            </a:r>
            <a:endParaRPr lang="en-US" sz="1800" dirty="0"/>
          </a:p>
        </p:txBody>
      </p:sp>
      <p:sp>
        <p:nvSpPr>
          <p:cNvPr id="22" name="step-dot-344"/>
          <p:cNvSpPr/>
          <p:nvPr/>
        </p:nvSpPr>
        <p:spPr>
          <a:xfrm>
            <a:off x="548640" y="4793285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-num-345"/>
          <p:cNvSpPr txBox="1"/>
          <p:nvPr/>
        </p:nvSpPr>
        <p:spPr>
          <a:xfrm>
            <a:off x="548640" y="479328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tep-text-346"/>
          <p:cNvSpPr txBox="1"/>
          <p:nvPr/>
        </p:nvSpPr>
        <p:spPr>
          <a:xfrm>
            <a:off x="1143000" y="4774997"/>
            <a:ext cx="690372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Create request</a:t>
            </a:r>
            <a:r>
              <a:rPr lang="en-US" sz="1800" dirty="0">
                <a:solidFill>
                  <a:schemeClr val="tx1"/>
                </a:solidFill>
              </a:rPr>
              <a:t>. You see </a:t>
            </a:r>
            <a:r>
              <a:rPr lang="en-US" sz="1800" b="1" dirty="0">
                <a:solidFill>
                  <a:schemeClr val="accent1"/>
                </a:solidFill>
              </a:rPr>
              <a:t>Request sent</a:t>
            </a:r>
            <a:r>
              <a:rPr lang="en-US" sz="1800" dirty="0">
                <a:solidFill>
                  <a:schemeClr val="tx1"/>
                </a:solidFill>
              </a:rPr>
              <a:t>. Click </a:t>
            </a:r>
            <a:r>
              <a:rPr lang="en-US" sz="1800" b="1" dirty="0">
                <a:solidFill>
                  <a:schemeClr val="accent1"/>
                </a:solidFill>
              </a:rPr>
              <a:t>Open request</a:t>
            </a:r>
            <a:r>
              <a:rPr lang="en-US" sz="1800" dirty="0">
                <a:solidFill>
                  <a:schemeClr val="tx1"/>
                </a:solidFill>
              </a:rPr>
              <a:t> to follow it.</a:t>
            </a:r>
            <a:endParaRPr lang="en-US" sz="1800" dirty="0"/>
          </a:p>
        </p:txBody>
      </p:sp>
      <p:sp>
        <p:nvSpPr>
          <p:cNvPr id="25" name="card-347"/>
          <p:cNvSpPr/>
          <p:nvPr/>
        </p:nvSpPr>
        <p:spPr>
          <a:xfrm>
            <a:off x="8412480" y="182880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DF3D7"/>
          </a:solidFill>
          <a:ln/>
        </p:spPr>
      </p:sp>
      <p:sp>
        <p:nvSpPr>
          <p:cNvPr id="26" name="icon-circle-348"/>
          <p:cNvSpPr/>
          <p:nvPr/>
        </p:nvSpPr>
        <p:spPr>
          <a:xfrm>
            <a:off x="8641080" y="2057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34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2178101"/>
            <a:ext cx="261518" cy="261518"/>
          </a:xfrm>
          <a:prstGeom prst="rect">
            <a:avLst/>
          </a:prstGeom>
        </p:spPr>
      </p:pic>
      <p:sp>
        <p:nvSpPr>
          <p:cNvPr id="28" name="card-title-350"/>
          <p:cNvSpPr txBox="1"/>
          <p:nvPr/>
        </p:nvSpPr>
        <p:spPr>
          <a:xfrm>
            <a:off x="9281160" y="205740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Rules</a:t>
            </a:r>
            <a:endParaRPr lang="en-US" sz="1800" dirty="0"/>
          </a:p>
        </p:txBody>
      </p:sp>
      <p:sp>
        <p:nvSpPr>
          <p:cNvPr id="29" name="card-body-351"/>
          <p:cNvSpPr txBox="1"/>
          <p:nvPr/>
        </p:nvSpPr>
        <p:spPr>
          <a:xfrm>
            <a:off x="8641080" y="2697480"/>
            <a:ext cx="27706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You cannot add yourself.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order matters: B acts first, then 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 to 20 people per request.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Signed copies are made for PDF attachments only.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B: approve it</a:t>
            </a:r>
            <a:endParaRPr lang="en-US" sz="3200" dirty="0"/>
          </a:p>
        </p:txBody>
      </p:sp>
      <p:sp>
        <p:nvSpPr>
          <p:cNvPr id="3" name="tag-352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ath-label-353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354"/>
          <p:cNvSpPr txBox="1"/>
          <p:nvPr/>
        </p:nvSpPr>
        <p:spPr>
          <a:xfrm>
            <a:off x="1325880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</a:t>
            </a:r>
            <a:endParaRPr lang="en-US" sz="1300" dirty="0"/>
          </a:p>
        </p:txBody>
      </p:sp>
      <p:sp>
        <p:nvSpPr>
          <p:cNvPr id="6" name="path-sep-355"/>
          <p:cNvSpPr txBox="1"/>
          <p:nvPr/>
        </p:nvSpPr>
        <p:spPr>
          <a:xfrm>
            <a:off x="2505456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356"/>
          <p:cNvSpPr txBox="1"/>
          <p:nvPr/>
        </p:nvSpPr>
        <p:spPr>
          <a:xfrm>
            <a:off x="2779776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Requests</a:t>
            </a:r>
            <a:endParaRPr lang="en-US" sz="1300" dirty="0"/>
          </a:p>
        </p:txBody>
      </p:sp>
      <p:sp>
        <p:nvSpPr>
          <p:cNvPr id="8" name="path-sep-357"/>
          <p:cNvSpPr txBox="1"/>
          <p:nvPr/>
        </p:nvSpPr>
        <p:spPr>
          <a:xfrm>
            <a:off x="395935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path-chip-358"/>
          <p:cNvSpPr txBox="1"/>
          <p:nvPr/>
        </p:nvSpPr>
        <p:spPr>
          <a:xfrm>
            <a:off x="4233672" y="1207008"/>
            <a:ext cx="127558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 action</a:t>
            </a:r>
            <a:endParaRPr lang="en-US" sz="1300" dirty="0"/>
          </a:p>
        </p:txBody>
      </p:sp>
      <p:sp>
        <p:nvSpPr>
          <p:cNvPr id="10" name="step-dot-359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360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tep-text-361"/>
          <p:cNvSpPr txBox="1"/>
          <p:nvPr/>
        </p:nvSpPr>
        <p:spPr>
          <a:xfrm>
            <a:off x="1143000" y="1828800"/>
            <a:ext cx="635508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Watch the bell. Within about a minute you get </a:t>
            </a:r>
            <a:r>
              <a:rPr lang="en-US" sz="1800" b="1" dirty="0">
                <a:solidFill>
                  <a:schemeClr val="accent1"/>
                </a:solidFill>
              </a:rPr>
              <a:t>Request awaiting your action</a:t>
            </a:r>
            <a:r>
              <a:rPr lang="en-US" sz="1800" dirty="0">
                <a:solidFill>
                  <a:schemeClr val="tx1"/>
                </a:solidFill>
              </a:rPr>
              <a:t>. Check your email too.</a:t>
            </a:r>
            <a:endParaRPr lang="en-US" sz="1800" dirty="0"/>
          </a:p>
        </p:txBody>
      </p:sp>
      <p:sp>
        <p:nvSpPr>
          <p:cNvPr id="13" name="step-dot-362"/>
          <p:cNvSpPr/>
          <p:nvPr/>
        </p:nvSpPr>
        <p:spPr>
          <a:xfrm>
            <a:off x="548640" y="2873045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363"/>
          <p:cNvSpPr txBox="1"/>
          <p:nvPr/>
        </p:nvSpPr>
        <p:spPr>
          <a:xfrm>
            <a:off x="548640" y="287304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tep-text-364"/>
          <p:cNvSpPr txBox="1"/>
          <p:nvPr/>
        </p:nvSpPr>
        <p:spPr>
          <a:xfrm>
            <a:off x="1143000" y="2854757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Go to </a:t>
            </a:r>
            <a:r>
              <a:rPr lang="en-US" sz="1800" b="1" dirty="0">
                <a:solidFill>
                  <a:schemeClr val="accent1"/>
                </a:solidFill>
              </a:rPr>
              <a:t>To action</a:t>
            </a:r>
            <a:r>
              <a:rPr lang="en-US" sz="1800" dirty="0">
                <a:solidFill>
                  <a:schemeClr val="tx1"/>
                </a:solidFill>
              </a:rPr>
              <a:t> and open the request (or click the notification).</a:t>
            </a:r>
            <a:endParaRPr lang="en-US" sz="1800" dirty="0"/>
          </a:p>
        </p:txBody>
      </p:sp>
      <p:sp>
        <p:nvSpPr>
          <p:cNvPr id="16" name="step-dot-365"/>
          <p:cNvSpPr/>
          <p:nvPr/>
        </p:nvSpPr>
        <p:spPr>
          <a:xfrm>
            <a:off x="548640" y="3586277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-num-366"/>
          <p:cNvSpPr txBox="1"/>
          <p:nvPr/>
        </p:nvSpPr>
        <p:spPr>
          <a:xfrm>
            <a:off x="548640" y="358627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text-367"/>
          <p:cNvSpPr txBox="1"/>
          <p:nvPr/>
        </p:nvSpPr>
        <p:spPr>
          <a:xfrm>
            <a:off x="1143000" y="3567989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Read it and open the attachment.</a:t>
            </a:r>
            <a:endParaRPr lang="en-US" sz="1800" dirty="0"/>
          </a:p>
        </p:txBody>
      </p:sp>
      <p:sp>
        <p:nvSpPr>
          <p:cNvPr id="19" name="step-dot-368"/>
          <p:cNvSpPr/>
          <p:nvPr/>
        </p:nvSpPr>
        <p:spPr>
          <a:xfrm>
            <a:off x="548640" y="429950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-num-369"/>
          <p:cNvSpPr txBox="1"/>
          <p:nvPr/>
        </p:nvSpPr>
        <p:spPr>
          <a:xfrm>
            <a:off x="548640" y="42995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-text-370"/>
          <p:cNvSpPr txBox="1"/>
          <p:nvPr/>
        </p:nvSpPr>
        <p:spPr>
          <a:xfrm>
            <a:off x="1143000" y="4281221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Under </a:t>
            </a:r>
            <a:r>
              <a:rPr lang="en-US" sz="1800" b="1" dirty="0">
                <a:solidFill>
                  <a:schemeClr val="accent1"/>
                </a:solidFill>
              </a:rPr>
              <a:t>It's your turn</a:t>
            </a:r>
            <a:r>
              <a:rPr lang="en-US" sz="1800" dirty="0">
                <a:solidFill>
                  <a:schemeClr val="tx1"/>
                </a:solidFill>
              </a:rPr>
              <a:t>, click </a:t>
            </a:r>
            <a:r>
              <a:rPr lang="en-US" sz="1800" b="1" dirty="0">
                <a:solidFill>
                  <a:schemeClr val="accent1"/>
                </a:solidFill>
              </a:rPr>
              <a:t>Approve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2" name="callout-bg-371"/>
          <p:cNvSpPr/>
          <p:nvPr/>
        </p:nvSpPr>
        <p:spPr>
          <a:xfrm>
            <a:off x="548640" y="4983480"/>
            <a:ext cx="69494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3" name="icon-circle-372"/>
          <p:cNvSpPr/>
          <p:nvPr/>
        </p:nvSpPr>
        <p:spPr>
          <a:xfrm>
            <a:off x="731520" y="51892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37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298948"/>
            <a:ext cx="237744" cy="237744"/>
          </a:xfrm>
          <a:prstGeom prst="rect">
            <a:avLst/>
          </a:prstGeom>
        </p:spPr>
      </p:pic>
      <p:sp>
        <p:nvSpPr>
          <p:cNvPr id="25" name="callout-text-374"/>
          <p:cNvSpPr txBox="1"/>
          <p:nvPr/>
        </p:nvSpPr>
        <p:spPr>
          <a:xfrm>
            <a:off x="1325880" y="5056632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Want to leave a note? Type it in the </a:t>
            </a:r>
            <a:r>
              <a:rPr lang="en-US" sz="1500" b="1" dirty="0">
                <a:solidFill>
                  <a:schemeClr val="tx1"/>
                </a:solidFill>
              </a:rPr>
              <a:t>Activity</a:t>
            </a:r>
            <a:r>
              <a:rPr lang="en-US" sz="1500" dirty="0">
                <a:solidFill>
                  <a:schemeClr val="tx1"/>
                </a:solidFill>
              </a:rPr>
              <a:t> box and click </a:t>
            </a:r>
            <a:r>
              <a:rPr lang="en-US" sz="1500" b="1" dirty="0">
                <a:solidFill>
                  <a:schemeClr val="tx1"/>
                </a:solidFill>
              </a:rPr>
              <a:t>Comment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6" name="card-375"/>
          <p:cNvSpPr/>
          <p:nvPr/>
        </p:nvSpPr>
        <p:spPr>
          <a:xfrm>
            <a:off x="7863840" y="1828800"/>
            <a:ext cx="3776472" cy="402336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</p:spPr>
      </p:sp>
      <p:sp>
        <p:nvSpPr>
          <p:cNvPr id="27" name="icon-circle-376"/>
          <p:cNvSpPr/>
          <p:nvPr/>
        </p:nvSpPr>
        <p:spPr>
          <a:xfrm>
            <a:off x="80924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37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41" y="2178101"/>
            <a:ext cx="261518" cy="261518"/>
          </a:xfrm>
          <a:prstGeom prst="rect">
            <a:avLst/>
          </a:prstGeom>
        </p:spPr>
      </p:pic>
      <p:sp>
        <p:nvSpPr>
          <p:cNvPr id="29" name="card-title-378"/>
          <p:cNvSpPr txBox="1"/>
          <p:nvPr/>
        </p:nvSpPr>
        <p:spPr>
          <a:xfrm>
            <a:off x="8732520" y="20574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 you approve</a:t>
            </a:r>
            <a:endParaRPr lang="en-US" sz="1800" dirty="0"/>
          </a:p>
        </p:txBody>
      </p:sp>
      <p:sp>
        <p:nvSpPr>
          <p:cNvPr id="30" name="card-body-379"/>
          <p:cNvSpPr txBox="1"/>
          <p:nvPr/>
        </p:nvSpPr>
        <p:spPr>
          <a:xfrm>
            <a:off x="8092440" y="2697480"/>
            <a:ext cx="3319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request moves to C automatically.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 gets a notification and an email.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approval is recorded with the time.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C: sign it</a:t>
            </a:r>
            <a:endParaRPr lang="en-US" sz="3200" dirty="0"/>
          </a:p>
        </p:txBody>
      </p:sp>
      <p:sp>
        <p:nvSpPr>
          <p:cNvPr id="3" name="tag-380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path-label-381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382"/>
          <p:cNvSpPr txBox="1"/>
          <p:nvPr/>
        </p:nvSpPr>
        <p:spPr>
          <a:xfrm>
            <a:off x="1325880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Workflow</a:t>
            </a:r>
            <a:endParaRPr lang="en-US" sz="1300" dirty="0"/>
          </a:p>
        </p:txBody>
      </p:sp>
      <p:sp>
        <p:nvSpPr>
          <p:cNvPr id="6" name="path-sep-383"/>
          <p:cNvSpPr txBox="1"/>
          <p:nvPr/>
        </p:nvSpPr>
        <p:spPr>
          <a:xfrm>
            <a:off x="2505456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384"/>
          <p:cNvSpPr txBox="1"/>
          <p:nvPr/>
        </p:nvSpPr>
        <p:spPr>
          <a:xfrm>
            <a:off x="2779776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Requests</a:t>
            </a:r>
            <a:endParaRPr lang="en-US" sz="1300" dirty="0"/>
          </a:p>
        </p:txBody>
      </p:sp>
      <p:sp>
        <p:nvSpPr>
          <p:cNvPr id="8" name="path-sep-385"/>
          <p:cNvSpPr txBox="1"/>
          <p:nvPr/>
        </p:nvSpPr>
        <p:spPr>
          <a:xfrm>
            <a:off x="395935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path-chip-386"/>
          <p:cNvSpPr txBox="1"/>
          <p:nvPr/>
        </p:nvSpPr>
        <p:spPr>
          <a:xfrm>
            <a:off x="4233672" y="1207008"/>
            <a:ext cx="127558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 action</a:t>
            </a:r>
            <a:endParaRPr lang="en-US" sz="1300" dirty="0"/>
          </a:p>
        </p:txBody>
      </p:sp>
      <p:sp>
        <p:nvSpPr>
          <p:cNvPr id="10" name="step-dot-387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388"/>
          <p:cNvSpPr txBox="1"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tep-text-389"/>
          <p:cNvSpPr txBox="1"/>
          <p:nvPr/>
        </p:nvSpPr>
        <p:spPr>
          <a:xfrm>
            <a:off x="1143000" y="1828800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After B approves, you get </a:t>
            </a:r>
            <a:r>
              <a:rPr lang="en-US" sz="1800" b="1" dirty="0">
                <a:solidFill>
                  <a:schemeClr val="accent1"/>
                </a:solidFill>
              </a:rPr>
              <a:t>Request awaiting your action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tep-dot-390"/>
          <p:cNvSpPr/>
          <p:nvPr/>
        </p:nvSpPr>
        <p:spPr>
          <a:xfrm>
            <a:off x="548640" y="25237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391"/>
          <p:cNvSpPr txBox="1"/>
          <p:nvPr/>
        </p:nvSpPr>
        <p:spPr>
          <a:xfrm>
            <a:off x="54864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tep-text-392"/>
          <p:cNvSpPr txBox="1"/>
          <p:nvPr/>
        </p:nvSpPr>
        <p:spPr>
          <a:xfrm>
            <a:off x="1143000" y="2505456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the request from </a:t>
            </a:r>
            <a:r>
              <a:rPr lang="en-US" sz="1800" b="1" dirty="0">
                <a:solidFill>
                  <a:schemeClr val="accent1"/>
                </a:solidFill>
              </a:rPr>
              <a:t>To action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step-dot-393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-num-394"/>
          <p:cNvSpPr txBox="1"/>
          <p:nvPr/>
        </p:nvSpPr>
        <p:spPr>
          <a:xfrm>
            <a:off x="5486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text-395"/>
          <p:cNvSpPr txBox="1"/>
          <p:nvPr/>
        </p:nvSpPr>
        <p:spPr>
          <a:xfrm>
            <a:off x="1143000" y="3182112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Sign</a:t>
            </a:r>
            <a:r>
              <a:rPr lang="en-US" sz="1800" dirty="0">
                <a:solidFill>
                  <a:schemeClr val="tx1"/>
                </a:solidFill>
              </a:rPr>
              <a:t>. You see your saved signature.</a:t>
            </a:r>
            <a:endParaRPr lang="en-US" sz="1800" dirty="0"/>
          </a:p>
        </p:txBody>
      </p:sp>
      <p:sp>
        <p:nvSpPr>
          <p:cNvPr id="19" name="step-dot-396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-num-397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-text-398"/>
          <p:cNvSpPr txBox="1"/>
          <p:nvPr/>
        </p:nvSpPr>
        <p:spPr>
          <a:xfrm>
            <a:off x="1143000" y="3858768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 the box, type your full name </a:t>
            </a:r>
            <a:r>
              <a:rPr lang="en-US" sz="1800" b="1" dirty="0">
                <a:solidFill>
                  <a:schemeClr val="accent1"/>
                </a:solidFill>
              </a:rPr>
              <a:t>exactly</a:t>
            </a:r>
            <a:r>
              <a:rPr lang="en-US" sz="1800" dirty="0">
                <a:solidFill>
                  <a:schemeClr val="tx1"/>
                </a:solidFill>
              </a:rPr>
              <a:t> as IAMS shows it.</a:t>
            </a:r>
            <a:endParaRPr lang="en-US" sz="1800" dirty="0"/>
          </a:p>
        </p:txBody>
      </p:sp>
      <p:sp>
        <p:nvSpPr>
          <p:cNvPr id="22" name="step-dot-399"/>
          <p:cNvSpPr/>
          <p:nvPr/>
        </p:nvSpPr>
        <p:spPr>
          <a:xfrm>
            <a:off x="548640" y="455371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-num-400"/>
          <p:cNvSpPr txBox="1"/>
          <p:nvPr/>
        </p:nvSpPr>
        <p:spPr>
          <a:xfrm>
            <a:off x="54864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tep-text-401"/>
          <p:cNvSpPr txBox="1"/>
          <p:nvPr/>
        </p:nvSpPr>
        <p:spPr>
          <a:xfrm>
            <a:off x="1143000" y="4535424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Sign now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-402"/>
          <p:cNvSpPr/>
          <p:nvPr/>
        </p:nvSpPr>
        <p:spPr>
          <a:xfrm>
            <a:off x="7863840" y="1828800"/>
            <a:ext cx="3776472" cy="402336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</p:spPr>
      </p:sp>
      <p:sp>
        <p:nvSpPr>
          <p:cNvPr id="26" name="icon-circle-403"/>
          <p:cNvSpPr/>
          <p:nvPr/>
        </p:nvSpPr>
        <p:spPr>
          <a:xfrm>
            <a:off x="80924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40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41" y="2178101"/>
            <a:ext cx="261518" cy="261518"/>
          </a:xfrm>
          <a:prstGeom prst="rect">
            <a:avLst/>
          </a:prstGeom>
        </p:spPr>
      </p:pic>
      <p:sp>
        <p:nvSpPr>
          <p:cNvPr id="28" name="card-title-405"/>
          <p:cNvSpPr txBox="1"/>
          <p:nvPr/>
        </p:nvSpPr>
        <p:spPr>
          <a:xfrm>
            <a:off x="8732520" y="20574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type your name?</a:t>
            </a:r>
            <a:endParaRPr lang="en-US" sz="1800" dirty="0"/>
          </a:p>
        </p:txBody>
      </p:sp>
      <p:sp>
        <p:nvSpPr>
          <p:cNvPr id="29" name="card-body-406"/>
          <p:cNvSpPr txBox="1"/>
          <p:nvPr/>
        </p:nvSpPr>
        <p:spPr>
          <a:xfrm>
            <a:off x="8092440" y="2697480"/>
            <a:ext cx="3319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Typing your name confirms that you read the request and its attachments. IAMS records who signed, when, and exactly what was signed.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A: see the result</a:t>
            </a:r>
            <a:endParaRPr lang="en-US" sz="3200" dirty="0"/>
          </a:p>
        </p:txBody>
      </p:sp>
      <p:sp>
        <p:nvSpPr>
          <p:cNvPr id="3" name="tag-407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step-dot-408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-num-409"/>
          <p:cNvSpPr txBox="1"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text-410"/>
          <p:cNvSpPr txBox="1"/>
          <p:nvPr/>
        </p:nvSpPr>
        <p:spPr>
          <a:xfrm>
            <a:off x="1143000" y="1417320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Your bell shows </a:t>
            </a:r>
            <a:r>
              <a:rPr lang="en-US" sz="1800" b="1" dirty="0">
                <a:solidFill>
                  <a:schemeClr val="accent1"/>
                </a:solidFill>
              </a:rPr>
              <a:t>Request completed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tep-dot-411"/>
          <p:cNvSpPr/>
          <p:nvPr/>
        </p:nvSpPr>
        <p:spPr>
          <a:xfrm>
            <a:off x="548640" y="21671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-num-412"/>
          <p:cNvSpPr txBox="1"/>
          <p:nvPr/>
        </p:nvSpPr>
        <p:spPr>
          <a:xfrm>
            <a:off x="54864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-text-413"/>
          <p:cNvSpPr txBox="1"/>
          <p:nvPr/>
        </p:nvSpPr>
        <p:spPr>
          <a:xfrm>
            <a:off x="1143000" y="2148840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Open the request. </a:t>
            </a:r>
            <a:r>
              <a:rPr lang="en-US" sz="1800" b="1" dirty="0">
                <a:solidFill>
                  <a:schemeClr val="accent1"/>
                </a:solidFill>
              </a:rPr>
              <a:t>Recipients</a:t>
            </a:r>
            <a:r>
              <a:rPr lang="en-US" sz="1800" dirty="0">
                <a:solidFill>
                  <a:schemeClr val="tx1"/>
                </a:solidFill>
              </a:rPr>
              <a:t> shows who acted, in order.</a:t>
            </a:r>
            <a:endParaRPr lang="en-US" sz="1800" dirty="0"/>
          </a:p>
        </p:txBody>
      </p:sp>
      <p:sp>
        <p:nvSpPr>
          <p:cNvPr id="10" name="step-dot-414"/>
          <p:cNvSpPr/>
          <p:nvPr/>
        </p:nvSpPr>
        <p:spPr>
          <a:xfrm>
            <a:off x="548640" y="28986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415"/>
          <p:cNvSpPr txBox="1"/>
          <p:nvPr/>
        </p:nvSpPr>
        <p:spPr>
          <a:xfrm>
            <a:off x="54864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-text-416"/>
          <p:cNvSpPr txBox="1"/>
          <p:nvPr/>
        </p:nvSpPr>
        <p:spPr>
          <a:xfrm>
            <a:off x="1143000" y="2880360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Activity</a:t>
            </a:r>
            <a:r>
              <a:rPr lang="en-US" sz="1800" dirty="0">
                <a:solidFill>
                  <a:schemeClr val="tx1"/>
                </a:solidFill>
              </a:rPr>
              <a:t> shows comments and signatures, with the time.</a:t>
            </a:r>
            <a:endParaRPr lang="en-US" sz="1800" dirty="0"/>
          </a:p>
        </p:txBody>
      </p:sp>
      <p:sp>
        <p:nvSpPr>
          <p:cNvPr id="13" name="step-dot-417"/>
          <p:cNvSpPr/>
          <p:nvPr/>
        </p:nvSpPr>
        <p:spPr>
          <a:xfrm>
            <a:off x="548640" y="36301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418"/>
          <p:cNvSpPr txBox="1"/>
          <p:nvPr/>
        </p:nvSpPr>
        <p:spPr>
          <a:xfrm>
            <a:off x="5486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-text-419"/>
          <p:cNvSpPr txBox="1"/>
          <p:nvPr/>
        </p:nvSpPr>
        <p:spPr>
          <a:xfrm>
            <a:off x="1143000" y="3611880"/>
            <a:ext cx="635508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Under </a:t>
            </a:r>
            <a:r>
              <a:rPr lang="en-US" sz="1800" b="1" dirty="0">
                <a:solidFill>
                  <a:schemeClr val="accent1"/>
                </a:solidFill>
              </a:rPr>
              <a:t>Signed documents</a:t>
            </a:r>
            <a:r>
              <a:rPr lang="en-US" sz="1800" dirty="0">
                <a:solidFill>
                  <a:schemeClr val="tx1"/>
                </a:solidFill>
              </a:rPr>
              <a:t>, click </a:t>
            </a:r>
            <a:r>
              <a:rPr lang="en-US" sz="1800" b="1" dirty="0">
                <a:solidFill>
                  <a:schemeClr val="accent1"/>
                </a:solidFill>
              </a:rPr>
              <a:t>Download</a:t>
            </a:r>
            <a:r>
              <a:rPr lang="en-US" sz="1800" dirty="0">
                <a:solidFill>
                  <a:schemeClr val="tx1"/>
                </a:solidFill>
              </a:rPr>
              <a:t>. Open the PDF and find the signature page with both signatures.</a:t>
            </a:r>
            <a:endParaRPr lang="en-US" sz="1800" dirty="0"/>
          </a:p>
        </p:txBody>
      </p:sp>
      <p:sp>
        <p:nvSpPr>
          <p:cNvPr id="16" name="done-panel"/>
          <p:cNvSpPr/>
          <p:nvPr/>
        </p:nvSpPr>
        <p:spPr>
          <a:xfrm>
            <a:off x="7863840" y="1417320"/>
            <a:ext cx="3776472" cy="4434840"/>
          </a:xfrm>
          <a:prstGeom prst="roundRect">
            <a:avLst>
              <a:gd name="adj" fmla="val 3632"/>
            </a:avLst>
          </a:prstGeom>
          <a:solidFill>
            <a:schemeClr val="tx2"/>
          </a:solidFill>
          <a:ln/>
        </p:spPr>
      </p:sp>
      <p:sp>
        <p:nvSpPr>
          <p:cNvPr id="17" name="icon-circle-420"/>
          <p:cNvSpPr/>
          <p:nvPr/>
        </p:nvSpPr>
        <p:spPr>
          <a:xfrm>
            <a:off x="9189720" y="1828800"/>
            <a:ext cx="1143000" cy="1143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4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03120"/>
            <a:ext cx="594360" cy="594360"/>
          </a:xfrm>
          <a:prstGeom prst="rect">
            <a:avLst/>
          </a:prstGeom>
        </p:spPr>
      </p:pic>
      <p:sp>
        <p:nvSpPr>
          <p:cNvPr id="19" name="done-msg"/>
          <p:cNvSpPr txBox="1"/>
          <p:nvPr/>
        </p:nvSpPr>
        <p:spPr>
          <a:xfrm>
            <a:off x="8046720" y="3200400"/>
            <a:ext cx="3410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printing.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walking.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No waiting.</a:t>
            </a:r>
            <a:endParaRPr lang="en-US" sz="2400" dirty="0"/>
          </a:p>
        </p:txBody>
      </p:sp>
      <p:sp>
        <p:nvSpPr>
          <p:cNvPr id="20" name="done-sub"/>
          <p:cNvSpPr txBox="1"/>
          <p:nvPr/>
        </p:nvSpPr>
        <p:spPr>
          <a:xfrm>
            <a:off x="8092440" y="480060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Who has their signed PDF? Show the class.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no, and fixing mistakes</a:t>
            </a:r>
            <a:endParaRPr lang="en-US" sz="3200" dirty="0"/>
          </a:p>
        </p:txBody>
      </p:sp>
      <p:sp>
        <p:nvSpPr>
          <p:cNvPr id="3" name="tag-422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WATCH THE SCREEN</a:t>
            </a:r>
            <a:endParaRPr lang="en-US" sz="1200" dirty="0"/>
          </a:p>
        </p:txBody>
      </p:sp>
      <p:sp>
        <p:nvSpPr>
          <p:cNvPr id="4" name="card-423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6F5"/>
          </a:solidFill>
          <a:ln/>
        </p:spPr>
      </p:sp>
      <p:sp>
        <p:nvSpPr>
          <p:cNvPr id="5" name="icon-circle-42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-42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66621"/>
            <a:ext cx="261518" cy="261518"/>
          </a:xfrm>
          <a:prstGeom prst="rect">
            <a:avLst/>
          </a:prstGeom>
        </p:spPr>
      </p:pic>
      <p:sp>
        <p:nvSpPr>
          <p:cNvPr id="7" name="card-title-426"/>
          <p:cNvSpPr txBox="1"/>
          <p:nvPr/>
        </p:nvSpPr>
        <p:spPr>
          <a:xfrm>
            <a:off x="141732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Reject a request</a:t>
            </a:r>
            <a:endParaRPr lang="en-US" sz="1800" dirty="0"/>
          </a:p>
        </p:txBody>
      </p:sp>
      <p:sp>
        <p:nvSpPr>
          <p:cNvPr id="8" name="step-dot-427"/>
          <p:cNvSpPr/>
          <p:nvPr/>
        </p:nvSpPr>
        <p:spPr>
          <a:xfrm>
            <a:off x="822960" y="235000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step-num-428"/>
          <p:cNvSpPr txBox="1"/>
          <p:nvPr/>
        </p:nvSpPr>
        <p:spPr>
          <a:xfrm>
            <a:off x="82296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tep-text-429"/>
          <p:cNvSpPr txBox="1"/>
          <p:nvPr/>
        </p:nvSpPr>
        <p:spPr>
          <a:xfrm>
            <a:off x="1417320" y="2331720"/>
            <a:ext cx="42519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Click </a:t>
            </a:r>
            <a:r>
              <a:rPr lang="en-US" sz="1700" b="1" dirty="0">
                <a:solidFill>
                  <a:schemeClr val="accent1"/>
                </a:solidFill>
              </a:rPr>
              <a:t>Reject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tep-dot-430"/>
          <p:cNvSpPr/>
          <p:nvPr/>
        </p:nvSpPr>
        <p:spPr>
          <a:xfrm>
            <a:off x="822960" y="299008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step-num-431"/>
          <p:cNvSpPr txBox="1"/>
          <p:nvPr/>
        </p:nvSpPr>
        <p:spPr>
          <a:xfrm>
            <a:off x="82296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-text-432"/>
          <p:cNvSpPr txBox="1"/>
          <p:nvPr/>
        </p:nvSpPr>
        <p:spPr>
          <a:xfrm>
            <a:off x="1417320" y="2971800"/>
            <a:ext cx="42519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Write why, in the box.</a:t>
            </a:r>
            <a:endParaRPr lang="en-US" sz="1700" dirty="0"/>
          </a:p>
        </p:txBody>
      </p:sp>
      <p:sp>
        <p:nvSpPr>
          <p:cNvPr id="14" name="step-dot-433"/>
          <p:cNvSpPr/>
          <p:nvPr/>
        </p:nvSpPr>
        <p:spPr>
          <a:xfrm>
            <a:off x="822960" y="363016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step-num-434"/>
          <p:cNvSpPr txBox="1"/>
          <p:nvPr/>
        </p:nvSpPr>
        <p:spPr>
          <a:xfrm>
            <a:off x="82296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text-435"/>
          <p:cNvSpPr txBox="1"/>
          <p:nvPr/>
        </p:nvSpPr>
        <p:spPr>
          <a:xfrm>
            <a:off x="1417320" y="3611880"/>
            <a:ext cx="425196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Click </a:t>
            </a:r>
            <a:r>
              <a:rPr lang="en-US" sz="1700" b="1" dirty="0">
                <a:solidFill>
                  <a:schemeClr val="accent1"/>
                </a:solidFill>
              </a:rPr>
              <a:t>Submit rejection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reject-note"/>
          <p:cNvSpPr txBox="1"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request stops. The sender gets Request rejected with your reason.</a:t>
            </a:r>
            <a:endParaRPr lang="en-US" sz="1600" dirty="0"/>
          </a:p>
        </p:txBody>
      </p:sp>
      <p:sp>
        <p:nvSpPr>
          <p:cNvPr id="18" name="card-436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6F5"/>
          </a:solidFill>
          <a:ln/>
        </p:spPr>
      </p:sp>
      <p:sp>
        <p:nvSpPr>
          <p:cNvPr id="19" name="icon-circle-437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4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1766621"/>
            <a:ext cx="261518" cy="261518"/>
          </a:xfrm>
          <a:prstGeom prst="rect">
            <a:avLst/>
          </a:prstGeom>
        </p:spPr>
      </p:pic>
      <p:sp>
        <p:nvSpPr>
          <p:cNvPr id="21" name="card-title-439"/>
          <p:cNvSpPr txBox="1"/>
          <p:nvPr/>
        </p:nvSpPr>
        <p:spPr>
          <a:xfrm>
            <a:off x="713232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Made a mistake?</a:t>
            </a:r>
            <a:endParaRPr lang="en-US" sz="1800" dirty="0"/>
          </a:p>
        </p:txBody>
      </p:sp>
      <p:sp>
        <p:nvSpPr>
          <p:cNvPr id="22" name="card-body-440"/>
          <p:cNvSpPr txBox="1"/>
          <p:nvPr/>
        </p:nvSpPr>
        <p:spPr>
          <a:xfrm>
            <a:off x="649224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Sender only: while it is still pending, open it and click Cancel request.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Wrong person or wrong file? Cancel it and send a new one.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Files can only be added when you create the request, so nobody can change what people sign.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Notifications: the bell and your email</a:t>
            </a:r>
            <a:endParaRPr lang="en-US" sz="3200" dirty="0"/>
          </a:p>
        </p:txBody>
      </p:sp>
      <p:sp>
        <p:nvSpPr>
          <p:cNvPr id="3" name="tag-441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IT NOW</a:t>
            </a:r>
            <a:endParaRPr lang="en-US" sz="1200" dirty="0"/>
          </a:p>
        </p:txBody>
      </p:sp>
      <p:sp>
        <p:nvSpPr>
          <p:cNvPr id="4" name="step-dot-442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-num-443"/>
          <p:cNvSpPr txBox="1"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text-444"/>
          <p:cNvSpPr txBox="1"/>
          <p:nvPr/>
        </p:nvSpPr>
        <p:spPr>
          <a:xfrm>
            <a:off x="1143000" y="1417320"/>
            <a:ext cx="6355080" cy="769925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the </a:t>
            </a:r>
            <a:r>
              <a:rPr lang="en-US" sz="1800" b="1" dirty="0">
                <a:solidFill>
                  <a:schemeClr val="accent1"/>
                </a:solidFill>
              </a:rPr>
              <a:t>bell</a:t>
            </a:r>
            <a:r>
              <a:rPr lang="en-US" sz="1800" dirty="0">
                <a:solidFill>
                  <a:schemeClr val="tx1"/>
                </a:solidFill>
              </a:rPr>
              <a:t> at the top right, then </a:t>
            </a:r>
            <a:r>
              <a:rPr lang="en-US" sz="1800" b="1" dirty="0">
                <a:solidFill>
                  <a:schemeClr val="accent1"/>
                </a:solidFill>
              </a:rPr>
              <a:t>View all</a:t>
            </a:r>
            <a:r>
              <a:rPr lang="en-US" sz="1800" dirty="0">
                <a:solidFill>
                  <a:schemeClr val="tx1"/>
                </a:solidFill>
              </a:rPr>
              <a:t>. (Or Sidebar › </a:t>
            </a:r>
            <a:r>
              <a:rPr lang="en-US" sz="1800" b="1" dirty="0">
                <a:solidFill>
                  <a:schemeClr val="accent1"/>
                </a:solidFill>
              </a:rPr>
              <a:t>Notifications</a:t>
            </a:r>
            <a:r>
              <a:rPr lang="en-US" sz="1800" dirty="0">
                <a:solidFill>
                  <a:schemeClr val="tx1"/>
                </a:solidFill>
              </a:rPr>
              <a:t>.)</a:t>
            </a:r>
            <a:endParaRPr lang="en-US" sz="1800" dirty="0"/>
          </a:p>
        </p:txBody>
      </p:sp>
      <p:sp>
        <p:nvSpPr>
          <p:cNvPr id="7" name="step-dot-445"/>
          <p:cNvSpPr/>
          <p:nvPr/>
        </p:nvSpPr>
        <p:spPr>
          <a:xfrm>
            <a:off x="548640" y="2461565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ep-num-446"/>
          <p:cNvSpPr txBox="1"/>
          <p:nvPr/>
        </p:nvSpPr>
        <p:spPr>
          <a:xfrm>
            <a:off x="548640" y="246156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-text-447"/>
          <p:cNvSpPr txBox="1"/>
          <p:nvPr/>
        </p:nvSpPr>
        <p:spPr>
          <a:xfrm>
            <a:off x="1143000" y="2443277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Use the </a:t>
            </a:r>
            <a:r>
              <a:rPr lang="en-US" sz="1800" b="1" dirty="0">
                <a:solidFill>
                  <a:schemeClr val="accent1"/>
                </a:solidFill>
              </a:rPr>
              <a:t>All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accent1"/>
                </a:solidFill>
              </a:rPr>
              <a:t>Unread</a:t>
            </a:r>
            <a:r>
              <a:rPr lang="en-US" sz="1800" dirty="0">
                <a:solidFill>
                  <a:schemeClr val="tx1"/>
                </a:solidFill>
              </a:rPr>
              <a:t> tabs.</a:t>
            </a:r>
            <a:endParaRPr lang="en-US" sz="1800" dirty="0"/>
          </a:p>
        </p:txBody>
      </p:sp>
      <p:sp>
        <p:nvSpPr>
          <p:cNvPr id="10" name="step-dot-448"/>
          <p:cNvSpPr/>
          <p:nvPr/>
        </p:nvSpPr>
        <p:spPr>
          <a:xfrm>
            <a:off x="548640" y="3174797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-num-449"/>
          <p:cNvSpPr txBox="1"/>
          <p:nvPr/>
        </p:nvSpPr>
        <p:spPr>
          <a:xfrm>
            <a:off x="548640" y="317479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-text-450"/>
          <p:cNvSpPr txBox="1"/>
          <p:nvPr/>
        </p:nvSpPr>
        <p:spPr>
          <a:xfrm>
            <a:off x="1143000" y="3156509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a notification to open the item it is about.</a:t>
            </a:r>
            <a:endParaRPr lang="en-US" sz="1800" dirty="0"/>
          </a:p>
        </p:txBody>
      </p:sp>
      <p:sp>
        <p:nvSpPr>
          <p:cNvPr id="13" name="step-dot-451"/>
          <p:cNvSpPr/>
          <p:nvPr/>
        </p:nvSpPr>
        <p:spPr>
          <a:xfrm>
            <a:off x="548640" y="388802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452"/>
          <p:cNvSpPr txBox="1"/>
          <p:nvPr/>
        </p:nvSpPr>
        <p:spPr>
          <a:xfrm>
            <a:off x="548640" y="388802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-text-453"/>
          <p:cNvSpPr txBox="1"/>
          <p:nvPr/>
        </p:nvSpPr>
        <p:spPr>
          <a:xfrm>
            <a:off x="1143000" y="3869741"/>
            <a:ext cx="635508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</a:t>
            </a:r>
            <a:r>
              <a:rPr lang="en-US" sz="1800" b="1" dirty="0">
                <a:solidFill>
                  <a:schemeClr val="accent1"/>
                </a:solidFill>
              </a:rPr>
              <a:t>Mark all read</a:t>
            </a:r>
            <a:r>
              <a:rPr lang="en-US" sz="1800" dirty="0">
                <a:solidFill>
                  <a:schemeClr val="tx1"/>
                </a:solidFill>
              </a:rPr>
              <a:t> to clear the list.</a:t>
            </a:r>
            <a:endParaRPr lang="en-US" sz="1800" dirty="0"/>
          </a:p>
        </p:txBody>
      </p:sp>
      <p:sp>
        <p:nvSpPr>
          <p:cNvPr id="16" name="callout-bg-454"/>
          <p:cNvSpPr/>
          <p:nvPr/>
        </p:nvSpPr>
        <p:spPr>
          <a:xfrm>
            <a:off x="548640" y="4846320"/>
            <a:ext cx="69494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icon-circle-455"/>
          <p:cNvSpPr/>
          <p:nvPr/>
        </p:nvSpPr>
        <p:spPr>
          <a:xfrm>
            <a:off x="731520" y="50520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45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161788"/>
            <a:ext cx="237744" cy="237744"/>
          </a:xfrm>
          <a:prstGeom prst="rect">
            <a:avLst/>
          </a:prstGeom>
        </p:spPr>
      </p:pic>
      <p:sp>
        <p:nvSpPr>
          <p:cNvPr id="19" name="callout-text-457"/>
          <p:cNvSpPr txBox="1"/>
          <p:nvPr/>
        </p:nvSpPr>
        <p:spPr>
          <a:xfrm>
            <a:off x="1325880" y="4919472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Allow </a:t>
            </a:r>
            <a:r>
              <a:rPr lang="en-US" sz="1500" b="1" dirty="0">
                <a:solidFill>
                  <a:schemeClr val="tx1"/>
                </a:solidFill>
              </a:rPr>
              <a:t>up to one minute</a:t>
            </a:r>
            <a:r>
              <a:rPr lang="en-US" sz="1500" dirty="0">
                <a:solidFill>
                  <a:schemeClr val="tx1"/>
                </a:solidFill>
              </a:rPr>
              <a:t>. Still nothing? Refresh the page.</a:t>
            </a:r>
            <a:endParaRPr lang="en-US" sz="1500" dirty="0"/>
          </a:p>
        </p:txBody>
      </p:sp>
      <p:sp>
        <p:nvSpPr>
          <p:cNvPr id="20" name="card-458"/>
          <p:cNvSpPr/>
          <p:nvPr/>
        </p:nvSpPr>
        <p:spPr>
          <a:xfrm>
            <a:off x="7863840" y="1417320"/>
            <a:ext cx="3776472" cy="443484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/>
        </p:spPr>
      </p:sp>
      <p:sp>
        <p:nvSpPr>
          <p:cNvPr id="21" name="icon-circle-459"/>
          <p:cNvSpPr/>
          <p:nvPr/>
        </p:nvSpPr>
        <p:spPr>
          <a:xfrm>
            <a:off x="80924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46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141" y="1766621"/>
            <a:ext cx="261518" cy="261518"/>
          </a:xfrm>
          <a:prstGeom prst="rect">
            <a:avLst/>
          </a:prstGeom>
        </p:spPr>
      </p:pic>
      <p:sp>
        <p:nvSpPr>
          <p:cNvPr id="23" name="card-title-461"/>
          <p:cNvSpPr txBox="1"/>
          <p:nvPr/>
        </p:nvSpPr>
        <p:spPr>
          <a:xfrm>
            <a:off x="8732520" y="16459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Two places, every time</a:t>
            </a:r>
            <a:endParaRPr lang="en-US" sz="1800" dirty="0"/>
          </a:p>
        </p:txBody>
      </p:sp>
      <p:sp>
        <p:nvSpPr>
          <p:cNvPr id="24" name="card-body-462"/>
          <p:cNvSpPr txBox="1"/>
          <p:nvPr/>
        </p:nvSpPr>
        <p:spPr>
          <a:xfrm>
            <a:off x="8092440" y="2286000"/>
            <a:ext cx="331927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bell inside IAMS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work email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requests, approvals, audit assignments, and findings raised against your department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Escalations: nothing sits on a table forever</a:t>
            </a:r>
            <a:endParaRPr lang="en-US" sz="3200" dirty="0"/>
          </a:p>
        </p:txBody>
      </p:sp>
      <p:sp>
        <p:nvSpPr>
          <p:cNvPr id="3" name="esc-line"/>
          <p:cNvSpPr/>
          <p:nvPr/>
        </p:nvSpPr>
        <p:spPr>
          <a:xfrm>
            <a:off x="1463040" y="2057400"/>
            <a:ext cx="69494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4" name="icon-circle-463"/>
          <p:cNvSpPr/>
          <p:nvPr/>
        </p:nvSpPr>
        <p:spPr>
          <a:xfrm>
            <a:off x="1005840" y="16002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-4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819656"/>
            <a:ext cx="475488" cy="475488"/>
          </a:xfrm>
          <a:prstGeom prst="rect">
            <a:avLst/>
          </a:prstGeom>
        </p:spPr>
      </p:pic>
      <p:sp>
        <p:nvSpPr>
          <p:cNvPr id="6" name="esc-title-465"/>
          <p:cNvSpPr txBox="1"/>
          <p:nvPr/>
        </p:nvSpPr>
        <p:spPr>
          <a:xfrm>
            <a:off x="5486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Request sent</a:t>
            </a:r>
            <a:endParaRPr lang="en-US" sz="1800" dirty="0"/>
          </a:p>
        </p:txBody>
      </p:sp>
      <p:sp>
        <p:nvSpPr>
          <p:cNvPr id="7" name="esc-body-466"/>
          <p:cNvSpPr txBox="1"/>
          <p:nvPr/>
        </p:nvSpPr>
        <p:spPr>
          <a:xfrm>
            <a:off x="5486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Waiting for someone to act</a:t>
            </a:r>
            <a:endParaRPr lang="en-US" sz="1500" dirty="0"/>
          </a:p>
        </p:txBody>
      </p:sp>
      <p:sp>
        <p:nvSpPr>
          <p:cNvPr id="8" name="icon-circle-467"/>
          <p:cNvSpPr/>
          <p:nvPr/>
        </p:nvSpPr>
        <p:spPr>
          <a:xfrm>
            <a:off x="4434840" y="16002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-46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19656"/>
            <a:ext cx="475488" cy="475488"/>
          </a:xfrm>
          <a:prstGeom prst="rect">
            <a:avLst/>
          </a:prstGeom>
        </p:spPr>
      </p:pic>
      <p:sp>
        <p:nvSpPr>
          <p:cNvPr id="10" name="esc-title-469"/>
          <p:cNvSpPr txBox="1"/>
          <p:nvPr/>
        </p:nvSpPr>
        <p:spPr>
          <a:xfrm>
            <a:off x="39776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 24 hours</a:t>
            </a:r>
            <a:endParaRPr lang="en-US" sz="1800" dirty="0"/>
          </a:p>
        </p:txBody>
      </p:sp>
      <p:sp>
        <p:nvSpPr>
          <p:cNvPr id="11" name="esc-body-470"/>
          <p:cNvSpPr txBox="1"/>
          <p:nvPr/>
        </p:nvSpPr>
        <p:spPr>
          <a:xfrm>
            <a:off x="39776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 action: that person gets a reminder</a:t>
            </a:r>
            <a:endParaRPr lang="en-US" sz="1500" dirty="0"/>
          </a:p>
        </p:txBody>
      </p:sp>
      <p:sp>
        <p:nvSpPr>
          <p:cNvPr id="12" name="icon-circle-471"/>
          <p:cNvSpPr/>
          <p:nvPr/>
        </p:nvSpPr>
        <p:spPr>
          <a:xfrm>
            <a:off x="7863840" y="16002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-47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819656"/>
            <a:ext cx="475488" cy="475488"/>
          </a:xfrm>
          <a:prstGeom prst="rect">
            <a:avLst/>
          </a:prstGeom>
        </p:spPr>
      </p:pic>
      <p:sp>
        <p:nvSpPr>
          <p:cNvPr id="14" name="esc-title-473"/>
          <p:cNvSpPr txBox="1"/>
          <p:nvPr/>
        </p:nvSpPr>
        <p:spPr>
          <a:xfrm>
            <a:off x="74066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About 3 days later</a:t>
            </a:r>
            <a:endParaRPr lang="en-US" sz="1800" dirty="0"/>
          </a:p>
        </p:txBody>
      </p:sp>
      <p:sp>
        <p:nvSpPr>
          <p:cNvPr id="15" name="esc-body-474"/>
          <p:cNvSpPr txBox="1"/>
          <p:nvPr/>
        </p:nvSpPr>
        <p:spPr>
          <a:xfrm>
            <a:off x="74066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Still nothing: the sender is told</a:t>
            </a:r>
            <a:endParaRPr lang="en-US" sz="1500" dirty="0"/>
          </a:p>
        </p:txBody>
      </p:sp>
      <p:sp>
        <p:nvSpPr>
          <p:cNvPr id="16" name="callout-bg-475"/>
          <p:cNvSpPr/>
          <p:nvPr/>
        </p:nvSpPr>
        <p:spPr>
          <a:xfrm>
            <a:off x="548640" y="3977640"/>
            <a:ext cx="7040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icon-circle-476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47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315968"/>
            <a:ext cx="237744" cy="237744"/>
          </a:xfrm>
          <a:prstGeom prst="rect">
            <a:avLst/>
          </a:prstGeom>
        </p:spPr>
      </p:pic>
      <p:sp>
        <p:nvSpPr>
          <p:cNvPr id="19" name="callout-text-478"/>
          <p:cNvSpPr txBox="1"/>
          <p:nvPr/>
        </p:nvSpPr>
        <p:spPr>
          <a:xfrm>
            <a:off x="1325880" y="4050792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Audit approvals and late audits go higher, step by step: the person, then their manager, then senior management.</a:t>
            </a:r>
            <a:endParaRPr lang="en-US" sz="1500" dirty="0"/>
          </a:p>
        </p:txBody>
      </p:sp>
      <p:sp>
        <p:nvSpPr>
          <p:cNvPr id="20" name="card-479"/>
          <p:cNvSpPr/>
          <p:nvPr/>
        </p:nvSpPr>
        <p:spPr>
          <a:xfrm>
            <a:off x="7863840" y="3977640"/>
            <a:ext cx="3776472" cy="2103120"/>
          </a:xfrm>
          <a:prstGeom prst="roundRect">
            <a:avLst>
              <a:gd name="adj" fmla="val 5217"/>
            </a:avLst>
          </a:prstGeom>
          <a:solidFill>
            <a:srgbClr val="F4F6F5"/>
          </a:solidFill>
          <a:ln/>
        </p:spPr>
      </p:sp>
      <p:sp>
        <p:nvSpPr>
          <p:cNvPr id="21" name="icon-circle-480"/>
          <p:cNvSpPr/>
          <p:nvPr/>
        </p:nvSpPr>
        <p:spPr>
          <a:xfrm>
            <a:off x="8092440" y="42062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48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3141" y="4326941"/>
            <a:ext cx="261518" cy="261518"/>
          </a:xfrm>
          <a:prstGeom prst="rect">
            <a:avLst/>
          </a:prstGeom>
        </p:spPr>
      </p:pic>
      <p:sp>
        <p:nvSpPr>
          <p:cNvPr id="23" name="card-title-482"/>
          <p:cNvSpPr txBox="1"/>
          <p:nvPr/>
        </p:nvSpPr>
        <p:spPr>
          <a:xfrm>
            <a:off x="8732520" y="420624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GBB sets the times</a:t>
            </a:r>
            <a:endParaRPr lang="en-US" sz="1600" dirty="0"/>
          </a:p>
        </p:txBody>
      </p:sp>
      <p:sp>
        <p:nvSpPr>
          <p:cNvPr id="24" name="card-body-483"/>
          <p:cNvSpPr txBox="1"/>
          <p:nvPr/>
        </p:nvSpPr>
        <p:spPr>
          <a:xfrm>
            <a:off x="8092440" y="4846320"/>
            <a:ext cx="3319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Admin: Workflow › Escalation Policies. Hours per level. The All row covers requests.</a:t>
            </a:r>
            <a:endParaRPr lang="en-US" sz="1400" dirty="0"/>
          </a:p>
        </p:txBody>
      </p:sp>
      <p:sp>
        <p:nvSpPr>
          <p:cNvPr id="25" name="esc-foot"/>
          <p:cNvSpPr txBox="1"/>
          <p:nvPr/>
        </p:nvSpPr>
        <p:spPr>
          <a:xfrm>
            <a:off x="548640" y="5120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Default times shown. The admin can change them without a programmer.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Quick fixes</a:t>
            </a:r>
            <a:endParaRPr lang="en-US" sz="3200" dirty="0"/>
          </a:p>
        </p:txBody>
      </p:sp>
      <p:sp>
        <p:nvSpPr>
          <p:cNvPr id="3" name="card-484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4" name="icon-circle-485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48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6" name="card-title-487"/>
          <p:cNvSpPr txBox="1"/>
          <p:nvPr/>
        </p:nvSpPr>
        <p:spPr>
          <a:xfrm>
            <a:off x="14173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Can't find a person to add</a:t>
            </a:r>
            <a:endParaRPr lang="en-US" sz="1500" dirty="0"/>
          </a:p>
        </p:txBody>
      </p:sp>
      <p:sp>
        <p:nvSpPr>
          <p:cNvPr id="7" name="card-body-488"/>
          <p:cNvSpPr txBox="1"/>
          <p:nvPr/>
        </p:nvSpPr>
        <p:spPr>
          <a:xfrm>
            <a:off x="777240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They may have the Viewer or Audit Committee role, which cannot receive requests. Tell the trainer.</a:t>
            </a:r>
            <a:endParaRPr lang="en-US" sz="1400" dirty="0"/>
          </a:p>
        </p:txBody>
      </p:sp>
      <p:sp>
        <p:nvSpPr>
          <p:cNvPr id="8" name="card-489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9" name="icon-circle-490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49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1720901"/>
            <a:ext cx="261518" cy="261518"/>
          </a:xfrm>
          <a:prstGeom prst="rect">
            <a:avLst/>
          </a:prstGeom>
        </p:spPr>
      </p:pic>
      <p:sp>
        <p:nvSpPr>
          <p:cNvPr id="11" name="card-title-492"/>
          <p:cNvSpPr txBox="1"/>
          <p:nvPr/>
        </p:nvSpPr>
        <p:spPr>
          <a:xfrm>
            <a:off x="516636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notification yet</a:t>
            </a:r>
            <a:endParaRPr lang="en-US" sz="1500" dirty="0"/>
          </a:p>
        </p:txBody>
      </p:sp>
      <p:sp>
        <p:nvSpPr>
          <p:cNvPr id="12" name="card-body-493"/>
          <p:cNvSpPr txBox="1"/>
          <p:nvPr/>
        </p:nvSpPr>
        <p:spPr>
          <a:xfrm>
            <a:off x="4526280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Wait one minute, then refresh the page.</a:t>
            </a:r>
            <a:endParaRPr lang="en-US" sz="1400" dirty="0"/>
          </a:p>
        </p:txBody>
      </p:sp>
      <p:sp>
        <p:nvSpPr>
          <p:cNvPr id="13" name="card-494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14" name="icon-circle-495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49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021" y="1720901"/>
            <a:ext cx="261518" cy="261518"/>
          </a:xfrm>
          <a:prstGeom prst="rect">
            <a:avLst/>
          </a:prstGeom>
        </p:spPr>
      </p:pic>
      <p:sp>
        <p:nvSpPr>
          <p:cNvPr id="16" name="card-title-497"/>
          <p:cNvSpPr txBox="1"/>
          <p:nvPr/>
        </p:nvSpPr>
        <p:spPr>
          <a:xfrm>
            <a:off x="891540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Approve or Sign buttons</a:t>
            </a:r>
            <a:endParaRPr lang="en-US" sz="1500" dirty="0"/>
          </a:p>
        </p:txBody>
      </p:sp>
      <p:sp>
        <p:nvSpPr>
          <p:cNvPr id="17" name="card-body-498"/>
          <p:cNvSpPr txBox="1"/>
          <p:nvPr/>
        </p:nvSpPr>
        <p:spPr>
          <a:xfrm>
            <a:off x="8275320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is not your turn yet. Someone before you must act first.</a:t>
            </a:r>
            <a:endParaRPr lang="en-US" sz="1400" dirty="0"/>
          </a:p>
        </p:txBody>
      </p:sp>
      <p:sp>
        <p:nvSpPr>
          <p:cNvPr id="18" name="card-499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19" name="icon-circle-500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50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4098341"/>
            <a:ext cx="261518" cy="261518"/>
          </a:xfrm>
          <a:prstGeom prst="rect">
            <a:avLst/>
          </a:prstGeom>
        </p:spPr>
      </p:pic>
      <p:sp>
        <p:nvSpPr>
          <p:cNvPr id="21" name="card-title-502"/>
          <p:cNvSpPr txBox="1"/>
          <p:nvPr/>
        </p:nvSpPr>
        <p:spPr>
          <a:xfrm>
            <a:off x="14173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now doesn't work</a:t>
            </a:r>
            <a:endParaRPr lang="en-US" sz="1500" dirty="0"/>
          </a:p>
        </p:txBody>
      </p:sp>
      <p:sp>
        <p:nvSpPr>
          <p:cNvPr id="22" name="card-body-503"/>
          <p:cNvSpPr txBox="1"/>
          <p:nvPr/>
        </p:nvSpPr>
        <p:spPr>
          <a:xfrm>
            <a:off x="77724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Type your full name exactly as IAMS shows it.</a:t>
            </a:r>
            <a:endParaRPr lang="en-US" sz="1400" dirty="0"/>
          </a:p>
        </p:txBody>
      </p:sp>
      <p:sp>
        <p:nvSpPr>
          <p:cNvPr id="23" name="card-504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24" name="icon-circle-505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50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981" y="4098341"/>
            <a:ext cx="261518" cy="261518"/>
          </a:xfrm>
          <a:prstGeom prst="rect">
            <a:avLst/>
          </a:prstGeom>
        </p:spPr>
      </p:pic>
      <p:sp>
        <p:nvSpPr>
          <p:cNvPr id="26" name="card-title-507"/>
          <p:cNvSpPr txBox="1"/>
          <p:nvPr/>
        </p:nvSpPr>
        <p:spPr>
          <a:xfrm>
            <a:off x="516636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Can't see a menu item</a:t>
            </a:r>
            <a:endParaRPr lang="en-US" sz="1500" dirty="0"/>
          </a:p>
        </p:txBody>
      </p:sp>
      <p:sp>
        <p:nvSpPr>
          <p:cNvPr id="27" name="card-body-508"/>
          <p:cNvSpPr txBox="1"/>
          <p:nvPr/>
        </p:nvSpPr>
        <p:spPr>
          <a:xfrm>
            <a:off x="452628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your role. Check Profile › Access.</a:t>
            </a:r>
            <a:endParaRPr lang="en-US" sz="1400" dirty="0"/>
          </a:p>
        </p:txBody>
      </p:sp>
      <p:sp>
        <p:nvSpPr>
          <p:cNvPr id="28" name="card-509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/>
        </p:spPr>
      </p:sp>
      <p:sp>
        <p:nvSpPr>
          <p:cNvPr id="29" name="icon-circle-510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5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021" y="4098341"/>
            <a:ext cx="261518" cy="261518"/>
          </a:xfrm>
          <a:prstGeom prst="rect">
            <a:avLst/>
          </a:prstGeom>
        </p:spPr>
      </p:pic>
      <p:sp>
        <p:nvSpPr>
          <p:cNvPr id="31" name="card-title-512"/>
          <p:cNvSpPr txBox="1"/>
          <p:nvPr/>
        </p:nvSpPr>
        <p:spPr>
          <a:xfrm>
            <a:off x="891540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"Something went wrong"</a:t>
            </a:r>
            <a:endParaRPr lang="en-US" sz="1500" dirty="0"/>
          </a:p>
        </p:txBody>
      </p:sp>
      <p:sp>
        <p:nvSpPr>
          <p:cNvPr id="32" name="card-body-513"/>
          <p:cNvSpPr txBox="1"/>
          <p:nvPr/>
        </p:nvSpPr>
        <p:spPr>
          <a:xfrm>
            <a:off x="8275320" y="4617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Refresh the page. If it stays, raise your hand.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-label-514"/>
          <p:cNvSpPr txBox="1"/>
          <p:nvPr/>
        </p:nvSpPr>
        <p:spPr>
          <a:xfrm>
            <a:off x="54864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5</a:t>
            </a:r>
            <a:endParaRPr lang="en-US" sz="2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Settings page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Where GBB sets its own rules, without a programmer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Settings: tab by tab</a:t>
            </a:r>
            <a:endParaRPr lang="en-US" sz="3200" dirty="0"/>
          </a:p>
        </p:txBody>
      </p:sp>
      <p:sp>
        <p:nvSpPr>
          <p:cNvPr id="3" name="tag-515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 ONLY · WATCH</a:t>
            </a:r>
            <a:endParaRPr lang="en-US" sz="1200" dirty="0"/>
          </a:p>
        </p:txBody>
      </p:sp>
      <p:sp>
        <p:nvSpPr>
          <p:cNvPr id="4" name="path-label-516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517"/>
          <p:cNvSpPr txBox="1"/>
          <p:nvPr/>
        </p:nvSpPr>
        <p:spPr>
          <a:xfrm>
            <a:off x="1325880" y="1207008"/>
            <a:ext cx="987552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System</a:t>
            </a:r>
            <a:endParaRPr lang="en-US" sz="1300" dirty="0"/>
          </a:p>
        </p:txBody>
      </p:sp>
      <p:sp>
        <p:nvSpPr>
          <p:cNvPr id="6" name="path-sep-518"/>
          <p:cNvSpPr txBox="1"/>
          <p:nvPr/>
        </p:nvSpPr>
        <p:spPr>
          <a:xfrm>
            <a:off x="2313432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519"/>
          <p:cNvSpPr txBox="1"/>
          <p:nvPr/>
        </p:nvSpPr>
        <p:spPr>
          <a:xfrm>
            <a:off x="2587752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Settings</a:t>
            </a:r>
            <a:endParaRPr lang="en-US" sz="1300" dirty="0"/>
          </a:p>
        </p:txBody>
      </p:sp>
      <p:sp>
        <p:nvSpPr>
          <p:cNvPr id="8" name="card-520"/>
          <p:cNvSpPr/>
          <p:nvPr/>
        </p:nvSpPr>
        <p:spPr>
          <a:xfrm>
            <a:off x="548640" y="182880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9" name="icon-circle-521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5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1" name="card-title-523"/>
          <p:cNvSpPr txBox="1"/>
          <p:nvPr/>
        </p:nvSpPr>
        <p:spPr>
          <a:xfrm>
            <a:off x="1417320" y="205740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Role Management</a:t>
            </a:r>
            <a:endParaRPr lang="en-US" sz="1400" dirty="0"/>
          </a:p>
        </p:txBody>
      </p:sp>
      <p:sp>
        <p:nvSpPr>
          <p:cNvPr id="12" name="card-body-524"/>
          <p:cNvSpPr txBox="1"/>
          <p:nvPr/>
        </p:nvSpPr>
        <p:spPr>
          <a:xfrm>
            <a:off x="777240" y="26974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Roles and their permissions (Part 3).</a:t>
            </a:r>
            <a:endParaRPr lang="en-US" sz="1300" dirty="0"/>
          </a:p>
        </p:txBody>
      </p:sp>
      <p:sp>
        <p:nvSpPr>
          <p:cNvPr id="13" name="card-525"/>
          <p:cNvSpPr/>
          <p:nvPr/>
        </p:nvSpPr>
        <p:spPr>
          <a:xfrm>
            <a:off x="3355848" y="182880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14" name="icon-circle-526"/>
          <p:cNvSpPr/>
          <p:nvPr/>
        </p:nvSpPr>
        <p:spPr>
          <a:xfrm>
            <a:off x="3584448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5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49" y="2178101"/>
            <a:ext cx="261518" cy="261518"/>
          </a:xfrm>
          <a:prstGeom prst="rect">
            <a:avLst/>
          </a:prstGeom>
        </p:spPr>
      </p:pic>
      <p:sp>
        <p:nvSpPr>
          <p:cNvPr id="16" name="card-title-528"/>
          <p:cNvSpPr txBox="1"/>
          <p:nvPr/>
        </p:nvSpPr>
        <p:spPr>
          <a:xfrm>
            <a:off x="4224528" y="205740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Working Paper Templates</a:t>
            </a:r>
            <a:endParaRPr lang="en-US" sz="1400" dirty="0"/>
          </a:p>
        </p:txBody>
      </p:sp>
      <p:sp>
        <p:nvSpPr>
          <p:cNvPr id="17" name="card-body-529"/>
          <p:cNvSpPr txBox="1"/>
          <p:nvPr/>
        </p:nvSpPr>
        <p:spPr>
          <a:xfrm>
            <a:off x="3584448" y="26974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standard form for an auditor's record of work.</a:t>
            </a:r>
            <a:endParaRPr lang="en-US" sz="1300" dirty="0"/>
          </a:p>
        </p:txBody>
      </p:sp>
      <p:sp>
        <p:nvSpPr>
          <p:cNvPr id="18" name="card-530"/>
          <p:cNvSpPr/>
          <p:nvPr/>
        </p:nvSpPr>
        <p:spPr>
          <a:xfrm>
            <a:off x="6163056" y="182880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19" name="icon-circle-531"/>
          <p:cNvSpPr/>
          <p:nvPr/>
        </p:nvSpPr>
        <p:spPr>
          <a:xfrm>
            <a:off x="6391656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53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357" y="2178101"/>
            <a:ext cx="261518" cy="261518"/>
          </a:xfrm>
          <a:prstGeom prst="rect">
            <a:avLst/>
          </a:prstGeom>
        </p:spPr>
      </p:pic>
      <p:sp>
        <p:nvSpPr>
          <p:cNvPr id="21" name="card-title-533"/>
          <p:cNvSpPr txBox="1"/>
          <p:nvPr/>
        </p:nvSpPr>
        <p:spPr>
          <a:xfrm>
            <a:off x="7031736" y="205740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 Templates</a:t>
            </a:r>
            <a:endParaRPr lang="en-US" sz="1400" dirty="0"/>
          </a:p>
        </p:txBody>
      </p:sp>
      <p:sp>
        <p:nvSpPr>
          <p:cNvPr id="22" name="card-body-534"/>
          <p:cNvSpPr txBox="1"/>
          <p:nvPr/>
        </p:nvSpPr>
        <p:spPr>
          <a:xfrm>
            <a:off x="6391656" y="26974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layout of the final audit review (the report).</a:t>
            </a:r>
            <a:endParaRPr lang="en-US" sz="1300" dirty="0"/>
          </a:p>
        </p:txBody>
      </p:sp>
      <p:sp>
        <p:nvSpPr>
          <p:cNvPr id="23" name="card-535"/>
          <p:cNvSpPr/>
          <p:nvPr/>
        </p:nvSpPr>
        <p:spPr>
          <a:xfrm>
            <a:off x="8970264" y="182880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24" name="icon-circle-536"/>
          <p:cNvSpPr/>
          <p:nvPr/>
        </p:nvSpPr>
        <p:spPr>
          <a:xfrm>
            <a:off x="9198864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5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565" y="2178101"/>
            <a:ext cx="261518" cy="261518"/>
          </a:xfrm>
          <a:prstGeom prst="rect">
            <a:avLst/>
          </a:prstGeom>
        </p:spPr>
      </p:pic>
      <p:sp>
        <p:nvSpPr>
          <p:cNvPr id="26" name="card-title-538"/>
          <p:cNvSpPr txBox="1"/>
          <p:nvPr/>
        </p:nvSpPr>
        <p:spPr>
          <a:xfrm>
            <a:off x="9838944" y="205740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Checklist Templates</a:t>
            </a:r>
            <a:endParaRPr lang="en-US" sz="1400" dirty="0"/>
          </a:p>
        </p:txBody>
      </p:sp>
      <p:sp>
        <p:nvSpPr>
          <p:cNvPr id="27" name="card-body-539"/>
          <p:cNvSpPr txBox="1"/>
          <p:nvPr/>
        </p:nvSpPr>
        <p:spPr>
          <a:xfrm>
            <a:off x="9198864" y="269748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Controls loaded automatically when an audit starts.</a:t>
            </a:r>
            <a:endParaRPr lang="en-US" sz="1300" dirty="0"/>
          </a:p>
        </p:txBody>
      </p:sp>
      <p:sp>
        <p:nvSpPr>
          <p:cNvPr id="28" name="card-540"/>
          <p:cNvSpPr/>
          <p:nvPr/>
        </p:nvSpPr>
        <p:spPr>
          <a:xfrm>
            <a:off x="548640" y="4023360"/>
            <a:ext cx="263347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icon-circle-541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54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1" y="4372661"/>
            <a:ext cx="261518" cy="261518"/>
          </a:xfrm>
          <a:prstGeom prst="rect">
            <a:avLst/>
          </a:prstGeom>
        </p:spPr>
      </p:pic>
      <p:sp>
        <p:nvSpPr>
          <p:cNvPr id="31" name="card-title-543"/>
          <p:cNvSpPr txBox="1"/>
          <p:nvPr/>
        </p:nvSpPr>
        <p:spPr>
          <a:xfrm>
            <a:off x="1417320" y="425196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Audit Customization</a:t>
            </a:r>
            <a:endParaRPr lang="en-US" sz="1400" dirty="0"/>
          </a:p>
        </p:txBody>
      </p:sp>
      <p:sp>
        <p:nvSpPr>
          <p:cNvPr id="32" name="card-body-544"/>
          <p:cNvSpPr txBox="1"/>
          <p:nvPr/>
        </p:nvSpPr>
        <p:spPr>
          <a:xfrm>
            <a:off x="777240" y="489204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rules of the audit process. Next slide.</a:t>
            </a:r>
            <a:endParaRPr lang="en-US" sz="1300" dirty="0"/>
          </a:p>
        </p:txBody>
      </p:sp>
      <p:sp>
        <p:nvSpPr>
          <p:cNvPr id="33" name="card-545"/>
          <p:cNvSpPr/>
          <p:nvPr/>
        </p:nvSpPr>
        <p:spPr>
          <a:xfrm>
            <a:off x="3355848" y="402336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34" name="icon-circle-546"/>
          <p:cNvSpPr/>
          <p:nvPr/>
        </p:nvSpPr>
        <p:spPr>
          <a:xfrm>
            <a:off x="3584448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54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5149" y="4372661"/>
            <a:ext cx="261518" cy="261518"/>
          </a:xfrm>
          <a:prstGeom prst="rect">
            <a:avLst/>
          </a:prstGeom>
        </p:spPr>
      </p:pic>
      <p:sp>
        <p:nvSpPr>
          <p:cNvPr id="36" name="card-title-548"/>
          <p:cNvSpPr txBox="1"/>
          <p:nvPr/>
        </p:nvSpPr>
        <p:spPr>
          <a:xfrm>
            <a:off x="4224528" y="425196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Directory</a:t>
            </a:r>
            <a:endParaRPr lang="en-US" sz="1400" dirty="0"/>
          </a:p>
        </p:txBody>
      </p:sp>
      <p:sp>
        <p:nvSpPr>
          <p:cNvPr id="37" name="card-body-549"/>
          <p:cNvSpPr txBox="1"/>
          <p:nvPr/>
        </p:nvSpPr>
        <p:spPr>
          <a:xfrm>
            <a:off x="3584448" y="489204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Links Active Directory groups to IAMS roles.</a:t>
            </a:r>
            <a:endParaRPr lang="en-US" sz="1300" dirty="0"/>
          </a:p>
        </p:txBody>
      </p:sp>
      <p:sp>
        <p:nvSpPr>
          <p:cNvPr id="38" name="card-550"/>
          <p:cNvSpPr/>
          <p:nvPr/>
        </p:nvSpPr>
        <p:spPr>
          <a:xfrm>
            <a:off x="6163056" y="4023360"/>
            <a:ext cx="2633472" cy="2011680"/>
          </a:xfrm>
          <a:prstGeom prst="roundRect">
            <a:avLst>
              <a:gd name="adj" fmla="val 5455"/>
            </a:avLst>
          </a:prstGeom>
          <a:solidFill>
            <a:srgbClr val="F4F6F5"/>
          </a:solidFill>
          <a:ln/>
        </p:spPr>
      </p:sp>
      <p:sp>
        <p:nvSpPr>
          <p:cNvPr id="39" name="icon-circle-551"/>
          <p:cNvSpPr/>
          <p:nvPr/>
        </p:nvSpPr>
        <p:spPr>
          <a:xfrm>
            <a:off x="6391656" y="4251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-55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2357" y="4372661"/>
            <a:ext cx="261518" cy="261518"/>
          </a:xfrm>
          <a:prstGeom prst="rect">
            <a:avLst/>
          </a:prstGeom>
        </p:spPr>
      </p:pic>
      <p:sp>
        <p:nvSpPr>
          <p:cNvPr id="41" name="card-title-553"/>
          <p:cNvSpPr txBox="1"/>
          <p:nvPr/>
        </p:nvSpPr>
        <p:spPr>
          <a:xfrm>
            <a:off x="7031736" y="425196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System Configuration</a:t>
            </a:r>
            <a:endParaRPr lang="en-US" sz="1400" dirty="0"/>
          </a:p>
        </p:txBody>
      </p:sp>
      <p:sp>
        <p:nvSpPr>
          <p:cNvPr id="42" name="card-body-554"/>
          <p:cNvSpPr txBox="1"/>
          <p:nvPr/>
        </p:nvSpPr>
        <p:spPr>
          <a:xfrm>
            <a:off x="6391656" y="489204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GBB's name, contacts, and the review footer line.</a:t>
            </a:r>
            <a:endParaRPr lang="en-US" sz="1300" dirty="0"/>
          </a:p>
        </p:txBody>
      </p:sp>
      <p:sp>
        <p:nvSpPr>
          <p:cNvPr id="43" name="st-note"/>
          <p:cNvSpPr txBox="1"/>
          <p:nvPr/>
        </p:nvSpPr>
        <p:spPr>
          <a:xfrm>
            <a:off x="8970264" y="4206240"/>
            <a:ext cx="26334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Audit Managers can look, but only the System Admin can change.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Audit Customization</a:t>
            </a:r>
            <a:endParaRPr lang="en-US" sz="3200" dirty="0"/>
          </a:p>
        </p:txBody>
      </p:sp>
      <p:sp>
        <p:nvSpPr>
          <p:cNvPr id="3" name="tag-555"/>
          <p:cNvSpPr txBox="1"/>
          <p:nvPr/>
        </p:nvSpPr>
        <p:spPr>
          <a:xfrm>
            <a:off x="9555480" y="502920"/>
            <a:ext cx="2084832" cy="420624"/>
          </a:xfrm>
          <a:prstGeom prst="roundRect">
            <a:avLst>
              <a:gd name="adj" fmla="val 4565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 ONLY · WATCH</a:t>
            </a:r>
            <a:endParaRPr lang="en-US" sz="1200" dirty="0"/>
          </a:p>
        </p:txBody>
      </p:sp>
      <p:sp>
        <p:nvSpPr>
          <p:cNvPr id="4" name="path-label-556"/>
          <p:cNvSpPr txBox="1"/>
          <p:nvPr/>
        </p:nvSpPr>
        <p:spPr>
          <a:xfrm>
            <a:off x="548640" y="12070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Where:</a:t>
            </a:r>
            <a:endParaRPr lang="en-US" sz="1300" dirty="0"/>
          </a:p>
        </p:txBody>
      </p:sp>
      <p:sp>
        <p:nvSpPr>
          <p:cNvPr id="5" name="path-chip-557"/>
          <p:cNvSpPr txBox="1"/>
          <p:nvPr/>
        </p:nvSpPr>
        <p:spPr>
          <a:xfrm>
            <a:off x="1325880" y="1207008"/>
            <a:ext cx="1179576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Settings</a:t>
            </a:r>
            <a:endParaRPr lang="en-US" sz="1300" dirty="0"/>
          </a:p>
        </p:txBody>
      </p:sp>
      <p:sp>
        <p:nvSpPr>
          <p:cNvPr id="6" name="path-sep-558"/>
          <p:cNvSpPr txBox="1"/>
          <p:nvPr/>
        </p:nvSpPr>
        <p:spPr>
          <a:xfrm>
            <a:off x="2505456" y="12070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path-chip-559"/>
          <p:cNvSpPr txBox="1"/>
          <p:nvPr/>
        </p:nvSpPr>
        <p:spPr>
          <a:xfrm>
            <a:off x="2779776" y="1207008"/>
            <a:ext cx="2235708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Audit Customization</a:t>
            </a:r>
            <a:endParaRPr lang="en-US" sz="1300" dirty="0"/>
          </a:p>
        </p:txBody>
      </p:sp>
      <p:sp>
        <p:nvSpPr>
          <p:cNvPr id="8" name="card-560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6F5"/>
          </a:solidFill>
          <a:ln/>
        </p:spPr>
      </p:sp>
      <p:sp>
        <p:nvSpPr>
          <p:cNvPr id="9" name="icon-circle-561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56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1" name="card-title-563"/>
          <p:cNvSpPr txBox="1"/>
          <p:nvPr/>
        </p:nvSpPr>
        <p:spPr>
          <a:xfrm>
            <a:off x="141732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Lifecycle Gates</a:t>
            </a:r>
            <a:endParaRPr lang="en-US" sz="1600" dirty="0"/>
          </a:p>
        </p:txBody>
      </p:sp>
      <p:sp>
        <p:nvSpPr>
          <p:cNvPr id="12" name="card-body-564"/>
          <p:cNvSpPr txBox="1"/>
          <p:nvPr/>
        </p:nvSpPr>
        <p:spPr>
          <a:xfrm>
            <a:off x="77724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must be finished before an audit moves to its next stage.</a:t>
            </a:r>
            <a:endParaRPr lang="en-US" sz="1400" dirty="0"/>
          </a:p>
        </p:txBody>
      </p:sp>
      <p:sp>
        <p:nvSpPr>
          <p:cNvPr id="13" name="card-565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6F5"/>
          </a:solidFill>
          <a:ln/>
        </p:spPr>
      </p:sp>
      <p:sp>
        <p:nvSpPr>
          <p:cNvPr id="14" name="icon-circle-566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56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81" y="2178101"/>
            <a:ext cx="261518" cy="261518"/>
          </a:xfrm>
          <a:prstGeom prst="rect">
            <a:avLst/>
          </a:prstGeom>
        </p:spPr>
      </p:pic>
      <p:sp>
        <p:nvSpPr>
          <p:cNvPr id="16" name="card-title-568"/>
          <p:cNvSpPr txBox="1"/>
          <p:nvPr/>
        </p:nvSpPr>
        <p:spPr>
          <a:xfrm>
            <a:off x="516636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SLA Rules</a:t>
            </a:r>
            <a:endParaRPr lang="en-US" sz="1600" dirty="0"/>
          </a:p>
        </p:txBody>
      </p:sp>
      <p:sp>
        <p:nvSpPr>
          <p:cNvPr id="17" name="card-body-569"/>
          <p:cNvSpPr txBox="1"/>
          <p:nvPr/>
        </p:nvSpPr>
        <p:spPr>
          <a:xfrm>
            <a:off x="452628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Default deadlines for audits and for fixing findings.</a:t>
            </a:r>
            <a:endParaRPr lang="en-US" sz="1400" dirty="0"/>
          </a:p>
        </p:txBody>
      </p:sp>
      <p:sp>
        <p:nvSpPr>
          <p:cNvPr id="18" name="card-57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9" name="icon-circle-571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57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021" y="2178101"/>
            <a:ext cx="261518" cy="261518"/>
          </a:xfrm>
          <a:prstGeom prst="rect">
            <a:avLst/>
          </a:prstGeom>
        </p:spPr>
      </p:pic>
      <p:sp>
        <p:nvSpPr>
          <p:cNvPr id="21" name="card-title-573"/>
          <p:cNvSpPr txBox="1"/>
          <p:nvPr/>
        </p:nvSpPr>
        <p:spPr>
          <a:xfrm>
            <a:off x="891540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Approval Matrix</a:t>
            </a:r>
            <a:endParaRPr lang="en-US" sz="1600" dirty="0"/>
          </a:p>
        </p:txBody>
      </p:sp>
      <p:sp>
        <p:nvSpPr>
          <p:cNvPr id="22" name="card-body-574"/>
          <p:cNvSpPr txBox="1"/>
          <p:nvPr/>
        </p:nvSpPr>
        <p:spPr>
          <a:xfrm>
            <a:off x="8275320" y="2697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 signs what, and in what order. Example: Manager, then Director, then CAE.</a:t>
            </a:r>
            <a:endParaRPr lang="en-US" sz="1400" dirty="0"/>
          </a:p>
        </p:txBody>
      </p:sp>
      <p:sp>
        <p:nvSpPr>
          <p:cNvPr id="23" name="card-575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6F5"/>
          </a:solidFill>
          <a:ln/>
        </p:spPr>
      </p:sp>
      <p:sp>
        <p:nvSpPr>
          <p:cNvPr id="24" name="icon-circle-576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57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4326941"/>
            <a:ext cx="261518" cy="261518"/>
          </a:xfrm>
          <a:prstGeom prst="rect">
            <a:avLst/>
          </a:prstGeom>
        </p:spPr>
      </p:pic>
      <p:sp>
        <p:nvSpPr>
          <p:cNvPr id="26" name="card-title-578"/>
          <p:cNvSpPr txBox="1"/>
          <p:nvPr/>
        </p:nvSpPr>
        <p:spPr>
          <a:xfrm>
            <a:off x="141732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Taxonomy</a:t>
            </a:r>
            <a:endParaRPr lang="en-US" sz="1600" dirty="0"/>
          </a:p>
        </p:txBody>
      </p:sp>
      <p:sp>
        <p:nvSpPr>
          <p:cNvPr id="27" name="card-body-579"/>
          <p:cNvSpPr txBox="1"/>
          <p:nvPr/>
        </p:nvSpPr>
        <p:spPr>
          <a:xfrm>
            <a:off x="77724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lists people pick from: audit types, priorities, categories, severities.</a:t>
            </a:r>
            <a:endParaRPr lang="en-US" sz="1400" dirty="0"/>
          </a:p>
        </p:txBody>
      </p:sp>
      <p:sp>
        <p:nvSpPr>
          <p:cNvPr id="28" name="card-580"/>
          <p:cNvSpPr/>
          <p:nvPr/>
        </p:nvSpPr>
        <p:spPr>
          <a:xfrm>
            <a:off x="429768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6F5"/>
          </a:solidFill>
          <a:ln/>
        </p:spPr>
      </p:sp>
      <p:sp>
        <p:nvSpPr>
          <p:cNvPr id="29" name="icon-circle-581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58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981" y="4326941"/>
            <a:ext cx="261518" cy="261518"/>
          </a:xfrm>
          <a:prstGeom prst="rect">
            <a:avLst/>
          </a:prstGeom>
        </p:spPr>
      </p:pic>
      <p:sp>
        <p:nvSpPr>
          <p:cNvPr id="31" name="card-title-583"/>
          <p:cNvSpPr txBox="1"/>
          <p:nvPr/>
        </p:nvSpPr>
        <p:spPr>
          <a:xfrm>
            <a:off x="51663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Analytics Visibility</a:t>
            </a:r>
            <a:endParaRPr lang="en-US" sz="1600" dirty="0"/>
          </a:p>
        </p:txBody>
      </p:sp>
      <p:sp>
        <p:nvSpPr>
          <p:cNvPr id="32" name="card-body-584"/>
          <p:cNvSpPr txBox="1"/>
          <p:nvPr/>
        </p:nvSpPr>
        <p:spPr>
          <a:xfrm>
            <a:off x="452628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numbers show on dashboards and management reports.</a:t>
            </a:r>
            <a:endParaRPr lang="en-US" sz="1400" dirty="0"/>
          </a:p>
        </p:txBody>
      </p:sp>
      <p:sp>
        <p:nvSpPr>
          <p:cNvPr id="33" name="card-585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4F6F5"/>
          </a:solidFill>
          <a:ln/>
        </p:spPr>
      </p:sp>
      <p:sp>
        <p:nvSpPr>
          <p:cNvPr id="34" name="icon-circle-586"/>
          <p:cNvSpPr/>
          <p:nvPr/>
        </p:nvSpPr>
        <p:spPr>
          <a:xfrm>
            <a:off x="827532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on-58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021" y="4326941"/>
            <a:ext cx="261518" cy="261518"/>
          </a:xfrm>
          <a:prstGeom prst="rect">
            <a:avLst/>
          </a:prstGeom>
        </p:spPr>
      </p:pic>
      <p:sp>
        <p:nvSpPr>
          <p:cNvPr id="36" name="card-title-588"/>
          <p:cNvSpPr txBox="1"/>
          <p:nvPr/>
        </p:nvSpPr>
        <p:spPr>
          <a:xfrm>
            <a:off x="891540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Planning Priority Weights</a:t>
            </a:r>
            <a:endParaRPr lang="en-US" sz="1600" dirty="0"/>
          </a:p>
        </p:txBody>
      </p:sp>
      <p:sp>
        <p:nvSpPr>
          <p:cNvPr id="37" name="card-body-589"/>
          <p:cNvSpPr txBox="1"/>
          <p:nvPr/>
        </p:nvSpPr>
        <p:spPr>
          <a:xfrm>
            <a:off x="827532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IAMS ranks what to audit next year.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learnt today</a:t>
            </a:r>
            <a:endParaRPr lang="en-US" sz="3200" dirty="0"/>
          </a:p>
        </p:txBody>
      </p:sp>
      <p:sp>
        <p:nvSpPr>
          <p:cNvPr id="3" name="icon-circle-590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59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36192"/>
            <a:ext cx="356616" cy="356616"/>
          </a:xfrm>
          <a:prstGeom prst="rect">
            <a:avLst/>
          </a:prstGeom>
        </p:spPr>
      </p:pic>
      <p:sp>
        <p:nvSpPr>
          <p:cNvPr id="5" name="learnt-592"/>
          <p:cNvSpPr txBox="1"/>
          <p:nvPr/>
        </p:nvSpPr>
        <p:spPr>
          <a:xfrm>
            <a:off x="1463040" y="1371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IAMS keeps the whole audit in one place, in six steps.</a:t>
            </a:r>
            <a:endParaRPr lang="en-US" sz="2000" dirty="0"/>
          </a:p>
        </p:txBody>
      </p:sp>
      <p:sp>
        <p:nvSpPr>
          <p:cNvPr id="6" name="icon-circle-593"/>
          <p:cNvSpPr/>
          <p:nvPr/>
        </p:nvSpPr>
        <p:spPr>
          <a:xfrm>
            <a:off x="548640" y="231343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9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78024"/>
            <a:ext cx="356616" cy="356616"/>
          </a:xfrm>
          <a:prstGeom prst="rect">
            <a:avLst/>
          </a:prstGeom>
        </p:spPr>
      </p:pic>
      <p:sp>
        <p:nvSpPr>
          <p:cNvPr id="8" name="learnt-595"/>
          <p:cNvSpPr txBox="1"/>
          <p:nvPr/>
        </p:nvSpPr>
        <p:spPr>
          <a:xfrm>
            <a:off x="1463040" y="23134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How to log in, find your way around, and save your signature.</a:t>
            </a:r>
            <a:endParaRPr lang="en-US" sz="2000" dirty="0"/>
          </a:p>
        </p:txBody>
      </p:sp>
      <p:sp>
        <p:nvSpPr>
          <p:cNvPr id="9" name="icon-circle-596"/>
          <p:cNvSpPr/>
          <p:nvPr/>
        </p:nvSpPr>
        <p:spPr>
          <a:xfrm>
            <a:off x="548640" y="3255264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59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19856"/>
            <a:ext cx="356616" cy="356616"/>
          </a:xfrm>
          <a:prstGeom prst="rect">
            <a:avLst/>
          </a:prstGeom>
        </p:spPr>
      </p:pic>
      <p:sp>
        <p:nvSpPr>
          <p:cNvPr id="11" name="learnt-598"/>
          <p:cNvSpPr txBox="1"/>
          <p:nvPr/>
        </p:nvSpPr>
        <p:spPr>
          <a:xfrm>
            <a:off x="1463040" y="325526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Your role decides what you can see and do. The admin manages roles.</a:t>
            </a:r>
            <a:endParaRPr lang="en-US" sz="2000" dirty="0"/>
          </a:p>
        </p:txBody>
      </p:sp>
      <p:sp>
        <p:nvSpPr>
          <p:cNvPr id="12" name="icon-circle-599"/>
          <p:cNvSpPr/>
          <p:nvPr/>
        </p:nvSpPr>
        <p:spPr>
          <a:xfrm>
            <a:off x="548640" y="4197096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60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361688"/>
            <a:ext cx="356616" cy="356616"/>
          </a:xfrm>
          <a:prstGeom prst="rect">
            <a:avLst/>
          </a:prstGeom>
        </p:spPr>
      </p:pic>
      <p:sp>
        <p:nvSpPr>
          <p:cNvPr id="14" name="learnt-601"/>
          <p:cNvSpPr txBox="1"/>
          <p:nvPr/>
        </p:nvSpPr>
        <p:spPr>
          <a:xfrm>
            <a:off x="1463040" y="419709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How to send, approve and sign a request, and how IAMS notifies and escalates.</a:t>
            </a:r>
            <a:endParaRPr lang="en-US" sz="2000" dirty="0"/>
          </a:p>
        </p:txBody>
      </p:sp>
      <p:sp>
        <p:nvSpPr>
          <p:cNvPr id="15" name="icon-circle-602"/>
          <p:cNvSpPr/>
          <p:nvPr/>
        </p:nvSpPr>
        <p:spPr>
          <a:xfrm>
            <a:off x="548640" y="513892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60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303520"/>
            <a:ext cx="356616" cy="356616"/>
          </a:xfrm>
          <a:prstGeom prst="rect">
            <a:avLst/>
          </a:prstGeom>
        </p:spPr>
      </p:pic>
      <p:sp>
        <p:nvSpPr>
          <p:cNvPr id="17" name="learnt-604"/>
          <p:cNvSpPr txBox="1"/>
          <p:nvPr/>
        </p:nvSpPr>
        <p:spPr>
          <a:xfrm>
            <a:off x="1463040" y="5138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Settings is where GBB sets its own rules.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20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Before tomorrow: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1. Save your signature (Profile › Signature)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2. Send one request to a colleague, and act on one you receive</a:t>
            </a:r>
            <a:endParaRPr lang="en-US" sz="2400" dirty="0"/>
          </a:p>
        </p:txBody>
      </p:sp>
      <p:sp>
        <p:nvSpPr>
          <p:cNvPr id="4" name="tomorrow"/>
          <p:cNvSpPr txBox="1"/>
          <p:nvPr/>
        </p:nvSpPr>
        <p:spPr>
          <a:xfrm>
            <a:off x="54864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Tomorrow: the tools around the audit</a:t>
            </a:r>
            <a:endParaRPr lang="en-US" sz="1800" dirty="0"/>
          </a:p>
        </p:txBody>
      </p:sp>
      <p:sp>
        <p:nvSpPr>
          <p:cNvPr id="5" name="icon-circle-605"/>
          <p:cNvSpPr/>
          <p:nvPr/>
        </p:nvSpPr>
        <p:spPr>
          <a:xfrm>
            <a:off x="9509760" y="210312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60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563" y="2585923"/>
            <a:ext cx="1046074" cy="1046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BB IAMS">
  <a:themeElements>
    <a:clrScheme name="GBB IAMS">
      <a:dk1>
        <a:srgbClr val="1A202C"/>
      </a:dk1>
      <a:lt1>
        <a:srgbClr val="FFFFFF"/>
      </a:lt1>
      <a:dk2>
        <a:srgbClr val="003823"/>
      </a:dk2>
      <a:lt2>
        <a:srgbClr val="E5F3EC"/>
      </a:lt2>
      <a:accent1>
        <a:srgbClr val="008751"/>
      </a:accent1>
      <a:accent2>
        <a:srgbClr val="00A651"/>
      </a:accent2>
      <a:accent3>
        <a:srgbClr val="F2B705"/>
      </a:accent3>
      <a:accent4>
        <a:srgbClr val="C0392B"/>
      </a:accent4>
      <a:accent5>
        <a:srgbClr val="5A6B7B"/>
      </a:accent5>
      <a:accent6>
        <a:srgbClr val="81C7A1"/>
      </a:accent6>
      <a:hlink>
        <a:srgbClr val="008751"/>
      </a:hlink>
      <a:folHlink>
        <a:srgbClr val="005C37"/>
      </a:folHlink>
    </a:clrScheme>
    <a:fontScheme name="GBB IAM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3216</Words>
  <Application>Microsoft Macintosh PowerPoint</Application>
  <PresentationFormat>Widescreen</PresentationFormat>
  <Paragraphs>558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GBB IAMS</vt:lpstr>
      <vt:lpstr>Day 1: Getting started</vt:lpstr>
      <vt:lpstr>Today's plan</vt:lpstr>
      <vt:lpstr>What IAMS is</vt:lpstr>
      <vt:lpstr>One place for all our audit work</vt:lpstr>
      <vt:lpstr>The journey of one audit: six steps</vt:lpstr>
      <vt:lpstr>Our three days together</vt:lpstr>
      <vt:lpstr>Logging in and your profile</vt:lpstr>
      <vt:lpstr>Log in</vt:lpstr>
      <vt:lpstr>Find your way around</vt:lpstr>
      <vt:lpstr>Your Profile page</vt:lpstr>
      <vt:lpstr>Save your signature</vt:lpstr>
      <vt:lpstr>Roles and permissions</vt:lpstr>
      <vt:lpstr>Permissions are keys, roles are key rings</vt:lpstr>
      <vt:lpstr>The roles we have at GBB</vt:lpstr>
      <vt:lpstr>Two rules no role can break</vt:lpstr>
      <vt:lpstr>How the admin creates a role</vt:lpstr>
      <vt:lpstr>How the admin gives a role to a person</vt:lpstr>
      <vt:lpstr>Requests and notifications</vt:lpstr>
      <vt:lpstr>What is a request?</vt:lpstr>
      <vt:lpstr>Exercise: get into groups of three</vt:lpstr>
      <vt:lpstr>Person A: send the request</vt:lpstr>
      <vt:lpstr>Person B: approve it</vt:lpstr>
      <vt:lpstr>Person C: sign it</vt:lpstr>
      <vt:lpstr>Person A: see the result</vt:lpstr>
      <vt:lpstr>Saying no, and fixing mistakes</vt:lpstr>
      <vt:lpstr>Notifications: the bell and your email</vt:lpstr>
      <vt:lpstr>Escalations: nothing sits on a table forever</vt:lpstr>
      <vt:lpstr>Stuck? Quick fixes</vt:lpstr>
      <vt:lpstr>The Settings page</vt:lpstr>
      <vt:lpstr>Settings: tab by tab</vt:lpstr>
      <vt:lpstr>Inside Audit Customization</vt:lpstr>
      <vt:lpstr>What we learnt today</vt:lpstr>
      <vt:lpstr>Questions?</vt:lpstr>
    </vt:vector>
  </TitlesOfParts>
  <Company>Galaxy Backbone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IAMS Training: Day 1</dc:title>
  <dc:subject>PptxGenJS Presentation</dc:subject>
  <dc:creator>IAMS Training</dc:creator>
  <cp:lastModifiedBy>davidaiyewumi1@gmail.com</cp:lastModifiedBy>
  <cp:revision>2</cp:revision>
  <dcterms:created xsi:type="dcterms:W3CDTF">2026-10-25T15:44:05Z</dcterms:created>
  <dcterms:modified xsi:type="dcterms:W3CDTF">2026-10-27T10:20:21Z</dcterms:modified>
</cp:coreProperties>
</file>