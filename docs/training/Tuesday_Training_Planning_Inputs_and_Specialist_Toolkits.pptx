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WELCOME &amp; OPENING (1 MINUTE):</a:t>
            </a:r>
          </a:p>
          <a:p>
            <a:r>
              <a:t>"Good morning everyone. Welcome to Tuesday's IAMS training session. </a:t>
            </a:r>
          </a:p>
          <a:p>
            <a:r>
              <a:t>Today is all about 'Planning Inputs and the Specialist Toolkits.'</a:t>
            </a:r>
          </a:p>
          <a:p>
            <a:r>
              <a:t>Everything we configure today forms the exact foundation for tomorrow's audit fieldwork.</a:t>
            </a:r>
          </a:p>
          <a:p>
            <a:r>
              <a:t>We have 5 focused modules designed to fit smoothly within 60 minutes.</a:t>
            </a:r>
          </a:p>
          <a:p>
            <a:r>
              <a:t>Let's look at today's roadmap."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OVERVIEW (1 MINUTE):</a:t>
            </a:r>
          </a:p>
          <a:p>
            <a:r>
              <a:t>"Notice how the schedule is structured:</a:t>
            </a:r>
          </a:p>
          <a:p>
            <a:r>
              <a:t>- The first 25 minutes establish our universe, risks, assets, and testing standards.</a:t>
            </a:r>
          </a:p>
          <a:p>
            <a:r>
              <a:t>- The next 20 minutes dive deep into the specialist IT and System Audit tools (analytics, access reviews, penetration testing).</a:t>
            </a:r>
          </a:p>
          <a:p>
            <a:r>
              <a:t>- The final 15 minutes demonstrate board oversight reporting, forensic audit trail integrity, and our end-to-end audit programme approval.</a:t>
            </a:r>
          </a:p>
          <a:p>
            <a:r>
              <a:t>Let's begin with Module 1: The Audit Universe."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EXPLAINING THE CONCEPTS (3 MINUTES):</a:t>
            </a:r>
          </a:p>
          <a:p>
            <a:r>
              <a:t>"Before touching the system, let's understand why these three elements exist together:</a:t>
            </a:r>
          </a:p>
          <a:p>
            <a:r>
              <a:t>1. The Audit Universe is our boundary: 'What exists at Galaxy Backbone that we could possibly audit?'</a:t>
            </a:r>
          </a:p>
          <a:p>
            <a:r>
              <a:t>2. The Risk Register is our compass: 'Where are we most vulnerable, and what could go wrong?'</a:t>
            </a:r>
          </a:p>
          <a:p>
            <a:r>
              <a:t>3. Assets are our technical and operational anchors: 'What IT applications or infrastructure drive those processes?'</a:t>
            </a:r>
          </a:p>
          <a:p>
            <a:r>
              <a:t>When we link all three, an auditor can say: 'We are auditing Treasury Operations, specifically focusing on the risk of Unauthorised payment release, which runs on asset AST-001 (Treasury Payment System).'</a:t>
            </a:r>
          </a:p>
          <a:p>
            <a:r>
              <a:t>Let's build these three live in the system."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(4 MINUTES):</a:t>
            </a:r>
          </a:p>
          <a:p>
            <a:r>
              <a:t>- Ask the class to follow along on their screens.</a:t>
            </a:r>
          </a:p>
          <a:p>
            <a:r>
              <a:t>- Open 'Audit Universe'.</a:t>
            </a:r>
          </a:p>
          <a:p>
            <a:r>
              <a:t>- Emphasize the 'Category' field: explains whether this is a department or technical system.</a:t>
            </a:r>
          </a:p>
          <a:p>
            <a:r>
              <a:t>- Select Chisom Okafor as Owner.</a:t>
            </a:r>
          </a:p>
          <a:p>
            <a:r>
              <a:t>- Click 'Create Entity' and show the green success toast notification.</a:t>
            </a:r>
          </a:p>
          <a:p>
            <a:r>
              <a:t>- Highlight that tomorrow's audit will select this exact entity from the dropdown.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(4 MINUTES):</a:t>
            </a:r>
          </a:p>
          <a:p>
            <a:r>
              <a:t>- Show how moving the sliders dynamically changes the tone from Green (Low) to Red (Critical).</a:t>
            </a:r>
          </a:p>
          <a:p>
            <a:r>
              <a:t>- Explain the calculation: 4 x 5 = 20.</a:t>
            </a:r>
          </a:p>
          <a:p>
            <a:r>
              <a:t>- Point out the link to 'Treasury Operations' in the dropdown.</a:t>
            </a:r>
          </a:p>
          <a:p>
            <a:r>
              <a:t>- Click 'Add to register'.</a:t>
            </a:r>
          </a:p>
          <a:p>
            <a:r>
              <a:t>- Immediately switch to the 'Heat Map' tab to show the visual distribution. Point out how executive leadership looks at this exact heatmap.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(4 MINUTES):</a:t>
            </a:r>
          </a:p>
          <a:p>
            <a:r>
              <a:t>- Walk through creating AST-001.</a:t>
            </a:r>
          </a:p>
          <a:p>
            <a:r>
              <a:t>- Explain why Asset Tag matters: AST-001 is the official tag referenced across evidence requests, working papers, and findings.</a:t>
            </a:r>
          </a:p>
          <a:p>
            <a:r>
              <a:t>- Explain Attestation: It stops ghost assets or obsolete software from lingering on the balance sheet and security perimeter.</a:t>
            </a:r>
          </a:p>
          <a:p>
            <a:r>
              <a:t>- Demonstrate attesting the asset and viewing the historical snapshot table.</a:t>
            </a:r>
          </a:p>
          <a:p>
            <a:r>
              <a:t>- Wrap up Module 1: 'We now have our Universe entity, our Critical Risk, and our Attested Asset. Ready for Module 2.'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EXPLAINING STANDARDS &amp; EVIDENCE (2 MINUTES):</a:t>
            </a:r>
          </a:p>
          <a:p>
            <a:r>
              <a:t>"In Module 2, we look at what standards we test against.</a:t>
            </a:r>
          </a:p>
          <a:p>
            <a:r>
              <a:t>- The Control Library stores our benchmarks (NDPR, ISO, internal regulations).</a:t>
            </a:r>
          </a:p>
          <a:p>
            <a:r>
              <a:t>- When an auditor tests a control, they don't test 100,000 transactions; they draw a statistically valid sample using our Sampling Toolkit.</a:t>
            </a:r>
          </a:p>
          <a:p>
            <a:r>
              <a:t>- When auditees provide receipts or logs, they are deposited directly into the Central Evidence Repository, creating an immutable paper trail."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(4 MINUTES):</a:t>
            </a:r>
          </a:p>
          <a:p>
            <a:r>
              <a:t>- Show the Control Library in the live system.</a:t>
            </a:r>
          </a:p>
          <a:p>
            <a:r>
              <a:t>- Filter by ISO 27001 and show how control codes and test procedures are already pre-seeded.</a:t>
            </a:r>
          </a:p>
          <a:p>
            <a:r>
              <a:t>- Click 'Evidence Repository': explain that when auditees respond to evidence requests during fieldwork, the files flow directly into this secure repository.</a:t>
            </a:r>
          </a:p>
          <a:p>
            <a:r>
              <a:t>- Show 'Documents': highlight that this is where ad-hoc sign-offs occur.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(4 MINUTES):</a:t>
            </a:r>
          </a:p>
          <a:p>
            <a:r>
              <a:t>- Explain the difference between guessing a sample and using scientific sampling.</a:t>
            </a:r>
          </a:p>
          <a:p>
            <a:r>
              <a:t>- If an auditor picks 10 invoices at random without a methodology, an external regulator or the Auditor-General can challenge the findings.</a:t>
            </a:r>
          </a:p>
          <a:p>
            <a:r>
              <a:t>- IAMS proves the sampling seed, formula, and sample size in writing.</a:t>
            </a:r>
          </a:p>
          <a:p>
            <a:r>
              <a:t>- Show how the generated sample CSV automatically binds directly to the engagement evidence repository.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EXPLAINING SYSTEM AUDIT CONCEPTS (2 MINUTES):</a:t>
            </a:r>
          </a:p>
          <a:p>
            <a:r>
              <a:t>"Module 3 is the most technical 20 minutes of our training.</a:t>
            </a:r>
          </a:p>
          <a:p>
            <a:r>
              <a:t>Traditional auditing waits until year-end to sample paper files. System Audit uses automated data analytics and continuous monitoring to catch exceptions in real time.</a:t>
            </a:r>
          </a:p>
          <a:p>
            <a:r>
              <a:t>Let's see the 4 specialist tools inside the System Audit module:</a:t>
            </a:r>
          </a:p>
          <a:p>
            <a:r>
              <a:t>1. Analytics on sample CSVs</a:t>
            </a:r>
          </a:p>
          <a:p>
            <a:r>
              <a:t>2. User Access Review (run -&gt; decide -&gt; justify -&gt; sign off)</a:t>
            </a:r>
          </a:p>
          <a:p>
            <a:r>
              <a:t>3. Security Testing with strict Segregation of Duties</a:t>
            </a:r>
          </a:p>
          <a:p>
            <a:r>
              <a:t>4. Continuous Monitoring &amp; System Documentation."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(4 MINUTES):</a:t>
            </a:r>
          </a:p>
          <a:p>
            <a:r>
              <a:t>- Open 'System Audit' -&gt; 'Analytics'.</a:t>
            </a:r>
          </a:p>
          <a:p>
            <a:r>
              <a:t>- Click 'New Analysis Run'.</a:t>
            </a:r>
          </a:p>
          <a:p>
            <a:r>
              <a:t>- Explain that auditors don't write SQL queries manually; they upload CSV exports and IAMS executes pre-configured compliance rule packs.</a:t>
            </a:r>
          </a:p>
          <a:p>
            <a:r>
              <a:t>- Show the results dashboard: breakdown of exceptions by severity.</a:t>
            </a:r>
          </a:p>
          <a:p>
            <a:r>
              <a:t>- Emphasize: 'These exceptions aren't just numbers—they feed straight into our Access Review worklist.'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(5 MINUTES):</a:t>
            </a:r>
          </a:p>
          <a:p>
            <a:r>
              <a:t>- This is a critical slide. Demonstrate the code rule we verified in `access-review.request.dto.ts`.</a:t>
            </a:r>
          </a:p>
          <a:p>
            <a:r>
              <a:t>- Intentionally try to select 'Revoke' and save without a note: show the red validation message: 'Say what access should be removed or changed'.</a:t>
            </a:r>
          </a:p>
          <a:p>
            <a:r>
              <a:t>- Explain to the class: 'The system will not let an auditor say revoke without documenting why. This provides legal and operational justification.'</a:t>
            </a:r>
          </a:p>
          <a:p>
            <a:r>
              <a:t>- Complete the sign-off and show the completed review badge.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(5 MINUTES):</a:t>
            </a:r>
          </a:p>
          <a:p>
            <a:r>
              <a:t>- Explain Segregation of Duties (SoD): In IT security, penetration testing involves deliberate intrusive scanning that could impact critical infrastructure.</a:t>
            </a:r>
          </a:p>
          <a:p>
            <a:r>
              <a:t>- The person who plans the test MUST NOT have the power to authorize it unilaterally.</a:t>
            </a:r>
          </a:p>
          <a:p>
            <a:r>
              <a:t>- Show the error message when the coordinator tries to approve.</a:t>
            </a:r>
          </a:p>
          <a:p>
            <a:r>
              <a:t>- Log in as the CAE or Director and authorize the test.</a:t>
            </a:r>
          </a:p>
          <a:p>
            <a:r>
              <a:t>- Explain: 'This prevents rogue or unapproved penetration tests from being executed against Galaxy Backbone networks.'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(4 MINUTES):</a:t>
            </a:r>
          </a:p>
          <a:p>
            <a:r>
              <a:t>- Open 'System Audit' -&gt; 'Continuous Monitoring'.</a:t>
            </a:r>
          </a:p>
          <a:p>
            <a:r>
              <a:t>- Click 'Run Checks Now' and watch the progress indicator evaluate the checks.</a:t>
            </a:r>
          </a:p>
          <a:p>
            <a:r>
              <a:t>- Open 'System Documentation': show an uploaded architecture diagram or policy PDF.</a:t>
            </a:r>
          </a:p>
          <a:p>
            <a:r>
              <a:t>- Summarize Module 3: 'Data analytics, access reviews, authorized penetration testing, and continuous monitoring make IAMS an active defense and assurance platform.'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EXPLAINING OVERSIGHT &amp; INTEGRITY (2 MINUTES):</a:t>
            </a:r>
          </a:p>
          <a:p>
            <a:r>
              <a:t>"Module 4 covers how executive leadership and the Board Audit Committee view the system, and how the system guarantees data integrity.</a:t>
            </a:r>
          </a:p>
          <a:p>
            <a:r>
              <a:t>- The Committee Pack replaces weeks of manual spreadsheet compilation with a 1-click executive PDF.</a:t>
            </a:r>
          </a:p>
          <a:p>
            <a:r>
              <a:t>- The Audit Trail isn't a simple log file—it is cryptographically sealed using SHA-256 blockchain-style chaining. If a database administrator attempts to change a finding status directly in SQL Server, the chain verification breaks.</a:t>
            </a:r>
          </a:p>
          <a:p>
            <a:r>
              <a:t>Let's see this live."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(6 MINUTES):</a:t>
            </a:r>
          </a:p>
          <a:p>
            <a:r>
              <a:t>- Download the Committee Pack PDF and open it: point out how clean the layout is.</a:t>
            </a:r>
          </a:p>
          <a:p>
            <a:r>
              <a:t>- Open 'Audit Logs': click on a recent update to show the 'Before' and 'After' side-by-side JSON comparison.</a:t>
            </a:r>
          </a:p>
          <a:p>
            <a:r>
              <a:t>- Click 'Verify Chain Integrity' and point out the cryptographic verification message.</a:t>
            </a:r>
          </a:p>
          <a:p>
            <a:r>
              <a:t>- Explain: 'This satisfies internal audit independence and external regulatory standards (e.g., ISO and NDPR audits).'</a:t>
            </a:r>
          </a:p>
          <a:p>
            <a:r>
              <a:t>- Show IMOC tickets and how they link directly as evidence.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FACILITATOR INSTRUCTIONS (5 MINUTES):</a:t>
            </a:r>
          </a:p>
          <a:p>
            <a:r>
              <a:t>- This is the grand finale of Tuesday's training.</a:t>
            </a:r>
          </a:p>
          <a:p>
            <a:r>
              <a:t>- Highlight the full approval workflow:</a:t>
            </a:r>
          </a:p>
          <a:p>
            <a:r>
              <a:t>  1. We used the 'Treasury Operations' entity we created in Module 1.</a:t>
            </a:r>
          </a:p>
          <a:p>
            <a:r>
              <a:t>  2. We demonstrated that approvals aren't rubber stamps: the CAE can reject with feedback.</a:t>
            </a:r>
          </a:p>
          <a:p>
            <a:r>
              <a:t>  3. The manager resubmits.</a:t>
            </a:r>
          </a:p>
          <a:p>
            <a:r>
              <a:t>  4. The CAE applies a legal digital signature.</a:t>
            </a:r>
          </a:p>
          <a:p>
            <a:r>
              <a:t>  5. The programme is approved and locked.</a:t>
            </a:r>
          </a:p>
          <a:p>
            <a:r>
              <a:t>- Conclude with the punchline: 'This FY 2026 Financial Audit Programme is now approved. This is what we audit tomorrow!'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SCRIPT (1 MINUTE):</a:t>
            </a:r>
          </a:p>
          <a:p>
            <a:r>
              <a:t>"Thank you everyone. In 60 minutes today, we have configured every planning input and mastered all specialist toolkits in IAMS.</a:t>
            </a:r>
          </a:p>
          <a:p>
            <a:r>
              <a:t>Tomorrow morning, we open the engagement for Treasury Operations, execute fieldwork on AST-001, test the risk of unauthorized payments, and issue the final GBB audit report.</a:t>
            </a:r>
          </a:p>
          <a:p>
            <a:r>
              <a:t>Have a great afternoon, and see you tomorrow!"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CA8A04"/>
                </a:solidFill>
              </a:defRPr>
            </a:pPr>
            <a:r>
              <a:t>GALAXY BACKBONE LIMITED — INTERNAL AUDIT MANAGEMENT SYSTEM (IAMS)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Tuesday: Planning Inputs &amp; Specialist Toolkits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Complete 60-Minute Facilitator Guide &amp; Interactive Hands-on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Target Duration: 60 Minutes | Mode: Interactive Demonstration + Live System Practice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Key Focus: Setting up foundational universe entities, risk assessment, asset attestations, audit sampling, access reviews, forensic hash chains, and programme approvals.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MASTER SCHEDULE &amp;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Session Roadmap: 5 Core Modules in 60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Total: 60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1. Planning Foundations (15 Min)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Audit Universe: What is an auditable entity?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Risk Register: 5x5 Likelihood x Impact scoring &amp; Heat Map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Assets Registry &amp; Auditee Attestation workflow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Creating: 'Treasury Operations', 'Unauthorised payment release', and 'AST-001' for Wednesday's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2. Standards, Testing &amp; Evidence (10 Min)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Control Library: Frameworks (NDPR, ISO, PCI-DSS) &amp; coverage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Audit Modules: System/IT, Financial, and Compliance tracks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Statistical Sampling: Random, Interval &amp; High-Value thresholds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Central Evidence Repository &amp; Document governance.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3. Specialist System Audit Toolkit (20 Min)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Data Analytics: Running automated rules on population CSVs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User Access Review: Run -&gt; Decide -&gt; Justify -&gt; Sign off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Continuous Monitoring: Automated exception detection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Security Testing: Segregation of Duties (Plan vs Authorise)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System Documentation vault &amp; architectural artifacts.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4 &amp; 5. Oversight &amp; Programme Approval (15 Min)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Module 4 (10 Min): Executive Analytics &amp; Committee Pack PDF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Forensic Audit Logs: Before/After JSON &amp; Cryptographic Hash Chain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IMOC ITSM Ticket Ingestion &amp; Audit Intelligence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Module 5 (5 Min): FY2026 Programme Lifecycle: Submit -&gt; Rejection -&gt; Resubmit -&gt; Approve. (Ready for Wednesday).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1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Concepts: Universe, Risk Register &amp;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15 Min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Audit Universe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DEFINITION: The comprehensive master inventory of all auditable business units, departments, operational systems, and infrastructure across Galaxy Backbone.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WHY IT MATTERS: If an entity isn't in the Audit Universe, it cannot be scheduled for an audit or linked to risks.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FIELDS IN IAMS: Name, Category (department, system, process, asset, project), Owner, Audit Frequency (annual, quarterly, etc.), Status (active/inactive).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TODAY'S OBJECTIVE: Create 'Treasury Operations' as an auditable department.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Risk Register &amp; Heat Map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DEFINITION: A centralized repository recording enterprise threats, potential financial loss, or compliance breaches across operations.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SCORING FORMULA: Risk Score = Likelihood (1-5) x Impact (1-5).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HEAT MAP BANDS: 1-5 Low (Green), 6-12 Medium (Yellow), 13-19 High (Orange), 20-25 Critical (Red).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LINKING: Every risk must be mapped to an Auditable Universe Entity and assigned a dedicated Risk Owner.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TODAY'S OBJECTIVE: Log 'Unauthorised payment release' (Likelihood 4 x Impact 5 = Score 20 Critical).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Asset Registry &amp; Attestation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DEFINITION: The inventory of physical hardware, business applications, and database repositories supporting business operations.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ASSET TAG: Unique identifier (e.g., AST-001) used to track custody and evidence.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AUDITEE ATTESTATION: A formal declaration where the asset custodian/auditee certifies that the asset exists, is operating correctly, and holds valid security classifications.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STATUSES: Confirmed (valid), Disputed (inaccuracies noted), Decommissioned.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TODAY'S OBJECTIVE: Create AST-001 (Treasury Payment System) and attest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1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1A: Creating the Audit Universe 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 of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On-Screen Navigation &amp; Steps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Log in as Audit Manager (e.g., Adaeze Okonkwo / adaeze@gbb.gov.ng).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In the left sidebar, navigate to Audit Modules -&gt; Audit Universe.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Notice the existing list of business units, data centers, and corporate divisions.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Click the '+ New Entity' button in the top right corner.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The UniverseFormSlideOver panel opens on the right side.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6. Fill in the exact parameters shown on the right.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7. Click 'Create Entity'.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8. Verify that 'Treasury Operations' appears in the active universe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Form Parameters &amp; Values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Entity Name: Treasury Operations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Category: Department (options: Department, System, Process, Asset, Project)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Owner: Chisom Okafor (Head of Operations / Auditee)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Audit Frequency: Annual (options: Monthly, Quarterly, Biannual, Annual)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Status: Active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Description: 'Core department responsible for government disbursements, payment reconciliation, and liquidity management.'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KEY TAKEAWAY: Choosing Chisom Okafor sets the operational owner who will receive audit evidence requests and respond to findings.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1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1B: Risk Register &amp; 5x5 Heat Map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 of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Navigation &amp; Action Steps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In the sidebar, navigate to Risk Register.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Review the top tabs: 'Risk Register', 'Categories', 'Heat Map', and 'Objectives'.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First, click Categories tab: notice seeded categories (Financial Risk, Operational Risk, Cyber Risk, Compliance Risk).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Return to Risk Register tab -&gt; Click '+ New Risk'.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Complete the slide-over form with the parameters opposite.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6. Observe the dynamic Risk Score indicator recalculating as likelihood and impact sliders change.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7. Click 'Add to Register'.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8. Switch to the 'Heat Map' tab: locate the top-right red cell (Likelihood 4 x Impact 5 = 20 Critical).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Field Values &amp; Scoring Mechanics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Title: Unauthorised payment release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Description: Risk of electronic funds transfer executed without multi-party dual authorization.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Category: Financial Risk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Linked Universe Entity: Treasury Operations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Risk Owner: Ibrahim Musa (Director)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Likelihood: 4 (Likely — occurs multiple times annually)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Impact: 5 (Catastrophic — severe financial loss / regulatory sanction)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Dynamic Score: 20 -&gt; Critical Band (Red Tone)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Status: Open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WHY WEDNESDAY REUSES THIS: When we start the audit tomorrow, this exact risk appears on the engagement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1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1C: Asset Registry &amp; Auditee Attestation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 of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Creating Asset AST-001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In the sidebar, expand 'Assets' -&gt; Click 'Asset Registry'.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Click '+ New Asset' to open AssetFormSlideOver.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Enter the asset metadata: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Asset Tag: AST-001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Name: Treasury Payment System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Asset Type: Application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Criticality: Critical | Status: Active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Data Classification: Confidential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Owner: Chisom Okafor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Source System: Manual Entry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Click 'Save Asset'.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Search 'AST-001' in the search bar to show the created asset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The Auditee Attestation Workflow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WHAT IS ATTESTATION? Auditees must periodically certify that assets under their care actually exist, are operational, and possess accurate ratings.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HOW IT OPERATES IN IAMS: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Open AST-001 -&gt; Navigate to 'Attestations' tab.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Click 'Attest Asset'.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Select Status: Confirmed (Options: Confirmed, Disputed, Decommissioned).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Add Custodian Notes: 'Confirmed in production; dual-control HSM modules active.'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Submit Attestation -&gt; Generates an immutable snapshot of asset metadata with timestamp and user ID.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6. Updates 'Last Attested Date' on the master asset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2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Standards, Testing Tracks &amp; Evidence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 Min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Control Library &amp; 3 Audit Modules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WHAT IS A CONTROL? A documented safeguard, policy, or technical barrier designed to prevent or detect risks from materializing.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CONTROL FRAMEWORKS IN IAMS: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NDPR (Nigeria Data Protection Regulation)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ISO 27001 (Information Security Management)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PCI-DSS (Payment Card Industry Security)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GBB Internal Financial Regulations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THE 3 AUDIT MODULE TRACKS: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System / IT Audit: Technical infrastructure, cybersecurity, active directory, database access.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Financial Audit: Treasury balances, revenue assurance, payroll, procurement.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Compliance Audit: Regulatory mandates, statutory policies, board charters.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Sampling &amp; Central Evidence Repository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WHAT IS AUDIT SAMPLING? Testing a representative percentage of a transaction population rather than examining 100% of records.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WHY IT MATTERS: Provides statistically defensible audit assurance while optimizing auditor fieldwork time.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CENTRAL EVIDENCE REPOSITORY: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Central vault holding all files uploaded across evidence requests, findings, and working papers.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Eliminates scattered email attachments and lost evidence files.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Tagged by Engagement Reference, Uploader, and Hash.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DOCUMENT TEMPLATES: Standardized corporate document layouts for memos, reference letters, and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2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2A: Controls, Evidence Repository &amp;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 of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Exploring the Control Library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In the sidebar, navigate to Compliance Frameworks -&gt; Controls.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Filter by Framework: 'NDPR' or 'ISO 27001'.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Open a control card (e.g., Access Control / Dual Authorization):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Control Code: e.g. FIN-CTL-01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Objective: Prevent single-point unauthorized disbursement.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Test Procedure: Sample 25 payment vouchers for dual sign-off.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Note 'Coverage': Shows how many audit engagements have tested this control this financial year.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Uncovered controls turn amber/red to signal audit blind spots.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Evidence Repository &amp; Documents Vault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EVIDENCE REPOSITORY (Sidebar -&gt; Evidence Repository):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Review the central evidence ledger.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Filter by: Engagement, Auditee, File Type, or Upload Date.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Open an item: Notice preview, download link, and audit trail of who accessed the file.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DOCUMENTS VAULT (Sidebar -&gt; Documents):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Houses general operational documents, memos, and letters.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Demonstrates our recent fix: Authorized workflow participants can 'View &amp; Sign' attached Word and PDF files without encountering 403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2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2B: Deterministic Statistical Audit Sampling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 of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The 3 Scientific Sampling Methods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IAMS uses pure, deterministic sampling logic (seeded algorithms):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SIMPLE RANDOM SAMPLING: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Seeded Fisher-Yates algorithm.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Every record has an equal probability of selection.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SYSTEMATIC INTERVAL SAMPLING: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Selects every Nth row starting from a randomized seed offset.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Ideal for evenly distributed transaction streams.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HIGH-VALUE STRATIFIED SAMPLING: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Focuses 100% of testing on transactions exceeding a monetary threshold (e.g. all vouchers &gt; ₦5,000,000) and samples the remainder.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Sample Size Calculator &amp; Live Run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SAMPLE SIZE CALCULATOR (Attribute Sampling):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Confidence Level: e.g. 95% (Z-score = 1.96)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Expected Deviation Rate: 1%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Tolerable Deviation Rate: 5%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Calculates statistically defensible sample size (e.g., 59 items).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RUNNING SAMPLING IN AN ENGAGEMENT: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Open Engagement -&gt; Sampling tab.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Upload Population CSV (e.g., 5,000 payment rows).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Select Method: Random / Interval / High-Value.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Click 'Draw Sample' -&gt; Automatically generates sample table and saves methodology documentation as an immutable audit evidence file!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3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Specialist Toolkit: System &amp; IT Audit Core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 Min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Data Analytics &amp; Access Reviews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DATA ANALYTICS ON POPULATION CSV: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Ingests large technical exports (Active Directory user dumps, transaction logs, server configurations).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Runs automated rule checks: detects dormant accounts, segregation of duties conflicts, duplicate payments, and missing approvals.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USER ACCESS REVIEW (UAR):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Core compliance control for ISO 27001 &amp; NDPR.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Periodic review verifying whether every staff member's access privileges remain valid for their job duties.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4-Step Cycle: Run -&gt; Decide -&gt; Justify -&gt; Sign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Continuous Monitoring &amp; Security Tests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EVENT &amp; CONTINUOUS MONITORING: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Background engine (BG:SYSAUDIT:MONITORING:DAILY) monitoring live system sources.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Automatically alerts auditors when high-severity exceptions occur without waiting for an annual audit.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SECURITY TESTING (Vulnerability &amp; Pentesting):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Ethical hacking and vulnerability scanning assessments.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Strict Segregation of Duties (SoD): The person who plans or coordinates the penetration test CANNOT authorize it to execute! A different authority must approve.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SYSTEM DOCUMENTATION VAULT: Secure repository for architectural blueprints, data flow diagrams, and IT policy manuals.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3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3A: Data Analytics on Sample Population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Running Data Analytics in System Audit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In the sidebar, navigate to System Audit -&gt; Analytics.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Click '+ New Analysis Run'.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Select Analysis Type: 'User Access Listing' or 'Transaction Anomaly Scan'.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Choose Source: 'Upload CSV File' (or live integration source).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Drag and drop the sample dataset (e.g. `gbb_staff_ad_dump.csv`).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6. Select Rule Pack: 'Privileged Account Rules', 'Dormancy Check (&gt;90 days)', and 'Separation of Duties'.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7. Click 'Run Analysis'.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Reviewing Exceptions &amp; Analysis Results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ANALYSIS RUN RESULTS CARD: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Total Records Processed: e.g. 1,240 accounts.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Exceptions Flagged: e.g. 14 critical exceptions.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TYPES OF EXCEPTIONS DETECTED: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Dormant Accounts: Active accounts with no login &gt; 90 days.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Terminated Staff with Active Access: Accounts flagged in HR as departed but active in Active Directory.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Over-Privileged Accounts: Regular staff holding domain administrative rights.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NEXT ACTION: Convert flagged exceptions directly into an Access Review worklist with 1 click.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3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3B: Access Review (Run -&gt; Decide -&gt; Justify -&gt; Sign Off)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The 4-Step Access Review Lifecycle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STEP 1: RUN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Launch access review run from the analytics run or live directory.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Generates the candidate account worklist.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STEP 2: DECIDE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Reviewer evaluates each account and picks one of 3 decisions: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a) Appropriate: Access is required and valid for current job.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b) Revoke: Access is improper and must be removed.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c) Modify: Downgrade or adjust specific permissions.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STEP 3: JUSTIFY (ENFORCED BY CODE!)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If Revoke or Modify is selected, IAMS blocks submission until a justification note is entered! ('Say what access should be removed or changed').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STEP 4: SIGN OFF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Reviewer formally signs off -&gt; creates an immutable review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Live Walkthrough Demonstration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System Audit -&gt; Access Reviews -&gt; Open the active run.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Review the account worklist table.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Account 1 (Active Financial Controller): Click 'Appropriate'.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Account 2 (Ex-staff contractor still holding VPN access):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Select 'Revoke'.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Try to submit without a note -&gt; Form validates and prompts for note.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Enter Note: 'Contract ended 30 September; revoke active directory account and VPN certificate.'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Save decision.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Account 3 (Auditor holding IT admin role):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Select 'Modify'.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Note: 'Remove domain admin role; retain standard auditor read rights.'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6. Click 'Complete &amp; Sign Off Access Review'.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3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3C: Security Testing &amp; Segregation of Duties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Planning a Security Test (Pentest)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Navigate to System Audit -&gt; Security Testing.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Click '+ New Security Test'.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Fill out the scope and rules of engagement: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Title: Q4 External Infrastructure Penetration Test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Test Type: Penetration Test (Vulnerability Assessment, Red Team)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Target Scope: 197.159.79.0/24 external DMZ &amp; Web portals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Provider: External Ethical Hacking Firm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Planned Start/End: 2026-11-01 to 2026-11-05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Rules of Engagement: No Denial of Service (DoS); off-peak testing.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Coordinator: Logged in user (e.g. Adaeze).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Click 'Create Test' -&gt; Status: 'Planned'.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Segregation of Duties (Plan vs Authorise)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THE STRICT CODE CONSTRAINT: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In `security-test.service.ts`: 'A security test must be authorised by someone other than its coordinator or creator!'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TRYING SELF-AUTHORIZATION (Demonstration):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As creator/coordinator, click 'Authorise Test'.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System displays Error: 'Forbidden — Cannot authorize your own test.'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THE REAL WORKFLOW: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Switch user to CAE (Fatima) or Director (Ibrahim).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Open Security Tests -&gt; Q4 External Penetration Test.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Click 'Authorise Test' -&gt; Enter authorization reference note.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Status transitions to 'Authorised' -&gt; Test can now begin!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3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3D: Event Monitoring &amp; Documentation Vault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Continuous &amp; Event Monitoring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CONTINUOUS MONITORING ENGINE: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Operates daily in the background (`BG:SYSAUDIT:MONITORING:DAILY`).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Evaluates security event lookback windows (1 to 7 days).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MONITORING CHECKS: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IAMS Access Check: Detects failed login spikes and brute force.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Security Events: Monitors privilege escalations and role assignment changes.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IMOC Incidents: Identifies unresolved critical ITSM outages.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AUDITOR ACTION: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Click 'Run Checks Now' to trigger on-demand scan.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Exceptions surface on the monitoring console with severity ratings (Critical, High, Medium).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System Documentation Vault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WHAT IS THE SYSTEM DOCS VAULT?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Secure repository for IT architecture blueprints, network diagrams, system manuals, and third-party vendor contracts.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KEY CAPABILITIES: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Version Control: Historical revisions preserved with audit comments.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Categories: Policy, Architecture, User Manual, Vendor Contract.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Engagement Association: Directly link architecture diagrams to active audits.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WRAP-UP MODULE 3: We have now demonstrated all 4 specialist system audit tools. Next: Module 4 (Executive Oversight).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4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Oversight, Forensic Chains &amp; IMOC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 Min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Committee Pack &amp; Audit Intelligence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THE AUDIT COMMITTEE PACK PDF: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Board-level governance report generated with one click.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Gathers organization-wide engagement progress, planned vs actual hours, open findings aging (&lt;30, 30-90, &gt;90 days), top risk bands, and escalation history.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Formatted in Galaxy Backbone corporate branding via pdfmake.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AUDIT INTELLIGENCE (PREDICTIVE):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Machine learning analytics forecasting engagement completion risks, overdue remediation trends, and repeat finding recurrence.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Helps leadership allocate audit resources where risk is trending upward.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Tamper-Evident Logs &amp; IMOC Integration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FORENSIC HASH-CHAIN AUDIT LOGS: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Every user action writes an audit log record with old_values (before) and new_values (after) in JSON.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SHA-256 Hash Chain: Each row commits the previous row's cryptographic hash (`row_hash = SHA256(prev_hash + data)`).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If anyone tampers with a database row, the chain breaks instantly! Verify-chain detects and flags the exact corrupted record.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IMOC INTEGRATION (ITSM):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Connects Galaxy Backbone's IT Service Management desk.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Ingests ticket incidents (SLA breaches, outages) directly into IAMS as audit evidence without manual copying.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MODULE 4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Hands-on 4: Committee Pack, Hash Chains &amp; IMOC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 Min Walkthrough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1. Committee Pack PDF &amp; Analytics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Navigate to Analytics in the sidebar.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Review the KPI cards: Total Engagements, Finding Remediation Rate, Overdue Action Items.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Look for the top right button: 'Committee pack (PDF)'.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Click 'Committee pack (PDF)':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Generates the executive briefing pack in real time.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Shows engagement completion percentages.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Shows Finding Severity by Aging buckets (0-30 days, 30-90 days, 90+ days).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Shows Top Enterprise Risks by score.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Open the downloaded PDF and display the branded report to the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2. Forensic Audit Trail &amp; IMOC Sync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VERIFYING AUDIT TRAIL INTEGRITY (Audit Logs):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Navigate to Audit Logs in sidebar.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Open an entry: Show the 'Before' and 'After' JSON diff card.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Click 'Verify Chain Integrity':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System verifies hashes across all sealed rows.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Displays confirmation: 'Chain verified: N records verified, 0 broken links.'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IMOC INTEGRATION TAB (Integrations -&gt; IMOC):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Review synced ticket records.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Filter by 'SLA Breached'.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Click 'Capture as Evidence' -&gt; Attaches the ticket snapshot directly into an active engagement evidence folder!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SUBMIT -&gt; REJECT -&gt; RESUBMIT -&gt; APPROVE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5: The FY2026 Audit Programme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 Min Finale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1. Manager Creates &amp; Submits Programme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Log in as Manager (Adaeze Okonkwo).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Navigate to Audit Modules -&gt; Audit Plans / Programmes.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Click '+ New Programme':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Title: FY 2026 Financial Audit Programme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Year: 2026 | Audit Type: Financial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Description: Annual financial review covering treasury and procurement.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Click 'Create Programme' -&gt; Open the created programme.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Click '+ Add Plan Item':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Auditable Entity: Treasury Operations (Created in Module 1!)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Priority: High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   • Start / End Dates: 2026-10-08 to 2026-11-20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6. Click 'Submit for Approval' -&gt; Status: 'Submitted'.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2. Rejection, Revision &amp; Final Sign-Off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TESTING REJECTION WORKFLOW: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Switch user to CAE (Fatima Bello / fatima@gbb.gov.ng).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Open the programme -&gt; Click 'Reject'.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Enter Rejection Reason: 'Please adjust planned end date to align with Q4 financial close.'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Click 'Confirm Rejection' -&gt; Status changes to 'Rejected' (shown in red).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REVISION &amp; FINAL APPROVAL: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Switch back to Manager (Adaeze).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Open programme -&gt; Notice red rejection reason banner.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Click 'Submit for Approval' again.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Switch to CAE -&gt; Click 'Approve &amp; Sign'.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5. CAE draws signature -&gt; Clicks 'Sign &amp; Approve'.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6. Status: 'Approved' (Green) | Approval Chain shows 'Signed'!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SUMMARY &amp;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Tuesday Wrap-Up &amp; Tomorrow's Fieldwork Preview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92608"/>
            <a:ext cx="1645920" cy="457200"/>
          </a:xfrm>
          <a:prstGeom prst="roundRect">
            <a:avLst/>
          </a:prstGeom>
          <a:solidFill>
            <a:srgbClr val="4F6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Wrap-Up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What We Built &amp; Mastered Today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✅ AUDIT UNIVERSE: Created 'Treasury Operations' as our auditable department.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✅ RISK REGISTER: Mapped 'Unauthorised payment release' (4 x 5 = 20 Critical) on the Heat Map.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✅ ASSETS: Registered AST-001 (Treasury Payment System) and completed auditee attestation.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✅ TESTING STANDARDS: Explored Control Library, Evidence Vault, and deterministic Sampling.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✅ SYSTEM AUDIT TOOLKIT: Executed Data Analytics, completed an Access Review (Decide + Justify), tested Penetration Testing SoD, and ran Continuous Monitoring.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✅ FORENSIC INTEGRITY: Downloaded Committee Pack PDF and verified SHA-256 hash chains.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✅ APPROVED PROGRAMME: Approved the FY2026 Financial Programme.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3087"/>
                </a:solidFill>
              </a:defRPr>
            </a:pPr>
            <a:r>
              <a:t>Wednesday: Fieldwork to Final Report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TOMORROW WE AUDIT WHAT WE BUILT TODAY: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Launching the Engagement: Starting the audit from our approved FY2026 plan item.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Linking AST-001 &amp; Risk: Pulling our critical risk and asset into the engagement scope.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Evidence &amp; Testing: Sending evidence requests to Chisom Okafor (Auditee) and testing controls.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Raising Findings: Recording 'Payments released without independent approval' from failed controls.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Working Papers: Drafting, reviewing, and signing off WP-01.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GBB Report Writing: Generating the formal report using the official Galaxy Backbone template.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• 3-Tier Executive Sign-Off: Manager -&gt; Director -&gt; CAE in-place signing and report issuance!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